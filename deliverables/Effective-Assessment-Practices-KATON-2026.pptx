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OPENING (2 min)</a:t>
            </a:r>
          </a:p>
          <a:p/>
          <a:p>
            <a:r>
              <a:t>Good morning, colleagues. Thank you for coming.</a:t>
            </a:r>
          </a:p>
          <a:p/>
          <a:p>
            <a:r>
              <a:t>Let me start with a promise: over the next session I am not going to bury you under big words. Every technical term we meet, I will give you two things — the plain meaning, and a picture from a classroom like ours.</a:t>
            </a:r>
          </a:p>
          <a:p/>
          <a:p>
            <a:r>
              <a:t>This workshop is built on the Teacher Assessment Manual and Toolkit produced by NaCCA under the Ministry of Education. It is the document that guides how we are expected to assess learners under the new SHS curriculum — so this is not our own invention. It is the standard we are working to.</a:t>
            </a:r>
          </a:p>
          <a:p/>
          <a:p>
            <a:r>
              <a:t>By the time we finish, my hope is that assessment stops feeling like paperwork, and starts feeling like something you already do — just done more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RUNNING ORDER (1 min)</a:t>
            </a:r>
          </a:p>
          <a:p/>
          <a:p>
            <a:r>
              <a:t>Walk the room through the shape of the day quickly. The two things worth flagging:</a:t>
            </a:r>
          </a:p>
          <a:p/>
          <a:p>
            <a:r>
              <a:t>1. THE PRACTICAL WORKSHOP (1:35) is the heart of the day - 25 minutes for you to actually design a task and a rubric you can use. Everything before it is preparation for that.</a:t>
            </a:r>
          </a:p>
          <a:p/>
          <a:p>
            <a:r>
              <a:t>2. THE BREAK IS AT 00:45, after Session 2. Have tea and water ready; people lose concentration if the break slips.</a:t>
            </a:r>
          </a:p>
          <a:p/>
          <a:p>
            <a:r>
              <a:t>Then move straight into the objectives - do not dwell on the agenda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OBJECTIVES (4 min)</a:t>
            </a:r>
          </a:p>
          <a:p/>
          <a:p>
            <a:r>
              <a:t>Read each objective aloud, then translate it into teacher-speak:</a:t>
            </a:r>
          </a:p>
          <a:p/>
          <a:p>
            <a:r>
              <a:t>1. DISTINGUISH &amp; APPLY - 'You will know which kind of assessment to reach for, and when. Not just the names.'</a:t>
            </a:r>
          </a:p>
          <a:p>
            <a:r>
              <a:t>2. NAVIGATE POLICY - 'You will know what Ghana actually requires of you, and where your subject sits. No more guessing.'</a:t>
            </a:r>
          </a:p>
          <a:p>
            <a:r>
              <a:t>3. DESIGN FAIR TOOLS - 'You will build a task and a rubric today. Actually build it, not plan to build it.'</a:t>
            </a:r>
          </a:p>
          <a:p>
            <a:r>
              <a:t>4. USE DATA FOR LEARNING - 'Marks will stop being a record of the past and start informing what you teach next.'</a:t>
            </a:r>
          </a:p>
          <a:p/>
          <a:p>
            <a:r>
              <a:t>POINT AT THE NOTE AT THE BOTTOM. Objective 3 says DESIGN. That is deliberate and it is the promise of the afternoon. Flag it now so people know the workshop is not going to be all talk.</a:t>
            </a:r>
          </a:p>
          <a:p/>
          <a:p>
            <a:r>
              <a:t>Then ask for a show of hands: 'Who has ever been to a workshop where you designed something you actually used the following week?' Usually very few hands. That is what we are trying to change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ICEBREAKER (5 min) - this sets the emotional tone for the whole day</a:t>
            </a:r>
          </a:p>
          <a:p/>
          <a:p>
            <a:r>
              <a:t>DO NOT SKIP THIS. It looks like a warm-up; it is actually the most important five minutes of the workshop, because it surfaces how teachers really feel about assessment before you start teaching anything.</a:t>
            </a:r>
          </a:p>
          <a:p/>
          <a:p>
            <a:r>
              <a:t>HOW TO RUN IT:</a:t>
            </a:r>
          </a:p>
          <a:p>
            <a:r>
              <a:t>  - Give 30 seconds of silent thinking first. Do not let people answer immediately.</a:t>
            </a:r>
          </a:p>
          <a:p>
            <a:r>
              <a:t>  - Then 60 seconds in pairs. Keep it strictly to one word each - the constraint is what makes it work.</a:t>
            </a:r>
          </a:p>
          <a:p>
            <a:r>
              <a:t>  - Then take 6-8 words from the floor. Write them up on the board or flip chart, uncommented, in two loose columns as they fall.</a:t>
            </a:r>
          </a:p>
          <a:p/>
          <a:p>
            <a:r>
              <a:t>WHAT YOU WILL HEAR, almost certainly: stress, marks, fear, pressure, exams, paperwork, ranking, punishment, workload. Occasionally: feedback, growth, help, understanding, progress.</a:t>
            </a:r>
          </a:p>
          <a:p/>
          <a:p>
            <a:r>
              <a:t>THE DEBRIEF - deliver this gently, without judgement:</a:t>
            </a:r>
          </a:p>
          <a:p>
            <a:r>
              <a:t>'Look at what we just wrote. Almost none of these words are about learning. They are about being judged. And that is not because we are bad teachers - it is because most of us were assessed that way ourselves, and we inherited it. By the end of today I want to move some of these words across to the other side.'</a:t>
            </a:r>
          </a:p>
          <a:p/>
          <a:p>
            <a:r>
              <a:t>DO NOT let anyone feel accused. Frame it as something we inherited, not something we chose. Then move on briskly - do not let the icebreaker run past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(20 min)</a:t>
            </a:r>
          </a:p>
          <a:p/>
          <a:p>
            <a:r>
              <a:t>This session answers two questions: what is assessment actually FOR, and what kinds are there?</a:t>
            </a:r>
          </a:p>
          <a:p/>
          <a:p>
            <a:r>
              <a:t>We start with the definition, then the purposes, then the big split between formative and summative using the soup metaphor. We finish with the full family of assessment types and a quick classification exercise.</a:t>
            </a:r>
          </a:p>
          <a:p/>
          <a:p>
            <a:r>
              <a:t>PACE NOTE: this is 20 minutes and it is the foundation for everything else. Do not rush the soup metaphor - it will be referenced all 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DEFINITION (3 min)</a:t>
            </a:r>
          </a:p>
          <a:p/>
          <a:p>
            <a:r>
              <a:t>Read the plain version aloud. Then ask the room to name one thing they did last week that was assessment but NOT a test. Collect two or three answers.</a:t>
            </a:r>
          </a:p>
          <a:p/>
          <a:p>
            <a:r>
              <a:t>KEY POINT to land: assessment is not a document, it is a DECISION-MAKING process. If you gathered information and changed nothing, you collected data but you did not really assess.</a:t>
            </a:r>
          </a:p>
          <a:p/>
          <a:p>
            <a:r>
              <a:t>Note the careful wording in the official definition - the goal is not to rank learners, but to decide 'the degree to which' they have achieved a standard. That phrase matters, and it links directly to objective 1 of today's workshop.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PURPOSES (3 min)</a:t>
            </a:r>
          </a:p>
          <a:p/>
          <a:p>
            <a:r>
              <a:t>THE REFRAME: most teachers experience assessment as one thing - judging. The manual gives it at least five distinct jobs, and judging is only one of them.</a:t>
            </a:r>
          </a:p>
          <a:p/>
          <a:p>
            <a:r>
              <a:t>WALK THE LIST and ask for a show of hands on each: 'Who assessed to IMPROVE learning last week?' (most hands) 'Who assessed to CERTIFY?' (all hands) 'Who assessed to DIAGNOSE before starting a topic?' (usually far fewer).</a:t>
            </a:r>
          </a:p>
          <a:p/>
          <a:p>
            <a:r>
              <a:t>LINK BACK TO THE ICEBREAKER: 'The words we wrote up earlier - stress, fear, pressure - come from assessment being used for only one of these five purposes. When it is used for the first three, it stops feeling like a threat.'</a:t>
            </a:r>
          </a:p>
          <a:p/>
          <a:p>
            <a:r>
              <a:t>IMPORTANT BALANCE: do not let this sound like summative assessment is the villain. Certification and selection are legitimate and necessary. The problem is summative assessment being the ONLY kind learners experience.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SOUP (3 min)</a:t>
            </a:r>
          </a:p>
          <a:p/>
          <a:p>
            <a:r>
              <a:t>Ask the room: 'Does anybody here wait until the food is served at the table before they first taste it?' Wait for the laughter and the shaking heads. Of course not.</a:t>
            </a:r>
          </a:p>
          <a:p/>
          <a:p>
            <a:r>
              <a:t>Then the turn: 'So why do we do exactly that with our learners? Why do we find out what they misunderstood in the end-of-term exam, when it is too late to fix it?'</a:t>
            </a:r>
          </a:p>
          <a:p/>
          <a:p>
            <a:r>
              <a:t>KEY POINT: the cook who tastes is not being nosy or wasting time. Tasting is not an interruption to cooking - tasting IS cooking.</a:t>
            </a:r>
          </a:p>
          <a:p/>
          <a:p>
            <a:r>
              <a:t>The manual's words: formative assessment 'enables teachers to modify or improve teaching and learning'. Notice the word IMPROVE. Not PROVE.</a:t>
            </a:r>
          </a:p>
          <a:p/>
          <a:p>
            <a:r>
              <a:t>Hold this image up for the rest of the day. Refer back to it in Session 3 and in the practical workshop.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MEAL (3 min)</a:t>
            </a:r>
          </a:p>
          <a:p/>
          <a:p>
            <a:r>
              <a:t>Summative assessment is not the enemy. It has a real and necessary job: selection, certification and placement. University admissions and employers need a final verdict. The manual says it provides 'a summary of the learner's overall achievement for selection, certification and placement purposes.'</a:t>
            </a:r>
          </a:p>
          <a:p/>
          <a:p>
            <a:r>
              <a:t>The point is not that summative is bad. The point is that summative ALONE is a poor diet. If you only ever serve meals and never taste, you will keep serving the same mistakes.</a:t>
            </a:r>
          </a:p>
          <a:p/>
          <a:p>
            <a:r>
              <a:t>Examples to name: end-of-term exams, WASSCE, end-of-programme exams, term papers, industrial attachment assessment.</a:t>
            </a:r>
          </a:p>
          <a:p/>
          <a:p>
            <a:r>
              <a:t>NOTE FOR SESSION 2: this is where the 70/30 split becomes relevant - the summative judgement is partly YOURS. Flag it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SISTERS (3 min)</a:t>
            </a:r>
          </a:p>
          <a:p/>
          <a:p>
            <a:r>
              <a:t>This table is your anchor for the rest of the workshop. Refer back to it constantly.</a:t>
            </a:r>
          </a:p>
          <a:p/>
          <a:p>
            <a:r>
              <a:t>Say it this way: 'For' and 'as' are both about improving. 'Of' is about reporting.</a:t>
            </a:r>
          </a:p>
          <a:p/>
          <a:p>
            <a:r>
              <a:t>A simple test to give teachers - ask: 'Who is going to change what they do as a result of this information?' If the answer is the teacher, it is AfL. If it is the learner, it is AaL. If nobody changes anything and it just gets recorded, it is AoL.</a:t>
            </a:r>
          </a:p>
          <a:p/>
          <a:p>
            <a:r>
              <a:t>IMPORTANT: AaL is the one we forget. We tell them their marks, but we never teach them to check themselves. That is the skill that carries them into university and work.</a:t>
            </a:r>
          </a:p>
          <a:p/>
          <a:p>
            <a:r>
              <a:t>WHERE AaL LIVES IN PRACTICE: self-assessment against a rubric, reflection journals, learners tracking their own progress. We will build this into the rubric exercise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(2 min)</a:t>
            </a:r>
          </a:p>
          <a:p/>
          <a:p>
            <a:r>
              <a:t>Walk down the rows. The 'What it sounds like' row is the one that lands with teachers - read both sentences out loud in the two different tones of voice.</a:t>
            </a:r>
          </a:p>
          <a:p/>
          <a:p>
            <a:r>
              <a:t>Ask: 'Which of these two voices do our learners hear most from us?' Be honest that for many of us, it is the second voice far more often than the first.</a:t>
            </a:r>
          </a:p>
          <a:p/>
          <a:p>
            <a:r>
              <a:t>Reassure: this is not about working harder. It is about redistributing the same effort. A ten-minute exit card can replace an hour of re-teaching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RULE (3 min)</a:t>
            </a:r>
          </a:p>
          <a:p/>
          <a:p>
            <a:r>
              <a:t>This is the highest-value concept in Session 1. Many teachers believe formative and summative are two separate systems competing for time. They are not.</a:t>
            </a:r>
          </a:p>
          <a:p/>
          <a:p>
            <a:r>
              <a:t>The manual has a whole section on this (3.5.3 and 3.5.4). Read the example aloud if you have the manual open: 'instead of scoring a summative test, the teacher gives back the test to learners to discuss in groups to find answers to the questions that were wrongly answered.'</a:t>
            </a:r>
          </a:p>
          <a:p/>
          <a:p>
            <a:r>
              <a:t>PRACTICAL COMMITMENT TO ASK FOR: challenge every teacher to pick ONE end-of-term paper this year and give it back for group correction instead of just recording the marks. One paper. We will return to this in Action Planning.</a:t>
            </a:r>
          </a:p>
          <a:p/>
          <a:p>
            <a:r>
              <a:t>BRIDGE TO SESSION 2: 'This is also where policy becomes personal. That 30% I just mentioned - that is you. Let us look at exactly what Ghana requires.'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CHECK (4 min) - the interactive close of Session 1</a:t>
            </a:r>
          </a:p>
          <a:p/>
          <a:p>
            <a:r>
              <a:t>RUN IT FAST. Read each situation and take a show of hands or shout-outs. Do not labour each one for more than 30 seconds.</a:t>
            </a:r>
          </a:p>
          <a:p/>
          <a:p>
            <a:r>
              <a:t>THE ANSWERS, with the reasoning you want them to hear:</a:t>
            </a:r>
          </a:p>
          <a:p>
            <a:r>
              <a:t>1. Mid-lesson quiz -&gt; FORMATIVE. The purpose is to find out and adjust. Note: an UNANNOUNCED quiz can still be formative - the label is about use, not formality.</a:t>
            </a:r>
          </a:p>
          <a:p>
            <a:r>
              <a:t>2. End-of-term paper -&gt; SUMMATIVE. It sums up a period and is recorded.</a:t>
            </a:r>
          </a:p>
          <a:p>
            <a:r>
              <a:t>3. Listening to a group -&gt; FORMATIVE. Observation is one of the manual's named strategies. This surprises people - it does not need paper to count.</a:t>
            </a:r>
          </a:p>
          <a:p>
            <a:r>
              <a:t>4. Marking a draft and asking for a rewrite -&gt; FORMATIVE. The learner acts on it. Notice this is written work but still formative.</a:t>
            </a:r>
          </a:p>
          <a:p>
            <a:r>
              <a:t>5. WASSCE registration grades -&gt; SUMMATIVE. External, recorded, for certification.</a:t>
            </a:r>
          </a:p>
          <a:p>
            <a:r>
              <a:t>6. Group project graded against a rubric counting to the 30% -&gt; THE GOLDEN RULE. It is formative work USED summatively. This is the one that matters most.</a:t>
            </a:r>
          </a:p>
          <a:p/>
          <a:p>
            <a:r>
              <a:t>IF THE ROOM IS SPLIT on number 6, that is a good outcome - it means the distinction between the TOOL and its USE is the thing to dwell on. Say: 'This is exactly the point. The work is formative while they are doing it and summative once it is counted. Same work, two jobs.'</a:t>
            </a:r>
          </a:p>
          <a:p/>
          <a:p>
            <a:r>
              <a:t>CLOSE SESSION 1 by returning to the soup: 'Taste the soup. Serve the meal. Now - who says you may taste, and what must you record? That is Session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(15 min)</a:t>
            </a:r>
          </a:p>
          <a:p/>
          <a:p>
            <a:r>
              <a:t>This session answers: what does Ghana actually require of me, and who decides?</a:t>
            </a:r>
          </a:p>
          <a:p/>
          <a:p>
            <a:r>
              <a:t>Teachers often carry out assessment requirements without knowing where they come from or what they are for. This session connects the dots: the policy actors, the two frameworks, the 70/30 split, continuous assessment requirements, the Standards-Based Curriculum, and the school-based transcript.</a:t>
            </a:r>
          </a:p>
          <a:p/>
          <a:p>
            <a:r>
              <a:t>PACE NOTE: keep this brisk and concrete. The 70/30 slide is the one that lands - make sure you reach it with time to spare.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ACTORS (3 min)</a:t>
            </a:r>
          </a:p>
          <a:p/>
          <a:p>
            <a:r>
              <a:t>WHY THIS SLIDE EXISTS: teachers receive circulars from NaCCA, GES, NaSIA and the NTC and often cannot tell who is asking for what or why. That confusion is what makes assessment requirements feel like arbitrary paperwork.</a:t>
            </a:r>
          </a:p>
          <a:p/>
          <a:p>
            <a:r>
              <a:t>TEACH IT AS A SIMPLE DIVISION OF LABOUR: NaCCA says WHAT should be learned and how it should be assessed. The Ministry sets policy. GES runs the schools. WAEC examines externally. NaSIA checks. The NTC governs your profession.</a:t>
            </a:r>
          </a:p>
          <a:p/>
          <a:p>
            <a:r>
              <a:t>THE TWO THAT TOUCH YOU MOST DIRECTLY, and worth naming explicitly:</a:t>
            </a:r>
          </a:p>
          <a:p>
            <a:r>
              <a:t>  - GES - because they are your employer and issue operational directives.</a:t>
            </a:r>
          </a:p>
          <a:p>
            <a:r>
              <a:t>  - NaSIA - because inspectors will ask to see your assessment records. Make sure your records are in order.</a:t>
            </a:r>
          </a:p>
          <a:p/>
          <a:p>
            <a:r>
              <a:t>REASSURANCE: you are not expected to memorise this. The point is simply that when a circular arrives, you can tell which body it came from and what kind of instruction it 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FRAMEWORKS (4 min)</a:t>
            </a:r>
          </a:p>
          <a:p/>
          <a:p>
            <a:r>
              <a:t>TEACH THE RELATIONSHIP, not the definitions. It is a hierarchy:</a:t>
            </a:r>
          </a:p>
          <a:p>
            <a:r>
              <a:t>NPLAF is the root - the national framework for all pre-tertiary assessment.</a:t>
            </a:r>
          </a:p>
          <a:p>
            <a:r>
              <a:t>SEAF sits under it and it is the one that speaks directly to SHS.</a:t>
            </a:r>
          </a:p>
          <a:p>
            <a:r>
              <a:t>The SBC is the curriculum itself, which tells you the learning outcomes you must assess against.</a:t>
            </a:r>
          </a:p>
          <a:p/>
          <a:p>
            <a:r>
              <a:t>THE ONE SENTENCE THAT MATTERS: 'Your assessment must be aligned to the learning outcomes in the Standards-Based Curriculum.' That single requirement is where validity comes from - you cannot validly assess a standard you never taught, and you cannot teach a standard if you have not located it in the curriculum.</a:t>
            </a:r>
          </a:p>
          <a:p/>
          <a:p>
            <a:r>
              <a:t>PRACTICAL DIRECTION: tell teachers to locate their subject's learning outcomes in the SBC for the term ahead. If they have never done this, that is the single most useful thing they can do after today.</a:t>
            </a:r>
          </a:p>
          <a:p/>
          <a:p>
            <a:r>
              <a:t>DO NOT get dragged into a debate about the merits of the reform. If someone raises it, acknowledge it and note that the manual is the guidance for the current curriculum, whatever we think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70/30 SPLIT (4 min) - the highest-impact slide in this session</a:t>
            </a:r>
          </a:p>
          <a:p/>
          <a:p>
            <a:r>
              <a:t>THIS IS WHERE POLICY BECOMES PERSONAL. Principles persuade; accountability compels.</a:t>
            </a:r>
          </a:p>
          <a:p/>
          <a:p>
            <a:r>
              <a:t>THE HISTORY, briefly: for years, continuous assessment marks were often handled casually - generous scoring, lost record books, marks reconstructed at the end of term. The reform now records the 30% on a school-based transcript with far greater transparency and quality assurance.</a:t>
            </a:r>
          </a:p>
          <a:p/>
          <a:p>
            <a:r>
              <a:t>STATE THE CONSEQUENCE PLAINLY: 'If a learner's transcript is questioned and your 30% cannot be defended, it is the learner who loses a place - and your school whose credibility is damaged.'</a:t>
            </a:r>
          </a:p>
          <a:p/>
          <a:p>
            <a:r>
              <a:t>THE SOLUTION IS NOT MORE PAPERWORK. It is the simple disciplines we are covering today: a rubric written BEFORE the task, applied consistently, kept on record, and the same across all classes teaching the same subject.</a:t>
            </a:r>
          </a:p>
          <a:p/>
          <a:p>
            <a:r>
              <a:t>RAISE IT AS A DEPARTMENTAL QUESTION, not just individual: 'Do all of us teaching the same subject at the same level use the same criteria? Could we produce the evidence if NaSIA asked?'</a:t>
            </a:r>
          </a:p>
          <a:p/>
          <a:p>
            <a:r>
              <a:t>This is the natural bridge into Session 3 on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ASSESSMENT REQUIREMENTS (3 min)</a:t>
            </a:r>
          </a:p>
          <a:p/>
          <a:p>
            <a:r>
              <a:t>This slide turns policy into a checklist. Go down the list quickly - do not read every word aloud. Instead, for each row, ask: 'How many of us are confident we could produce the evidence for this tomorrow?'</a:t>
            </a:r>
          </a:p>
          <a:p/>
          <a:p>
            <a:r>
              <a:t>THE TWO MOST IMPORTANT ROWS are rows 3 and 6:</a:t>
            </a:r>
          </a:p>
          <a:p>
            <a:r>
              <a:t>  - Row 3, RECORDS: the most common quality-assurance failure is not bad teaching, it is missing evidence. Marks reconstructed at the end of term cannot be defended.</a:t>
            </a:r>
          </a:p>
          <a:p>
            <a:r>
              <a:t>  - Row 6, CONSISTENCY: if two teachers marking the same subject apply different standards, the transcript loses meaning. This is a departmental responsibility, not an individual one.</a:t>
            </a:r>
          </a:p>
          <a:p/>
          <a:p>
            <a:r>
              <a:t>ROW 5, SEN: this is a legal and ethical requirement, not a courtesy. And note the second half - you need a RECORD of what accommodations you provided.</a:t>
            </a:r>
          </a:p>
          <a:p/>
          <a:p>
            <a:r>
              <a:t>PRACTICAL ASK: 'Before you leave today, check that your record for this term is complete and current. Not at the end of term -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TRANSCRIPT (2 min)</a:t>
            </a:r>
          </a:p>
          <a:p/>
          <a:p>
            <a:r>
              <a:t>MAKE THIS CONCRETE. The transcript sounds like an administrative document; it is actually a young person's evidence base for the next stage of their life.</a:t>
            </a:r>
          </a:p>
          <a:p/>
          <a:p>
            <a:r>
              <a:t>USE THE CONTRAST on the slide - two learners, same exam grades, different quality of internal records. Ask: 'Which 30% would you want to be defending?'</a:t>
            </a:r>
          </a:p>
          <a:p/>
          <a:p>
            <a:r>
              <a:t>THE SELF-TEST IS THE TAKEAWAY: 'If an inspector asked you to justify one learner's 30% mark today, could you show the work, the rubric and the date?' Most teachers will realise the answer is 'not entirely' for at least some learners. That is not an accusation - it is exactly the gap the reform is designed to close.</a:t>
            </a:r>
          </a:p>
          <a:p/>
          <a:p>
            <a:r>
              <a:t>DO NOT make this feel like a threat. Frame it as protecting the learner and protecting yourself. Then hand over to the break.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(15 min)</a:t>
            </a:r>
          </a:p>
          <a:p/>
          <a:p>
            <a:r>
              <a:t>ANNOUNCE THE RETURN TIME CLEARLY - people lose track. Write it on the board.</a:t>
            </a:r>
          </a:p>
          <a:p/>
          <a:p>
            <a:r>
              <a:t>USE THE BREAK WELL YOURSELF:</a:t>
            </a:r>
          </a:p>
          <a:p>
            <a:r>
              <a:t>  - Check that the materials for the practical workshop are ready: A3 or flip-chart paper, marker pens, sticky notes, and printed copies of the task and rubric templates if you have them.</a:t>
            </a:r>
          </a:p>
          <a:p>
            <a:r>
              <a:t>  - Set up the room for group work if the layout needs to change - four or five tables of four to six people.</a:t>
            </a:r>
          </a:p>
          <a:p>
            <a:r>
              <a:t>  - Prepare the wall space for the gallery walk later.</a:t>
            </a:r>
          </a:p>
          <a:p/>
          <a:p>
            <a:r>
              <a:t>IF PEOPLE DRIFT BACK LATE, start Session 3 with the room rather than waiting - it pulls the rest in.</a:t>
            </a:r>
          </a:p>
          <a:p/>
          <a:p>
            <a:r>
              <a:t>COFFEE CHAT OPPORTUNITY: this is your best chance to hear what people really think about the 70/30 slide. Listen more than you talk.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3 (15 min)</a:t>
            </a:r>
          </a:p>
          <a:p/>
          <a:p>
            <a:r>
              <a:t>Section 2 of the manual lists seven principles of effective assessment. This is the part people skim - and it is the part that explains why some assessments work and others do not.</a:t>
            </a:r>
          </a:p>
          <a:p/>
          <a:p>
            <a:r>
              <a:t>Frame it as seven pillars holding up a roof. You do not need all seven perfect; you need all seven present.</a:t>
            </a:r>
          </a:p>
          <a:p/>
          <a:p>
            <a:r>
              <a:t>PACE NOTE: 15 minutes for seven principles plus an overview means roughly 90 seconds each. Move briskly. The examples matter more than the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PILLARS (2 min overview)</a:t>
            </a:r>
          </a:p>
          <a:p/>
          <a:p>
            <a:r>
              <a:t>Read all seven quickly to give the shape of the session - do not dwell yet, each one gets its own slide next.</a:t>
            </a:r>
          </a:p>
          <a:p/>
          <a:p>
            <a:r>
              <a:t>Ask the room to guess which pillar is most often broken in real practice. Common answers: transparency and practicability. Both are true - we keep the criteria secret and then design assessments nobody has time to mark.</a:t>
            </a:r>
          </a:p>
          <a:p/>
          <a:p>
            <a:r>
              <a:t>Promise: 'By the end of the next twelve minutes you will recognise which of these you already do well, and which one is quietly costing your learners marks.'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VALIDITY (2 min)</a:t>
            </a:r>
          </a:p>
          <a:p/>
          <a:p>
            <a:r>
              <a:t>THE TRAP: validity fails silently. An invalid test still produces marks, still fills the mark book, still looks professional. Nobody complains. But the numbers do not mean what everyone thinks they mean.</a:t>
            </a:r>
          </a:p>
          <a:p/>
          <a:p>
            <a:r>
              <a:t>THE CLEAREST TEST: compare your learning outcome to your questions. If the outcome says 'analyse' and your questions say 'state', you have an invalid assessment. Ask teachers to silently do this check on the last test they set. Most will find at least one problem.</a:t>
            </a:r>
          </a:p>
          <a:p/>
          <a:p>
            <a:r>
              <a:t>THE FIX - and this is the highest-value practical tip in this session: build a TABLE OF SPECIFICATION. A simple grid mapping each question to a topic and a thinking level. The manual asks teachers to 'create a learning and assessment plan (i.e. table of test specification)'. Without it, we all default to recall questions, because recall questions are the easiest to write. The grid forces balance.</a:t>
            </a:r>
          </a:p>
          <a:p/>
          <a:p>
            <a:r>
              <a:t>LINK FORWARD: we will use exactly this grid in the practical workshop at 1:35.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RELIABILITY (2 min)</a:t>
            </a:r>
          </a:p>
          <a:p/>
          <a:p>
            <a:r>
              <a:t>OPEN WITH THE MANUAL'S OWN WARNING - it is blunt and it stings: the 'connoisseur' approach to assessment - that is, 'I know it when I see it but I cannot put it into words' - is NOT acceptable. Read that line out loud. It is a direct challenge to the way many of us mark.</a:t>
            </a:r>
          </a:p>
          <a:p/>
          <a:p>
            <a:r>
              <a:t>LINK BACK TO SESSION 2: why does reliability suddenly matter so much? Because the 30% is now on a transcript. Unreliable marking is unfair in a way learners can feel but not prove.</a:t>
            </a:r>
          </a:p>
          <a:p/>
          <a:p>
            <a:r>
              <a:t>THE MOST POWERFUL HABIT on this slide: give your rubric or marking scheme OUT BEFORE the task, not after. The manual says this explicitly for performance and practical assessment.</a:t>
            </a:r>
          </a:p>
          <a:p/>
          <a:p>
            <a:r>
              <a:t>CHEAP RELIABILITY HACK to offer teachers: swap a set of scripts with a colleague in the same subject and mark each other's sample. The manual recommends having another teacher review the work. You will be shocked how differently two people read the same answer. This is also a departmental consistency measure.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AND ETHICS (2 min)</a:t>
            </a:r>
          </a:p>
          <a:p/>
          <a:p>
            <a:r>
              <a:t>START WITH THE CRICKET EXAMPLE. It is memorable and it is exactly the failure mode the manual warns against - 'culturally biased or discriminatory content, unfamiliar words, questioning or examples'.</a:t>
            </a:r>
          </a:p>
          <a:p/>
          <a:p>
            <a:r>
              <a:t>THEN ASK THE HARD QUESTION: 'How many of us have set questions using examples from books written far from here, about things our learners have never seen?' Let that sit. The fix is not easier questions - it is LOCAL, FAMILIAR CONTEXTS for the same rigour. That is what the trotro example shows.</a:t>
            </a:r>
          </a:p>
          <a:p/>
          <a:p>
            <a:r>
              <a:t>THE SECOND BIG IDEA: do not assess what you have not taught. The manual lists this under fairness, and it is the single most common fairness complaint learners make.</a:t>
            </a:r>
          </a:p>
          <a:p/>
          <a:p>
            <a:r>
              <a:t>LINK BACK TO THE ICEBREAKER: 'Fairness is where the word FEAR from this morning comes from. Learners are not afraid of being measured. They are afraid of being measured unfairly.'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(2 min)</a:t>
            </a:r>
          </a:p>
          <a:p/>
          <a:p>
            <a:r>
              <a:t>THE KILLER LINE: 'Assessment should not be a guessing game where the teacher is the only person who knows the answer.'</a:t>
            </a:r>
          </a:p>
          <a:p/>
          <a:p>
            <a:r>
              <a:t>THE MOST COMMON OFFENCE: hiding the rubric until after the marking, usually to 'stop them cheating'. Point out that a learner who aims perfectly at a published rubric is not cheating. They are learning. That is exactly what we want.</a:t>
            </a:r>
          </a:p>
          <a:p/>
          <a:p>
            <a:r>
              <a:t>THE REDRESS POINT is the one nobody expects. The manual requires you to 'provide an opportunity for learners to seek review and redress'. Ask: 'If a learner in this school disputes a mark, what actually happens? Is there a route?' In many schools there is none. That is a gap worth naming.</a:t>
            </a:r>
          </a:p>
          <a:p/>
          <a:p>
            <a:r>
              <a:t>LINK FORWARD: transparency and validity are partners. Learners cannot demonstrate a learning outcome they were never told about. This is also the fastest pillar to fix - hand out the rubric next week.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INCLUSIVITY (2 min)</a:t>
            </a:r>
          </a:p>
          <a:p/>
          <a:p>
            <a:r>
              <a:t>THE KEY REFRAME, and the single most memorable line in this session: 'When a learner with low vision fails your test, you have not discovered that they do not know the work. You have discovered that they cannot see your paper. Those are completely different findings, and only one of them is about learning.'</a:t>
            </a:r>
          </a:p>
          <a:p/>
          <a:p>
            <a:r>
              <a:t>DECODE THE THREE ACRONYMS - teachers see these letters constantly and rarely have them explained:</a:t>
            </a:r>
          </a:p>
          <a:p>
            <a:r>
              <a:t>  - GESI - Gender Equality and Social Inclusion. No learner disadvantaged by gender, disability, poverty or background.</a:t>
            </a:r>
          </a:p>
          <a:p>
            <a:r>
              <a:t>  - SEL - Socio-Emotional Learning. The learner's feelings, confidence and relationships matter and are assessed, not just their marks.</a:t>
            </a:r>
          </a:p>
          <a:p>
            <a:r>
              <a:t>  - SEN - Special Educational Needs. Learners needing specific support.</a:t>
            </a:r>
          </a:p>
          <a:p/>
          <a:p>
            <a:r>
              <a:t>THE MANUAL'S PRACTICAL TOOLS to name out loud: braille, oral translation, text-to-speech and other AI supports, sign language interpretation, assistive technology, extra time, alternative formats.</a:t>
            </a:r>
          </a:p>
          <a:p/>
          <a:p>
            <a:r>
              <a:t>A WARNING WORTH GIVING: build fairness into your RUBRIC. If you are assessing science understanding, do not dock marks for handwriting or grammar by accident. Decide deliberately. We will act on this in the practical workshop.</a:t>
            </a:r>
          </a:p>
          <a:p/>
          <a:p>
            <a:r>
              <a:t>CONNECT TO THE 30%: if accommodations are provided but never recorded, you cannot defend the mark later.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PRACTICABILITY (2 min)</a:t>
            </a:r>
          </a:p>
          <a:p/>
          <a:p>
            <a:r>
              <a:t>OPEN WITH THE HONEST OBSERVATION: 'We have all designed a beautiful assessment in January that we quietly stopped running by March.' This slide is about why that happens - and it is not a character flaw. It is a design flaw.</a:t>
            </a:r>
          </a:p>
          <a:p/>
          <a:p>
            <a:r>
              <a:t>THE THREE QUESTIONS on the slide are the whole test. Walk through them for a real example. A 20-item test: markable in one evening, feedback possible. A one-hour-per-learner oral: mathematically impossible.</a:t>
            </a:r>
          </a:p>
          <a:p/>
          <a:p>
            <a:r>
              <a:t>THE POINT TEACHERS MISS: set, mark AND give feedback. Many assessments are practicable to administer but NOT practicable to give feedback on. Since feedback is where the learning actually happens, an assessment you cannot give feedback on has already failed.</a:t>
            </a:r>
          </a:p>
          <a:p/>
          <a:p>
            <a:r>
              <a:t>VALIDATE THEIR REALITY: yes, class sizes are large and time is short. That is exactly why practicability is written into the national framework as a PRINCIPLE, not an excuse. The framework expects you to choose methods that fit your actual conditions.</a:t>
            </a:r>
          </a:p>
          <a:p/>
          <a:p>
            <a:r>
              <a:t>PRACTICAL TIP for large classes: use strategies that scale - whole-class response, peer assessment with a rubric, exit cards, group projects with individual accountability. These are the tools for the next session.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ASSESSMENT UTILITY (2 min)</a:t>
            </a:r>
          </a:p>
          <a:p/>
          <a:p>
            <a:r>
              <a:t>THIS IS THE SLIDE THAT TIES THE SEVEN TOGETHER. You can satisfy validity, reliability, fairness, transparency, inclusivity and practicability - and still produce an assessment that nobody uses. That is the most common failure of all, because it is invisible.</a:t>
            </a:r>
          </a:p>
          <a:p/>
          <a:p>
            <a:r>
              <a:t>THE TEST TO OFFER: 'Name one thing you changed last term because of an assessment result.' Give people a moment. Ask two or three to answer out loud. The answers show what utility looks like in practice.</a:t>
            </a:r>
          </a:p>
          <a:p/>
          <a:p>
            <a:r>
              <a:t>LINK BACK TO THE SOUP: a cook who tastes the soup and then does nothing about it has wasted the taste. Tasting without adjusting is not cooking. Assessing without acting is not assessment.</a:t>
            </a:r>
          </a:p>
          <a:p/>
          <a:p>
            <a:r>
              <a:t>CLOSE THE SESSION: 'Seven pillars. Validity, reliability, fairness, transparency, inclusivity, practicability, utility. You will not get all seven perfect every week. But when an assessment disappoints you, come back to this list - the answer is almost always hiding in one of the seven.'</a:t>
            </a:r>
          </a:p>
          <a:p/>
          <a:p>
            <a:r>
              <a:t>BRIDGE TO SESSION 4: 'Now let us look at the tools that help you satisfy all seven at once.'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4 (20 min)</a:t>
            </a:r>
          </a:p>
          <a:p/>
          <a:p>
            <a:r>
              <a:t>This session is the toolkit. Session 3 gave the principles; this gives the methods.</a:t>
            </a:r>
          </a:p>
          <a:p/>
          <a:p>
            <a:r>
              <a:t>We cover: how to choose a strategy, the Depth of Knowledge staircase, the three families of strategy, four strategies in detail (portfolio, debate, practical, rubric), and how to pitch the same strategy at SHS 1, 2 and 3.</a:t>
            </a:r>
          </a:p>
          <a:p/>
          <a:p>
            <a:r>
              <a:t>PACE NOTE: this session sets up the practical workshop. Every strategy here is available for teachers to use in their own design at 1:35. Say so explicitly.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STRATEGY (3 min)</a:t>
            </a:r>
          </a:p>
          <a:p/>
          <a:p>
            <a:r>
              <a:t>THE CENTRAL MISTAKE this slide corrects: teachers default to the written test because it is familiar, not because it fits the outcome. That is a validity failure, and it is the single most common one in Ghanaian classrooms.</a:t>
            </a:r>
          </a:p>
          <a:p/>
          <a:p>
            <a:r>
              <a:t>THE REFRAME: 'Do not ask what assessment you will set. Ask what the learner must be able to DO. Then ask what task would let them show it.'</a:t>
            </a:r>
          </a:p>
          <a:p/>
          <a:p>
            <a:r>
              <a:t>THE THREE FAMILIES are worth naming so teachers see the range:</a:t>
            </a:r>
          </a:p>
          <a:p>
            <a:r>
              <a:t>  - INFORMAL - questions, observation, exit cards. Zero preparation, immediate.</a:t>
            </a:r>
          </a:p>
          <a:p>
            <a:r>
              <a:t>  - FORMAL WRITTEN - tests, essays, MCQs. Markable, recordable, auditable.</a:t>
            </a:r>
          </a:p>
          <a:p>
            <a:r>
              <a:t>  - PERFORMANCE - projects, practicals, portfolios, debates. Real application.</a:t>
            </a:r>
          </a:p>
          <a:p/>
          <a:p>
            <a:r>
              <a:t>LINK BACK TO SESSION 2: the manual requires a VARIETY of methods, and the 30% has to be defensible. If your entire 30% is class tests at three points in the term, it is both thin evidence and a narrow picture of the learner.</a:t>
            </a:r>
          </a:p>
          <a:p/>
          <a:p>
            <a:r>
              <a:t>POINT FORWARD: 'Everything on this slide is available to you in the workshop at 1:35. You are not designing in the abstract.'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 OF KNOWLEDGE (4 min)</a:t>
            </a:r>
          </a:p>
          <a:p/>
          <a:p>
            <a:r>
              <a:t>THE BIGGEST MISCONCEPTION, and the reason this slide exists: teachers think a question is DoK 4 because it uses big words or long sentences. It does not. DoK measures the TYPE of thinking required.</a:t>
            </a:r>
          </a:p>
          <a:p/>
          <a:p>
            <a:r>
              <a:t>SAY THIS CLEARLY: 'A long question with big vocabulary that asks you to remember something is still DoK 1. A short, simple question that asks you to judge a real situation and defend your judgement can be DoK 3.'</a:t>
            </a:r>
          </a:p>
          <a:p/>
          <a:p>
            <a:r>
              <a:t>WALK UP THE STAIRCASE using the climate change example on the slide - it is drawn directly from the ministry's own curriculum resource, so teachers will meet it again.</a:t>
            </a:r>
          </a:p>
          <a:p/>
          <a:p>
            <a:r>
              <a:t>WHY IT MATTERS FOR VALIDITY: if your learning outcome is at DoK 3 ('analyse', 'evaluate') and your test questions are all at DoK 1 ('state', 'list', 'define'), your assessment is invalid - no matter how well marked. This is exactly the validity failure we described in Session 3.</a:t>
            </a:r>
          </a:p>
          <a:p/>
          <a:p>
            <a:r>
              <a:t>INTERACTIVE, 60 SECONDS: ask teachers to take one question from their last test and label it. Most will find their whole paper sits at DoK 1 and 2. That is a diagnosis, not a criticism - and it is easy to fix with a table of specification.</a:t>
            </a:r>
          </a:p>
          <a:p/>
          <a:p>
            <a:r>
              <a:t>USE THIS IN THE WORKSHOP: when they design their task at 1:35, they should aim at least one question at DoK 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(2 min)</a:t>
            </a:r>
          </a:p>
          <a:p/>
          <a:p>
            <a:r>
              <a:t>THE MISCONCEPTION: most teachers think a portfolio is a folder of every exercise the learner has ever done. That is not a portfolio; it is a filing cabinet.</a:t>
            </a:r>
          </a:p>
          <a:p/>
          <a:p>
            <a:r>
              <a:t>THE TWO WORDS THAT MATTER: CURATED and REFLECTION.</a:t>
            </a:r>
          </a:p>
          <a:p>
            <a:r>
              <a:t>  - Curated - the learner chooses. Choosing is itself an act of assessment: they must judge which work best shows their learning.</a:t>
            </a:r>
          </a:p>
          <a:p>
            <a:r>
              <a:t>  - Reflection - a short written note beside each piece. 'I chose this because...' and 'next time I would...'.</a:t>
            </a:r>
          </a:p>
          <a:p/>
          <a:p>
            <a:r>
              <a:t>THIS IS ASSESSMENT AS LEARNING in its purest form - the AaL from Session 1.</a:t>
            </a:r>
          </a:p>
          <a:p/>
          <a:p>
            <a:r>
              <a:t>PRACTICAL NOTE: portfolios take a term to build. Start small - one subject, one class, three pieces across one term.</a:t>
            </a:r>
          </a:p>
          <a:p/>
          <a:p>
            <a:r>
              <a:t>TIME-SAVING TIP TO OFFER: do not mark every piece. Mark the reflections and the final selection. That is where the thinking is visible.</a:t>
            </a:r>
          </a:p>
          <a:p/>
          <a:p>
            <a:r>
              <a:t>WHERE TO START: the manual's Appendix C.1 has Science and Mathematics exemplars with rubrics already written. Point teachers there - it removes the biggest barrier.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DEBATE (2 min)</a:t>
            </a:r>
          </a:p>
          <a:p/>
          <a:p>
            <a:r>
              <a:t>WHY DEBATE IS UNDERRATED: it is one of the few strategies that assesses THINKING IN PUBLIC. A written answer hides the reasoning; a debate exposes it. You hear whether the learner actually understands, or has merely memorised.</a:t>
            </a:r>
          </a:p>
          <a:p/>
          <a:p>
            <a:r>
              <a:t>THE FAIRNESS WARNING - and this is the important bit: a debate sprung on learners with no preparation does not assess competence. It assesses confidence. It rewards the loudest voices and punishes the shy but thoughtful learner. This is a FAIRNESS failure (pillar 3) and a VALIDITY failure (pillar 1) at the same time.</a:t>
            </a:r>
          </a:p>
          <a:p/>
          <a:p>
            <a:r>
              <a:t>WHAT TO PUT IN THE RUBRIC: clarity of argument, use of evidence, quality of rebuttal, listening and response, respectful disagreement. Notice that 'volume' and 'confidence' do not appear.</a:t>
            </a:r>
          </a:p>
          <a:p/>
          <a:p>
            <a:r>
              <a:t>INCLUSIVITY NOTE: offer a written or small-group alternative for learners who genuinely cannot perform in front of a large audience. The learning outcome is the reasoning, not the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AND PERFORMANCE (2 min)</a:t>
            </a:r>
          </a:p>
          <a:p/>
          <a:p>
            <a:r>
              <a:t>THIS IS WHAT THE MANUAL CALLS 'performance-based / practical / authentic' assessment. 'Authentic' simply means: it looks like real life.</a:t>
            </a:r>
          </a:p>
          <a:p/>
          <a:p>
            <a:r>
              <a:t>THE KEY DIFFERENCE: you do not ask them to describe a titration on paper. They stand at the bench and titrate. You judge what they DO.</a:t>
            </a:r>
          </a:p>
          <a:p/>
          <a:p>
            <a:r>
              <a:t>THE TEACHER'S FIVE JOBS, straight from the manual: design a task requiring real-life application, provide resources and support, evaluate against predetermined criteria, model the skill, and serve as coach throughout.</a:t>
            </a:r>
          </a:p>
          <a:p/>
          <a:p>
            <a:r>
              <a:t>WHY THE RUBRIC IS NON-NEGOTIABLE HERE: in a written test you can re-read a script. In a practical, the judgement happens live and once. Without criteria fixed in advance, you will unconsciously mark the confident performer higher than the careful one - and that is a reliability failure, not an opinion.</a:t>
            </a:r>
          </a:p>
          <a:p/>
          <a:p>
            <a:r>
              <a:t>SMALL-SCHOOL REALITY: if you have no laboratory, a simulated or improvised setting still counts. The manual explicitly allows 'real or simulated' contexts. Do not let lack of equipment stop you.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RUBRIC (3 min) - this is the direct setup for the practical workshop</a:t>
            </a:r>
          </a:p>
          <a:p/>
          <a:p>
            <a:r>
              <a:t>THE ANALOGY TO STRESS: 'Add enough salt' is not a recipe. 'One teaspoon' is a recipe. Most of our instructions to learners are the first kind - and then we are surprised when thirty learners produce thirty different things.</a:t>
            </a:r>
          </a:p>
          <a:p/>
          <a:p>
            <a:r>
              <a:t>THE DOUBLE BENEFIT: a rubric improves BOTH transparency and reliability simultaneously. It tells the learner where to aim, and it stops two markers giving wildly different scores to the same script. It is the best-value document in this whole workshop.</a:t>
            </a:r>
          </a:p>
          <a:p/>
          <a:p>
            <a:r>
              <a:t>THE RULE TO REPEAT: handout BEFORE the task. A rubric revealed after marking is not transparency. It is a post-mortem.</a:t>
            </a:r>
          </a:p>
          <a:p/>
          <a:p>
            <a:r>
              <a:t>KEEP IT SIMPLE - this is important for the workshop: three bands (Excellent, Good, Developing) and four criteria is plenty. Teachers over-engineer rubrics and then do not use them. A simple rubric used consistently beats a detailed one abandoned in week three.</a:t>
            </a:r>
          </a:p>
          <a:p/>
          <a:p>
            <a:r>
              <a:t>TRANSITION INTO THE WORKSHOP: 'In ten minutes you are going to build one of these for your own subject. Not a perfect one - a usable one.'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MATCHING STRATEGY TO LEVEL (3 min)</a:t>
            </a:r>
          </a:p>
          <a:p/>
          <a:p>
            <a:r>
              <a:t>WHY THIS SLIDE EXISTS: teachers often reuse the same task across all year groups, or pitch everything at the middle. Both are validity failures - you are not assessing the standard for that level.</a:t>
            </a:r>
          </a:p>
          <a:p/>
          <a:p>
            <a:r>
              <a:t>READ DOWN THE DoK ROW ESPECIALLY: SHS 1 should be mainly DoK 1-2 with GUIDED DoK 3. By SHS 3 you should be expecting DoK 3-4. If a Form 1 teacher is setting DoK 4 extended research tasks, the learners will fail - not because they are weak, but because the task was pitched wrong.</a:t>
            </a:r>
          </a:p>
          <a:p/>
          <a:p>
            <a:r>
              <a:t>THE SCAFFOLDING PRINCIPLE: same strategy, different amount of support. A Form 1 debate can work brilliantly if you give them the positions and short speaking time. The same format with independent research is a Form 3 task.</a:t>
            </a:r>
          </a:p>
          <a:p/>
          <a:p>
            <a:r>
              <a:t>LINK TO EVIDENCE: this connects directly to the manual's point about ensuring 'the load or the length of the tasks are appropriate to the level of the learner'.</a:t>
            </a:r>
          </a:p>
          <a:p/>
          <a:p>
            <a:r>
              <a:t>ASK THE ROOM: 'Which of these levels do you mostly teach? Does your last assessment match that row?' Give them thirty seconds to look.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WINS (2 min) - the close of Session 4</a:t>
            </a:r>
          </a:p>
          <a:p/>
          <a:p>
            <a:r>
              <a:t>THIS IS THE 'TAKE IT HOME' SLIDE. Its job is to prove that formative assessment is not extra work. Every tool here costs three minutes and no money.</a:t>
            </a:r>
          </a:p>
          <a:p/>
          <a:p>
            <a:r>
              <a:t>PICK ONE AND COMMIT THE ROOM. Do not ask them to adopt all five. Ask each teacher to choose ONE tool to try in their very next lesson and tell the person next to them which one they chose. Public commitment increases follow-through dramatically.</a:t>
            </a:r>
          </a:p>
          <a:p/>
          <a:p>
            <a:r>
              <a:t>WHY EXIT CARDS ARE THE BEST STARTING POINT: three minutes, scrap paper, works with 60 learners, and tells you precisely where to begin tomorrow. If you only ever adopt one thing from today, adopt the exit card.</a:t>
            </a:r>
          </a:p>
          <a:p/>
          <a:p>
            <a:r>
              <a:t>THE PEER-ASSESSMENT WARNING is worth saying: peer assessment fails when learners do not have the rubric. Give them the criteria, and train them to be specific and kind.</a:t>
            </a:r>
          </a:p>
          <a:p/>
          <a:p>
            <a:r>
              <a:t>TRANSITION INTO THE WORKSHOP: 'That is the toolkit. Now let us use it. In a moment you will design your own task and rubric - and you will have 25 minutes to do it properly.'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WORKSHOP (25 min) - THE HEART OF THE DAY</a:t>
            </a:r>
          </a:p>
          <a:p/>
          <a:p>
            <a:r>
              <a:t>Everything before this point has been preparation. Everything after it is reflection. This is where teachers produce something real.</a:t>
            </a:r>
          </a:p>
          <a:p/>
          <a:p>
            <a:r>
              <a:t>WHAT THEY PRODUCE: one learning outcome, one assessment task, and one rubric - for a topic they will teach in the next month.</a:t>
            </a:r>
          </a:p>
          <a:p/>
          <a:p>
            <a:r>
              <a:t>BEFORE YOU START, CHECK:</a:t>
            </a:r>
          </a:p>
          <a:p>
            <a:r>
              <a:t>  - Groups formed (4-6 people, ideally by subject or level so they can help each other)</a:t>
            </a:r>
          </a:p>
          <a:p>
            <a:r>
              <a:t>  - A3 or flip-chart paper and marker pens at every table</a:t>
            </a:r>
          </a:p>
          <a:p>
            <a:r>
              <a:t>  - Sticky notes available</a:t>
            </a:r>
          </a:p>
          <a:p>
            <a:r>
              <a:t>  - The templates visible (slide 38) and, if possible, printed</a:t>
            </a:r>
          </a:p>
          <a:p/>
          <a:p>
            <a:r>
              <a:t>TIMING IS TIGHT. Use the time cues on slide 39 and keep to them. If a group is running behind, that is fine - the point is a usable draft, not a perfect document.</a:t>
            </a:r>
          </a:p>
          <a:p/>
          <a:p>
            <a:r>
              <a:t>YOUR ROLE: circulate constantly. Sit with each table for two minutes. Ask two questions: 'What is your learning outcome?' and 'How will you know a good one when you see it?' Those two questions catch nearly every problem.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UP THE WORKSHOP (3 min of the 25)</a:t>
            </a:r>
          </a:p>
          <a:p/>
          <a:p>
            <a:r>
              <a:t>READ THE BRIEF ALOUD, then repeat the three deliverables clearly: ONE outcome, ONE task, ONE rubric. Teachers will try to design a whole term's assessment. Stop that kindly.</a:t>
            </a:r>
          </a:p>
          <a:p/>
          <a:p>
            <a:r>
              <a:t>WHY A REAL TOPIC: this is the most important instruction on the slide. Invented topics produce documents that never get used. Ask them to open their scheme of work and pick something from the next four weeks.</a:t>
            </a:r>
          </a:p>
          <a:p/>
          <a:p>
            <a:r>
              <a:t>GROUPING: by subject or level if possible, so they can share subject-specific knowledge. Mixed groups work too, but take longer to get going.</a:t>
            </a:r>
          </a:p>
          <a:p/>
          <a:p>
            <a:r>
              <a:t>TIMEKEEPING: appoint one timekeeper per group and give them the cue times. You will also call them out from the front.</a:t>
            </a:r>
          </a:p>
          <a:p/>
          <a:p>
            <a:r>
              <a:t>WHAT GOOD LOOKS LIKE at the end: a clear learning outcome with an action verb, a task that genuinely lets learners show that outcome, and a rubric with three bands and around four criteria. That is it. Perfection is not the goal.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0-10: OUTCOME AND STRATEGY</a:t>
            </a:r>
          </a:p>
          <a:p/>
          <a:p>
            <a:r>
              <a:t>CALL THIS OUT AT THE START: 'For the first ten minutes, do not think about the task. Outcome first. The task is easy once the outcome is clear - and almost impossible before it is.'</a:t>
            </a:r>
          </a:p>
          <a:p/>
          <a:p>
            <a:r>
              <a:t>CIRCULATE AND LISTEN FOR THESE PROBLEMS:</a:t>
            </a:r>
          </a:p>
          <a:p/>
          <a:p>
            <a:r>
              <a:t>PROBLEM 1 - VAGUE OUTCOMES. 'Understand photosynthesis' is not an outcome you can assess - 'understand' is invisible. Push them to a verb that produces evidence: explain, describe, calculate, demonstrate, compare, evaluate.</a:t>
            </a:r>
          </a:p>
          <a:p/>
          <a:p>
            <a:r>
              <a:t>PROBLEM 2 - WRONG DoK LEVEL. A Form 1 class given a DoK 4 design task will fail. Ask: 'Is that the level your curriculum expects for this year group?'</a:t>
            </a:r>
          </a:p>
          <a:p/>
          <a:p>
            <a:r>
              <a:t>PROBLEM 3 - STRATEGY MISMATCH. The outcome is 'demonstrate safe titration technique' but the chosen strategy is a written test. Ask the test on the slide: 'Could a learner who genuinely has this skill fail this task for an unrelated reason?'</a:t>
            </a:r>
          </a:p>
          <a:p/>
          <a:p>
            <a:r>
              <a:t>TWO QUESTIONS TO ASK EVERY TABLE:</a:t>
            </a:r>
          </a:p>
          <a:p>
            <a:r>
              <a:t>  1. 'What is your learning outcome?' - if they cannot say it in one sentence, that is the problem.</a:t>
            </a:r>
          </a:p>
          <a:p>
            <a:r>
              <a:t>  2. 'How will you know a good one when you see it?' - this is the beginning of the rubric.</a:t>
            </a:r>
          </a:p>
          <a:p/>
          <a:p>
            <a:r>
              <a:t>DO NOT LET GROUPS SKIP AHEAD. If a group has not written a clear outcome by minute 10, sit with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10-20: TASK AND RUBRIC</a:t>
            </a:r>
          </a:p>
          <a:p/>
          <a:p>
            <a:r>
              <a:t>THE MOST IMPORTANT INSTRUCTION: keep the rubric simple. Three bands, four criteria. Teachers over-engineer rubrics and then do not use them. Tell them plainly: 'A simple rubric you actually use beats a detailed one you abandon in week three.'</a:t>
            </a:r>
          </a:p>
          <a:p/>
          <a:p>
            <a:r>
              <a:t>CIRCULATE AND WATCH FOR:</a:t>
            </a:r>
          </a:p>
          <a:p/>
          <a:p>
            <a:r>
              <a:t>PROBLEM 1 - THE UNFAKEABLE TEST. Ask: 'Would a learner who only memorised definitions be unable to fake their way through this task?' If they could fake it, the task is testing recall, not the outcome.</a:t>
            </a:r>
          </a:p>
          <a:p/>
          <a:p>
            <a:r>
              <a:t>PROBLEM 2 - RUBRIC DESCRIBING THE LEARNER RATHER THAN THE WORK. This is very common. 'Excellent: a very good student' tells nobody anything. Push them to: 'Excellent: three clear arguments, each supported by one piece of evidence.'</a:t>
            </a:r>
          </a:p>
          <a:p/>
          <a:p>
            <a:r>
              <a:t>PROBLEM 3 - TOO MANY CRITERIA. If a group has eight criteria, ask them which four matter most. Marking with eight criteria is slow and inconsistent.</a:t>
            </a:r>
          </a:p>
          <a:p/>
          <a:p>
            <a:r>
              <a:t>PROBLEM 4 - FORGETTING SEN. Ask directly: 'Who in your class would struggle to access this task, and what will you do about it?' This is the inclusivity pillar made practical - and note on the slide that accommodations must be decided in advance and recorded.</a:t>
            </a:r>
          </a:p>
          <a:p/>
          <a:p>
            <a:r>
              <a:t>AT MINUTE 20, CALL TIME and move them to the quality checklist. Do not let groups drift into minute 25 - they need the checklist time.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20-25: QUALITY CHECK</a:t>
            </a:r>
          </a:p>
          <a:p/>
          <a:p>
            <a:r>
              <a:t>THIS IS THE STEP TEACHERS WANT TO SKIP. Do not let them. Five minutes here is what makes the difference between a document and a tool.</a:t>
            </a:r>
          </a:p>
          <a:p/>
          <a:p>
            <a:r>
              <a:t>INSTRUCT THEM: 'Read your own work against these six questions. Find the ONE problem that is easiest to fix. Fix it. Then stop.' Do not attempt to fix everything - there is no time and it is not necessary.</a:t>
            </a:r>
          </a:p>
          <a:p/>
          <a:p>
            <a:r>
              <a:t>THE THREE MOST COMMON FAILURES you will see in this check:</a:t>
            </a:r>
          </a:p>
          <a:p>
            <a:r>
              <a:t>  - VALIDITY: the task drifted into recall because recall is easy to write.</a:t>
            </a:r>
          </a:p>
          <a:p>
            <a:r>
              <a:t>  - RELIABILITY: rubric cells that say 'good', 'satisfactory', 'shows understanding' without describing what would earn them.</a:t>
            </a:r>
          </a:p>
          <a:p>
            <a:r>
              <a:t>  - PRACTICABILITY: a task that would take two weeks to mark. This is the one to catch most gently, because the enthusiasm is real but the plan will collapse.</a:t>
            </a:r>
          </a:p>
          <a:p/>
          <a:p>
            <a:r>
              <a:t>CLOSE THE WORKSHOP SEGMENT: 'Put your sheet on the wall. You have five minutes' break before the gallery walk - stretch, then come back ready to read other people's work.'</a:t>
            </a:r>
          </a:p>
          <a:p/>
          <a:p>
            <a:r>
              <a:t>IF A GROUP FINISHED EARLY: ask them to write the learner-facing version of their rubric, or to write the SEN accommodation, or to predict what the weakest learner in their class would produce.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GALLERY WALK (10 min)</a:t>
            </a:r>
          </a:p>
          <a:p/>
          <a:p>
            <a:r>
              <a:t>PURPOSE: teachers learn more from critiquing each other's work than from listening to you. This also builds the habit of the manual's 'critiquing as an assessment strategy' - they are doing exactly what they should have learners do.</a:t>
            </a:r>
          </a:p>
          <a:p/>
          <a:p>
            <a:r>
              <a:t>SET THE NORMS BEFORE YOU START - this matters, or the feedback is either useless or hurtful:</a:t>
            </a:r>
          </a:p>
          <a:p>
            <a:r>
              <a:t>  - ONE note per sheet. Not a page of comments.</a:t>
            </a:r>
          </a:p>
          <a:p>
            <a:r>
              <a:t>  - SPECIFIC, not general. 'The Good column does not say how many examples' is useful. 'Needs improvement' is not.</a:t>
            </a:r>
          </a:p>
          <a:p>
            <a:r>
              <a:t>  - KIND. These are colleagues' drafts, not final products.</a:t>
            </a:r>
          </a:p>
          <a:p/>
          <a:p>
            <a:r>
              <a:t>ENFORCE THE QUIET READING PHASE. Three minutes of silence at the start is what makes people actually read rather than chat.</a:t>
            </a:r>
          </a:p>
          <a:p/>
          <a:p>
            <a:r>
              <a:t>IF YOU ARE SHORT OF TIME: cut the share-outs, not the feedback notes. The written feedback is where the learning is.</a:t>
            </a:r>
          </a:p>
          <a:p/>
          <a:p>
            <a:r>
              <a:t>SHARE-OUT QUESTIONS to ask the two or three groups at the front:</a:t>
            </a:r>
          </a:p>
          <a:p>
            <a:r>
              <a:t>  - 'What did you design, in one sentence?'</a:t>
            </a:r>
          </a:p>
          <a:p>
            <a:r>
              <a:t>  - 'What did the feedback make you reconsider?'</a:t>
            </a:r>
          </a:p>
          <a:p>
            <a:r>
              <a:t>  - 'What is the one thing you will change before you use this?'</a:t>
            </a:r>
          </a:p>
          <a:p/>
          <a:p>
            <a:r>
              <a:t>LISTEN FOR a group that says they realised their rubric was too vague, or their task was not really testing their outcome. Name that publicly - it validates the process.</a:t>
            </a:r>
          </a:p>
          <a:p/>
          <a:p>
            <a:r>
              <a:t>USE THE GALLERY WALK AS YOUR EVIDENCE: take photographs of the wall. These are real assessment tools designed by your staff, and they are useful for the school's professional development record.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ASSESSMENT DATA (10 min)</a:t>
            </a:r>
          </a:p>
          <a:p/>
          <a:p>
            <a:r>
              <a:t>Two halves: FEEDBACK (what you give back to the learner) and RECORDS (what you keep and why).</a:t>
            </a:r>
          </a:p>
          <a:p/>
          <a:p>
            <a:r>
              <a:t>This is objective 4 of the workshop: turn assessment results into targeted feedback, better teaching decisions, and clear records.</a:t>
            </a:r>
          </a:p>
          <a:p/>
          <a:p>
            <a:r>
              <a:t>PACE NOTE: 10 minutes is tight. Keep the feedback slide warm and human; keep the records slide crisp and practical. Teachers already know records matter — they need the system, not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FEEDBACK (4 min)</a:t>
            </a:r>
          </a:p>
          <a:p/>
          <a:p>
            <a:r>
              <a:t>THE MECHANIC ANALOGY is the heart of this slide. Everyone has met both mechanics. Ask the room which one they would return to, and why. Then make the turn: 'Which mechanic are we to our learners?'</a:t>
            </a:r>
          </a:p>
          <a:p/>
          <a:p>
            <a:r>
              <a:t>THE HARD TRUTH: most of what we call feedback is a number plus a word. 'Good work, 7/10' gives the learner a verdict, not a next step. The learner knows they got 7. They do not know what to do to get 9.</a:t>
            </a:r>
          </a:p>
          <a:p/>
          <a:p>
            <a:r>
              <a:t>THE MOST ACTIONABLE RULE - and the one teachers find genuinely relieving: feedback needs TIME. Ten minutes at the start of the next lesson for learners to read and act on your corrections is worth more than two hours of extra marking. Without that time, all your careful marking is decoration.</a:t>
            </a:r>
          </a:p>
          <a:p/>
          <a:p>
            <a:r>
              <a:t>LINK BACK TO THE PILLARS: feedback without time to act on it fails the UTILITY test from Session 3. You satisfied six pillars and produced something nobody used.</a:t>
            </a:r>
          </a:p>
          <a:p/>
          <a:p>
            <a:r>
              <a:t>SELF-CHECK TO OFFER: 'When you hand back a marked script, does the learner do anything with it other than look at the score?'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RECORDS (4 min)</a:t>
            </a:r>
          </a:p>
          <a:p/>
          <a:p>
            <a:r>
              <a:t>OPEN BY REASSURING THEM: 'This is not about creating more paperwork. It is about keeping six things you probably already keep, in a way that can be found.'</a:t>
            </a:r>
          </a:p>
          <a:p/>
          <a:p>
            <a:r>
              <a:t>THE TEST TO OFFER: 'Pick one learner at random. Could you produce all six of these for them right now?' Most teachers will find two or three are missing or scattered. That is the gap - and it is fixable in an afternoon.</a:t>
            </a:r>
          </a:p>
          <a:p/>
          <a:p>
            <a:r>
              <a:t>THE ONE THAT IS MOST OFTEN MISSED is SEN accommodations. The framework requires both that they are provided AND, practically, you need the note to explain a mark later.</a:t>
            </a:r>
          </a:p>
          <a:p/>
          <a:p>
            <a:r>
              <a:t>THE DATE COLUMN on marks matters more than people expect. Marks without dates cannot show progress across the term, which is exactly what a portfolio or a transcript is meant to demonstrate.</a:t>
            </a:r>
          </a:p>
          <a:p/>
          <a:p>
            <a:r>
              <a:t>PRACTICAL ADVICE, keep it simple: 'One folder per class. One mark book. Date everything. Keep the rubric with the task. That is the whole system.'</a:t>
            </a:r>
          </a:p>
          <a:p/>
          <a:p>
            <a:r>
              <a:t>BRIDGE: 'Records are about the past. The next slide is about turning them into the future.'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DATA TO ACTION (2 min)</a:t>
            </a:r>
          </a:p>
          <a:p/>
          <a:p>
            <a:r>
              <a:t>THIS IS OBJECTIVE 4 OF THE WORKSHOP, and it is the slide that closes the loop on the whole day.</a:t>
            </a:r>
          </a:p>
          <a:p/>
          <a:p>
            <a:r>
              <a:t>THE MOST USEFUL REFRAME: 'Look for the pattern, not the person.' The mark book encourages us to see 45 individual results. But 18 learners failing the same question is ONE teaching problem, not 18 learning problems. That insight alone changes how much work you have to do.</a:t>
            </a:r>
          </a:p>
          <a:p/>
          <a:p>
            <a:r>
              <a:t>THE THREE RESPONSES are worth naming clearly, because teachers often default to only one: if most failed, re-teach the whole class. If a few failed, target support. If everyone passed, move on. Deciding deliberately beats deciding by habit.</a:t>
            </a:r>
          </a:p>
          <a:p/>
          <a:p>
            <a:r>
              <a:t>CLOSE THE LOOP IN DAYS, NOT WEEKS. Give the number: 'Three weeks later is not feedback, it is history.'</a:t>
            </a:r>
          </a:p>
          <a:p/>
          <a:p>
            <a:r>
              <a:t>THE LAST BULLET is the one that changes classroom culture: tell learners what you noticed and what you are changing. 'I can see we all struggled with this - we will do it a different way today.' That single sentence turns assessment from judgement into teaching, which brings us back to the words from the icebreaker this morning.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CHALLENGES (5 min)</a:t>
            </a:r>
          </a:p>
          <a:p/>
          <a:p>
            <a:r>
              <a:t>THIS SLIDE IS YOUR CREDIBILITY. If you do not address the real constraints honestly, everything else sounds like theory from someone who has not taught a large class.</a:t>
            </a:r>
          </a:p>
          <a:p/>
          <a:p>
            <a:r>
              <a:t>HOW TO RUN IT: read the first line of each challenge - the “my class is too large” type opening - and let the room murmur in recognition. Then give the practical answer. Do not read the whole table aloud.</a:t>
            </a:r>
          </a:p>
          <a:p/>
          <a:p>
            <a:r>
              <a:t>VALIDATE FIRST, SOLVE SECOND. Say plainly: 'These are not excuses. These are real constraints, and the framework expects us to design around them - that is exactly what the practicability pillar means.'</a:t>
            </a:r>
          </a:p>
          <a:p/>
          <a:p>
            <a:r>
              <a:t>THE CHALLENGE MOST LIKELY TO COME UP, and the one to spend most time on: TIMB. Teachers feel assessment is added on top of an already crowded syllabus. The reframe: 'Assessment is not on top of teaching. It is what tells you which teaching to stop doing.'</a:t>
            </a:r>
          </a:p>
          <a:p/>
          <a:p>
            <a:r>
              <a:t>ON RUBRICS - this is where you get the biggest return. Many teachers avoid rubrics because they think they must invent them. Tell them clearly: Appendix C of the NaCCA manual has exemplars for almost every strategy we covered today. Point them there.</a:t>
            </a:r>
          </a:p>
          <a:p/>
          <a:p>
            <a:r>
              <a:t>ON LEARNERS ONLY CARING ABOUT MARKS: this connects back to the icebreaker. If learners have only ever experienced assessment as judgement, of course they only look at the number. That is learned. Change the experience and the behaviour follows.</a:t>
            </a:r>
          </a:p>
          <a:p/>
          <a:p>
            <a:r>
              <a:t>IF YOU ARE SHORT OF TIME: cover the first three challenges only. Those are the ones in the room.</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 PLANNING (3 min)</a:t>
            </a:r>
          </a:p>
          <a:p/>
          <a:p>
            <a:r>
              <a:t>THE DISCIPLINE OF THIS SLIDE: ONE commitment. Teachers leave workshops with good intentions and change nothing because they try to change everything. Force the constraint.</a:t>
            </a:r>
          </a:p>
          <a:p/>
          <a:p>
            <a:r>
              <a:t>DRILL DOWN ON SPECIFICITY. When someone says 'I will do more formative assessment', push back kindly: 'With which class? How often? Starting when? What will you actually do at the end of the lesson?'</a:t>
            </a:r>
          </a:p>
          <a:p/>
          <a:p>
            <a:r>
              <a:t>THE STRONGEST VERSION names all four: WHAT, with WHICH CLASS, HOW OFTEN, STARTING WHEN. Read the model on the slide aloud as the standard.</a:t>
            </a:r>
          </a:p>
          <a:p/>
          <a:p>
            <a:r>
              <a:t>SPOKEN COMMITMENT: give exactly 30 seconds each, then move on. Do not skip this — publicly saying it to a peer genuinely increases follow-through.</a:t>
            </a:r>
          </a:p>
          <a:p/>
          <a:p>
            <a:r>
              <a:t>OFFER THE MENU at the bottom so nobody has to invent a starting point. Five options, all from today's content, all achievable this term without budget.</a:t>
            </a:r>
          </a:p>
          <a:p/>
          <a:p>
            <a:r>
              <a:t>IF YOU WANT TO STRENGTHEN FOLLOW-UP: collect the slips, or take a photograph of the board. Then at your next staff meeting, ask how the commitments went. That single follow-up question is what turns a workshop into a change.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(2 min)</a:t>
            </a:r>
          </a:p>
          <a:p/>
          <a:p>
            <a:r>
              <a:t>DO NOT SUMMARISE THE WHOLE DAY AGAIN. You have just done the action planning. Close with the callback to the icebreaker instead - it is the emotional bookend.</a:t>
            </a:r>
          </a:p>
          <a:p/>
          <a:p>
            <a:r>
              <a:t>DELIVER IT SLOWLY:</a:t>
            </a:r>
          </a:p>
          <a:p>
            <a:r>
              <a:t>'This morning I asked you for one word for assessment. Most of the words on that board were about being judged - stress, fear, marks, pressure. And I said then that the difference between those words and words like growth, feedback and help is the whole point of today.'</a:t>
            </a:r>
          </a:p>
          <a:p/>
          <a:p>
            <a:r>
              <a:t>'Everything we did was about moving those words across. Not by working harder - by tasting the soup. By knowing which form of assessment you are using and why. By writing the rubric before the task. By giving feedback they have time to act on.'</a:t>
            </a:r>
          </a:p>
          <a:p/>
          <a:p>
            <a:r>
              <a:t>'Taste the soup. Serve the meal. Know which one you are doing, and why.'</a:t>
            </a:r>
          </a:p>
          <a:p/>
          <a:p>
            <a:r>
              <a:t>THEN POINT TO THE HANDOUTS:</a:t>
            </a:r>
          </a:p>
          <a:p>
            <a:r>
              <a:t>  - The PDF handbook has every term, principle and strategy, with the classroom pictures, so you do not have to remember it all.</a:t>
            </a:r>
          </a:p>
          <a:p>
            <a:r>
              <a:t>  - The NaCCA Teacher Assessment Manual and Toolkit is free at curriculumresources.edu.gh. Appendix C is the part to go to first - ready-made rubrics and exemplars for almost every strategy we covered.</a:t>
            </a:r>
          </a:p>
          <a:p/>
          <a:p>
            <a:r>
              <a:t>FINALLY, THANK THEM PROPERLY. They gave up two and a half hours. Acknowledge that they designed real tasks today, not just listened. Then invite informal questions - people often ask the best questions once the formality drops.</a:t>
            </a:r>
          </a:p>
          <a:p/>
          <a:p>
            <a:r>
              <a:t>IF ANYONE STAYS BEHIND: those conversations are worth more than the session. Listen to what they say about the 70/30 slide especially - that is where the real anxiety 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hero_classroom.jpg"/>
          <p:cNvPicPr>
            <a:picLocks noChangeAspect="1"/>
          </p:cNvPicPr>
          <p:nvPr/>
        </p:nvPicPr>
        <p:blipFill>
          <a:blip r:embed="rId2"/>
          <a:srcRect l="1279" r="1279"/>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42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74A35">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1887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04088" y="1691640"/>
            <a:ext cx="10783519" cy="3108960"/>
          </a:xfrm>
          <a:prstGeom prst="rect">
            <a:avLst/>
          </a:prstGeom>
          <a:noFill/>
        </p:spPr>
        <p:txBody>
          <a:bodyPr wrap="square" lIns="0" rIns="0" tIns="0" bIns="0">
            <a:spAutoFit/>
          </a:bodyPr>
          <a:lstStyle/>
          <a:p>
            <a:pPr algn="l">
              <a:lnSpc>
                <a:spcPct val="100000"/>
              </a:lnSpc>
              <a:spcBef>
                <a:spcPts val="0"/>
              </a:spcBef>
              <a:spcAft>
                <a:spcPts val="1000"/>
              </a:spcAft>
            </a:pPr>
            <a:r>
              <a:rPr sz="5000" b="1" i="0">
                <a:solidFill>
                  <a:srgbClr val="FFFFFF"/>
                </a:solidFill>
                <a:latin typeface="Trebuchet MS"/>
              </a:rPr>
              <a:t>Effective Assessment Practices</a:t>
            </a:r>
          </a:p>
          <a:p>
            <a:pPr algn="l">
              <a:lnSpc>
                <a:spcPct val="100000"/>
              </a:lnSpc>
              <a:spcBef>
                <a:spcPts val="0"/>
              </a:spcBef>
              <a:spcAft>
                <a:spcPts val="2000"/>
              </a:spcAft>
            </a:pPr>
            <a:r>
              <a:rPr sz="2100" b="0" i="0">
                <a:solidFill>
                  <a:srgbClr val="F4B400"/>
                </a:solidFill>
                <a:latin typeface="Trebuchet MS"/>
              </a:rPr>
              <a:t>Plain words. Everyday classrooms. Real Ghanaian schools.</a:t>
            </a:r>
          </a:p>
          <a:p>
            <a:pPr algn="l">
              <a:lnSpc>
                <a:spcPct val="115000"/>
              </a:lnSpc>
              <a:spcBef>
                <a:spcPts val="0"/>
              </a:spcBef>
              <a:spcAft>
                <a:spcPts val="0"/>
              </a:spcAft>
            </a:pPr>
            <a:r>
              <a:rPr sz="1400" b="0" i="0">
                <a:solidFill>
                  <a:srgbClr val="D8E8E1"/>
                </a:solidFill>
                <a:latin typeface="Calibri"/>
              </a:rPr>
              <a:t>A practical workshop for Senior High School teachers — every technical term explained in plain English, with a classroom picture you already know.</a:t>
            </a:r>
          </a:p>
        </p:txBody>
      </p:sp>
      <p:sp>
        <p:nvSpPr>
          <p:cNvPr id="7" name="TextBox 6"/>
          <p:cNvSpPr txBox="1"/>
          <p:nvPr/>
        </p:nvSpPr>
        <p:spPr>
          <a:xfrm>
            <a:off x="704088" y="5897880"/>
            <a:ext cx="10783519" cy="594360"/>
          </a:xfrm>
          <a:prstGeom prst="rect">
            <a:avLst/>
          </a:prstGeom>
          <a:noFill/>
        </p:spPr>
        <p:txBody>
          <a:bodyPr wrap="square" lIns="0" rIns="0" tIns="0" bIns="0">
            <a:spAutoFit/>
          </a:bodyPr>
          <a:lstStyle/>
          <a:p>
            <a:pPr algn="l">
              <a:lnSpc>
                <a:spcPct val="100000"/>
              </a:lnSpc>
              <a:spcBef>
                <a:spcPts val="0"/>
              </a:spcBef>
              <a:spcAft>
                <a:spcPts val="200"/>
              </a:spcAft>
            </a:pPr>
            <a:r>
              <a:rPr sz="1500" b="1" i="0">
                <a:solidFill>
                  <a:srgbClr val="FFFFFF"/>
                </a:solidFill>
                <a:latin typeface="Trebuchet MS"/>
              </a:rPr>
              <a:t>KATON 2026</a:t>
            </a:r>
          </a:p>
          <a:p>
            <a:pPr algn="l">
              <a:lnSpc>
                <a:spcPct val="100000"/>
              </a:lnSpc>
              <a:spcBef>
                <a:spcPts val="0"/>
              </a:spcBef>
              <a:spcAft>
                <a:spcPts val="0"/>
              </a:spcAft>
            </a:pPr>
            <a:r>
              <a:rPr sz="1050" b="0" i="0">
                <a:solidFill>
                  <a:srgbClr val="C6DBD3"/>
                </a:solidFill>
                <a:latin typeface="Calibri"/>
              </a:rPr>
              <a:t>Based on the Teacher Assessment Manual and Toolkit — NaCCA, Ministry of Education, Republic of Ghana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Workshop Agenda</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Two hours thirty minutes · with a break</a:t>
            </a:r>
          </a:p>
        </p:txBody>
      </p:sp>
      <p:sp>
        <p:nvSpPr>
          <p:cNvPr id="6" name="Rectangle 5"/>
          <p:cNvSpPr/>
          <p:nvPr/>
        </p:nvSpPr>
        <p:spPr>
          <a:xfrm>
            <a:off x="566928" y="1408176"/>
            <a:ext cx="11057839" cy="3794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08176"/>
            <a:ext cx="50292" cy="3794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490472"/>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00:00</a:t>
            </a:r>
          </a:p>
        </p:txBody>
      </p:sp>
      <p:sp>
        <p:nvSpPr>
          <p:cNvPr id="9" name="TextBox 8"/>
          <p:cNvSpPr txBox="1"/>
          <p:nvPr/>
        </p:nvSpPr>
        <p:spPr>
          <a:xfrm>
            <a:off x="1938528" y="1490472"/>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Welcome &amp; Workshop Objectives</a:t>
            </a:r>
          </a:p>
        </p:txBody>
      </p:sp>
      <p:sp>
        <p:nvSpPr>
          <p:cNvPr id="10" name="TextBox 9"/>
          <p:cNvSpPr txBox="1"/>
          <p:nvPr/>
        </p:nvSpPr>
        <p:spPr>
          <a:xfrm>
            <a:off x="10207447" y="1490472"/>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0B6E4F"/>
                </a:solidFill>
                <a:latin typeface="Trebuchet MS"/>
              </a:rPr>
              <a:t>5 min</a:t>
            </a:r>
          </a:p>
        </p:txBody>
      </p:sp>
      <p:sp>
        <p:nvSpPr>
          <p:cNvPr id="11" name="Rectangle 10"/>
          <p:cNvSpPr/>
          <p:nvPr/>
        </p:nvSpPr>
        <p:spPr>
          <a:xfrm>
            <a:off x="566928" y="1787652"/>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1787652"/>
            <a:ext cx="50292" cy="3794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1869948"/>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00:05</a:t>
            </a:r>
          </a:p>
        </p:txBody>
      </p:sp>
      <p:sp>
        <p:nvSpPr>
          <p:cNvPr id="14" name="TextBox 13"/>
          <p:cNvSpPr txBox="1"/>
          <p:nvPr/>
        </p:nvSpPr>
        <p:spPr>
          <a:xfrm>
            <a:off x="1938528" y="1869948"/>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Icebreaker — One Word for Assessment</a:t>
            </a:r>
          </a:p>
        </p:txBody>
      </p:sp>
      <p:sp>
        <p:nvSpPr>
          <p:cNvPr id="15" name="TextBox 14"/>
          <p:cNvSpPr txBox="1"/>
          <p:nvPr/>
        </p:nvSpPr>
        <p:spPr>
          <a:xfrm>
            <a:off x="10207447" y="1869948"/>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0B6E4F"/>
                </a:solidFill>
                <a:latin typeface="Trebuchet MS"/>
              </a:rPr>
              <a:t>5 min</a:t>
            </a:r>
          </a:p>
        </p:txBody>
      </p:sp>
      <p:sp>
        <p:nvSpPr>
          <p:cNvPr id="16" name="Rectangle 15"/>
          <p:cNvSpPr/>
          <p:nvPr/>
        </p:nvSpPr>
        <p:spPr>
          <a:xfrm>
            <a:off x="566928" y="2167128"/>
            <a:ext cx="11057839" cy="3794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2167128"/>
            <a:ext cx="50292" cy="37947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2249424"/>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00:10</a:t>
            </a:r>
          </a:p>
        </p:txBody>
      </p:sp>
      <p:sp>
        <p:nvSpPr>
          <p:cNvPr id="19" name="TextBox 18"/>
          <p:cNvSpPr txBox="1"/>
          <p:nvPr/>
        </p:nvSpPr>
        <p:spPr>
          <a:xfrm>
            <a:off x="1938528" y="2249424"/>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1" i="0">
                <a:solidFill>
                  <a:srgbClr val="14262E"/>
                </a:solidFill>
                <a:latin typeface="Trebuchet MS"/>
              </a:rPr>
              <a:t>Session 1: Understanding Assessment — Purpose &amp; Types</a:t>
            </a:r>
          </a:p>
        </p:txBody>
      </p:sp>
      <p:sp>
        <p:nvSpPr>
          <p:cNvPr id="20" name="TextBox 19"/>
          <p:cNvSpPr txBox="1"/>
          <p:nvPr/>
        </p:nvSpPr>
        <p:spPr>
          <a:xfrm>
            <a:off x="10207447" y="2249424"/>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F4B400"/>
                </a:solidFill>
                <a:latin typeface="Trebuchet MS"/>
              </a:rPr>
              <a:t>20 min</a:t>
            </a:r>
          </a:p>
        </p:txBody>
      </p:sp>
      <p:sp>
        <p:nvSpPr>
          <p:cNvPr id="21" name="Rectangle 20"/>
          <p:cNvSpPr/>
          <p:nvPr/>
        </p:nvSpPr>
        <p:spPr>
          <a:xfrm>
            <a:off x="566928" y="2546604"/>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2546604"/>
            <a:ext cx="50292" cy="37947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2628900"/>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00:30</a:t>
            </a:r>
          </a:p>
        </p:txBody>
      </p:sp>
      <p:sp>
        <p:nvSpPr>
          <p:cNvPr id="24" name="TextBox 23"/>
          <p:cNvSpPr txBox="1"/>
          <p:nvPr/>
        </p:nvSpPr>
        <p:spPr>
          <a:xfrm>
            <a:off x="1938528" y="2628900"/>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1" i="0">
                <a:solidFill>
                  <a:srgbClr val="14262E"/>
                </a:solidFill>
                <a:latin typeface="Trebuchet MS"/>
              </a:rPr>
              <a:t>Session 2: Ghana's Assessment Policy Landscape</a:t>
            </a:r>
          </a:p>
        </p:txBody>
      </p:sp>
      <p:sp>
        <p:nvSpPr>
          <p:cNvPr id="25" name="TextBox 24"/>
          <p:cNvSpPr txBox="1"/>
          <p:nvPr/>
        </p:nvSpPr>
        <p:spPr>
          <a:xfrm>
            <a:off x="10207447" y="2628900"/>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F4B400"/>
                </a:solidFill>
                <a:latin typeface="Trebuchet MS"/>
              </a:rPr>
              <a:t>15 min</a:t>
            </a:r>
          </a:p>
        </p:txBody>
      </p:sp>
      <p:sp>
        <p:nvSpPr>
          <p:cNvPr id="26" name="Rectangle 25"/>
          <p:cNvSpPr/>
          <p:nvPr/>
        </p:nvSpPr>
        <p:spPr>
          <a:xfrm>
            <a:off x="566928" y="2926080"/>
            <a:ext cx="11057839" cy="379476"/>
          </a:xfrm>
          <a:prstGeom prst="rect">
            <a:avLst/>
          </a:prstGeom>
          <a:solidFill>
            <a:srgbClr val="EE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2926080"/>
            <a:ext cx="50292" cy="379476"/>
          </a:xfrm>
          <a:prstGeom prst="rect">
            <a:avLst/>
          </a:prstGeom>
          <a:solidFill>
            <a:srgbClr val="5A6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3008376"/>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00:45</a:t>
            </a:r>
          </a:p>
        </p:txBody>
      </p:sp>
      <p:sp>
        <p:nvSpPr>
          <p:cNvPr id="29" name="TextBox 28"/>
          <p:cNvSpPr txBox="1"/>
          <p:nvPr/>
        </p:nvSpPr>
        <p:spPr>
          <a:xfrm>
            <a:off x="1938528" y="3008376"/>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1" i="0">
                <a:solidFill>
                  <a:srgbClr val="14262E"/>
                </a:solidFill>
                <a:latin typeface="Trebuchet MS"/>
              </a:rPr>
              <a:t>Break</a:t>
            </a:r>
          </a:p>
        </p:txBody>
      </p:sp>
      <p:sp>
        <p:nvSpPr>
          <p:cNvPr id="30" name="TextBox 29"/>
          <p:cNvSpPr txBox="1"/>
          <p:nvPr/>
        </p:nvSpPr>
        <p:spPr>
          <a:xfrm>
            <a:off x="10207447" y="3008376"/>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5A6B72"/>
                </a:solidFill>
                <a:latin typeface="Trebuchet MS"/>
              </a:rPr>
              <a:t>15 min</a:t>
            </a:r>
          </a:p>
        </p:txBody>
      </p:sp>
      <p:sp>
        <p:nvSpPr>
          <p:cNvPr id="31" name="Rectangle 30"/>
          <p:cNvSpPr/>
          <p:nvPr/>
        </p:nvSpPr>
        <p:spPr>
          <a:xfrm>
            <a:off x="566928" y="3305556"/>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3305556"/>
            <a:ext cx="50292" cy="37947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3387852"/>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01:00</a:t>
            </a:r>
          </a:p>
        </p:txBody>
      </p:sp>
      <p:sp>
        <p:nvSpPr>
          <p:cNvPr id="34" name="TextBox 33"/>
          <p:cNvSpPr txBox="1"/>
          <p:nvPr/>
        </p:nvSpPr>
        <p:spPr>
          <a:xfrm>
            <a:off x="1938528" y="3387852"/>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1" i="0">
                <a:solidFill>
                  <a:srgbClr val="14262E"/>
                </a:solidFill>
                <a:latin typeface="Trebuchet MS"/>
              </a:rPr>
              <a:t>Session 3: Principles of Effective Assessment</a:t>
            </a:r>
          </a:p>
        </p:txBody>
      </p:sp>
      <p:sp>
        <p:nvSpPr>
          <p:cNvPr id="35" name="TextBox 34"/>
          <p:cNvSpPr txBox="1"/>
          <p:nvPr/>
        </p:nvSpPr>
        <p:spPr>
          <a:xfrm>
            <a:off x="10207447" y="3387852"/>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F4B400"/>
                </a:solidFill>
                <a:latin typeface="Trebuchet MS"/>
              </a:rPr>
              <a:t>15 min</a:t>
            </a:r>
          </a:p>
        </p:txBody>
      </p:sp>
      <p:sp>
        <p:nvSpPr>
          <p:cNvPr id="36" name="Rectangle 35"/>
          <p:cNvSpPr/>
          <p:nvPr/>
        </p:nvSpPr>
        <p:spPr>
          <a:xfrm>
            <a:off x="566928" y="3685032"/>
            <a:ext cx="11057839" cy="3794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3685032"/>
            <a:ext cx="50292" cy="37947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6384" y="3767328"/>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01:15</a:t>
            </a:r>
          </a:p>
        </p:txBody>
      </p:sp>
      <p:sp>
        <p:nvSpPr>
          <p:cNvPr id="39" name="TextBox 38"/>
          <p:cNvSpPr txBox="1"/>
          <p:nvPr/>
        </p:nvSpPr>
        <p:spPr>
          <a:xfrm>
            <a:off x="1938528" y="3767328"/>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1" i="0">
                <a:solidFill>
                  <a:srgbClr val="14262E"/>
                </a:solidFill>
                <a:latin typeface="Trebuchet MS"/>
              </a:rPr>
              <a:t>Session 4: Assessment Strategies Across Levels</a:t>
            </a:r>
          </a:p>
        </p:txBody>
      </p:sp>
      <p:sp>
        <p:nvSpPr>
          <p:cNvPr id="40" name="TextBox 39"/>
          <p:cNvSpPr txBox="1"/>
          <p:nvPr/>
        </p:nvSpPr>
        <p:spPr>
          <a:xfrm>
            <a:off x="10207447" y="3767328"/>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F4B400"/>
                </a:solidFill>
                <a:latin typeface="Trebuchet MS"/>
              </a:rPr>
              <a:t>20 min</a:t>
            </a:r>
          </a:p>
        </p:txBody>
      </p:sp>
      <p:sp>
        <p:nvSpPr>
          <p:cNvPr id="41" name="Rectangle 40"/>
          <p:cNvSpPr/>
          <p:nvPr/>
        </p:nvSpPr>
        <p:spPr>
          <a:xfrm>
            <a:off x="566928" y="4064508"/>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064508"/>
            <a:ext cx="50292" cy="37947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 y="4146804"/>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01:35</a:t>
            </a:r>
          </a:p>
        </p:txBody>
      </p:sp>
      <p:sp>
        <p:nvSpPr>
          <p:cNvPr id="44" name="TextBox 43"/>
          <p:cNvSpPr txBox="1"/>
          <p:nvPr/>
        </p:nvSpPr>
        <p:spPr>
          <a:xfrm>
            <a:off x="1938528" y="4146804"/>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Practical Workshop: Design a Task &amp; Rubric</a:t>
            </a:r>
          </a:p>
        </p:txBody>
      </p:sp>
      <p:sp>
        <p:nvSpPr>
          <p:cNvPr id="45" name="TextBox 44"/>
          <p:cNvSpPr txBox="1"/>
          <p:nvPr/>
        </p:nvSpPr>
        <p:spPr>
          <a:xfrm>
            <a:off x="10207447" y="4146804"/>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C1440E"/>
                </a:solidFill>
                <a:latin typeface="Trebuchet MS"/>
              </a:rPr>
              <a:t>25 min</a:t>
            </a:r>
          </a:p>
        </p:txBody>
      </p:sp>
      <p:sp>
        <p:nvSpPr>
          <p:cNvPr id="46" name="Rectangle 45"/>
          <p:cNvSpPr/>
          <p:nvPr/>
        </p:nvSpPr>
        <p:spPr>
          <a:xfrm>
            <a:off x="566928" y="4443984"/>
            <a:ext cx="11057839" cy="3794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928" y="4443984"/>
            <a:ext cx="50292" cy="37947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6384" y="4526280"/>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02:00</a:t>
            </a:r>
          </a:p>
        </p:txBody>
      </p:sp>
      <p:sp>
        <p:nvSpPr>
          <p:cNvPr id="49" name="TextBox 48"/>
          <p:cNvSpPr txBox="1"/>
          <p:nvPr/>
        </p:nvSpPr>
        <p:spPr>
          <a:xfrm>
            <a:off x="1938528" y="4526280"/>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Gallery Walk &amp; Group Share-Outs</a:t>
            </a:r>
          </a:p>
        </p:txBody>
      </p:sp>
      <p:sp>
        <p:nvSpPr>
          <p:cNvPr id="50" name="TextBox 49"/>
          <p:cNvSpPr txBox="1"/>
          <p:nvPr/>
        </p:nvSpPr>
        <p:spPr>
          <a:xfrm>
            <a:off x="10207447" y="4526280"/>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C1440E"/>
                </a:solidFill>
                <a:latin typeface="Trebuchet MS"/>
              </a:rPr>
              <a:t>10 min</a:t>
            </a:r>
          </a:p>
        </p:txBody>
      </p:sp>
      <p:sp>
        <p:nvSpPr>
          <p:cNvPr id="51" name="Rectangle 50"/>
          <p:cNvSpPr/>
          <p:nvPr/>
        </p:nvSpPr>
        <p:spPr>
          <a:xfrm>
            <a:off x="566928" y="4823460"/>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4823460"/>
            <a:ext cx="50292" cy="3794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6384" y="4905756"/>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02:10</a:t>
            </a:r>
          </a:p>
        </p:txBody>
      </p:sp>
      <p:sp>
        <p:nvSpPr>
          <p:cNvPr id="54" name="TextBox 53"/>
          <p:cNvSpPr txBox="1"/>
          <p:nvPr/>
        </p:nvSpPr>
        <p:spPr>
          <a:xfrm>
            <a:off x="1938528" y="4905756"/>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Using Assessment Data: Feedback &amp; Records</a:t>
            </a:r>
          </a:p>
        </p:txBody>
      </p:sp>
      <p:sp>
        <p:nvSpPr>
          <p:cNvPr id="55" name="TextBox 54"/>
          <p:cNvSpPr txBox="1"/>
          <p:nvPr/>
        </p:nvSpPr>
        <p:spPr>
          <a:xfrm>
            <a:off x="10207447" y="4905756"/>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0B6E4F"/>
                </a:solidFill>
                <a:latin typeface="Trebuchet MS"/>
              </a:rPr>
              <a:t>10 min</a:t>
            </a:r>
          </a:p>
        </p:txBody>
      </p:sp>
      <p:sp>
        <p:nvSpPr>
          <p:cNvPr id="56" name="Rectangle 55"/>
          <p:cNvSpPr/>
          <p:nvPr/>
        </p:nvSpPr>
        <p:spPr>
          <a:xfrm>
            <a:off x="566928" y="5202936"/>
            <a:ext cx="11057839" cy="3794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66928" y="5202936"/>
            <a:ext cx="50292" cy="3794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86384" y="5285232"/>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02:20</a:t>
            </a:r>
          </a:p>
        </p:txBody>
      </p:sp>
      <p:sp>
        <p:nvSpPr>
          <p:cNvPr id="59" name="TextBox 58"/>
          <p:cNvSpPr txBox="1"/>
          <p:nvPr/>
        </p:nvSpPr>
        <p:spPr>
          <a:xfrm>
            <a:off x="1938528" y="5285232"/>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Common Challenges &amp; Practical Solutions</a:t>
            </a:r>
          </a:p>
        </p:txBody>
      </p:sp>
      <p:sp>
        <p:nvSpPr>
          <p:cNvPr id="60" name="TextBox 59"/>
          <p:cNvSpPr txBox="1"/>
          <p:nvPr/>
        </p:nvSpPr>
        <p:spPr>
          <a:xfrm>
            <a:off x="10207447" y="5285232"/>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0B6E4F"/>
                </a:solidFill>
                <a:latin typeface="Trebuchet MS"/>
              </a:rPr>
              <a:t>5 min</a:t>
            </a:r>
          </a:p>
        </p:txBody>
      </p:sp>
      <p:sp>
        <p:nvSpPr>
          <p:cNvPr id="61" name="Rectangle 60"/>
          <p:cNvSpPr/>
          <p:nvPr/>
        </p:nvSpPr>
        <p:spPr>
          <a:xfrm>
            <a:off x="566928" y="5582412"/>
            <a:ext cx="11057839" cy="37947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5582412"/>
            <a:ext cx="50292" cy="3794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6384" y="5664708"/>
            <a:ext cx="1097280" cy="251459"/>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5A6B72"/>
                </a:solidFill>
                <a:latin typeface="Trebuchet MS"/>
              </a:rPr>
              <a:t>02:25</a:t>
            </a:r>
          </a:p>
        </p:txBody>
      </p:sp>
      <p:sp>
        <p:nvSpPr>
          <p:cNvPr id="64" name="TextBox 63"/>
          <p:cNvSpPr txBox="1"/>
          <p:nvPr/>
        </p:nvSpPr>
        <p:spPr>
          <a:xfrm>
            <a:off x="1938528" y="5664708"/>
            <a:ext cx="7498079" cy="251459"/>
          </a:xfrm>
          <a:prstGeom prst="rect">
            <a:avLst/>
          </a:prstGeom>
          <a:noFill/>
        </p:spPr>
        <p:txBody>
          <a:bodyPr wrap="square" lIns="0" rIns="0" tIns="0" bIns="0">
            <a:spAutoFit/>
          </a:bodyPr>
          <a:lstStyle/>
          <a:p>
            <a:pPr algn="l">
              <a:lnSpc>
                <a:spcPct val="100000"/>
              </a:lnSpc>
              <a:spcBef>
                <a:spcPts val="0"/>
              </a:spcBef>
              <a:spcAft>
                <a:spcPts val="0"/>
              </a:spcAft>
            </a:pPr>
            <a:r>
              <a:rPr sz="1250" b="0" i="0">
                <a:solidFill>
                  <a:srgbClr val="14262E"/>
                </a:solidFill>
                <a:latin typeface="Calibri"/>
              </a:rPr>
              <a:t>Action Planning &amp; Closing</a:t>
            </a:r>
          </a:p>
        </p:txBody>
      </p:sp>
      <p:sp>
        <p:nvSpPr>
          <p:cNvPr id="65" name="TextBox 64"/>
          <p:cNvSpPr txBox="1"/>
          <p:nvPr/>
        </p:nvSpPr>
        <p:spPr>
          <a:xfrm>
            <a:off x="10207447" y="5664708"/>
            <a:ext cx="1417320" cy="251459"/>
          </a:xfrm>
          <a:prstGeom prst="rect">
            <a:avLst/>
          </a:prstGeom>
          <a:noFill/>
        </p:spPr>
        <p:txBody>
          <a:bodyPr wrap="square" lIns="0" rIns="0" tIns="0" bIns="0">
            <a:spAutoFit/>
          </a:bodyPr>
          <a:lstStyle/>
          <a:p>
            <a:pPr algn="r">
              <a:lnSpc>
                <a:spcPct val="100000"/>
              </a:lnSpc>
              <a:spcBef>
                <a:spcPts val="0"/>
              </a:spcBef>
              <a:spcAft>
                <a:spcPts val="0"/>
              </a:spcAft>
            </a:pPr>
            <a:r>
              <a:rPr sz="1150" b="1" i="0">
                <a:solidFill>
                  <a:srgbClr val="0B6E4F"/>
                </a:solidFill>
                <a:latin typeface="Trebuchet MS"/>
              </a:rPr>
              <a:t>5 min</a:t>
            </a:r>
          </a:p>
        </p:txBody>
      </p:sp>
      <p:sp>
        <p:nvSpPr>
          <p:cNvPr id="66" name="TextBox 65"/>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By the End of This Workshop, You Will Be Able To…</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Four things. That is the whole promise.</a:t>
            </a:r>
          </a:p>
        </p:txBody>
      </p:sp>
      <p:sp>
        <p:nvSpPr>
          <p:cNvPr id="6" name="Rounded Rectangle 5"/>
          <p:cNvSpPr/>
          <p:nvPr/>
        </p:nvSpPr>
        <p:spPr>
          <a:xfrm>
            <a:off x="566928" y="1536192"/>
            <a:ext cx="2697480" cy="3246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36192"/>
            <a:ext cx="2697480" cy="6858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847088"/>
            <a:ext cx="548640" cy="54864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2100" b="1" i="0">
                <a:solidFill>
                  <a:srgbClr val="FFFFFF"/>
                </a:solidFill>
                <a:latin typeface="Trebuchet MS"/>
              </a:rPr>
              <a:t>1</a:t>
            </a:r>
          </a:p>
        </p:txBody>
      </p:sp>
      <p:sp>
        <p:nvSpPr>
          <p:cNvPr id="9" name="TextBox 8"/>
          <p:cNvSpPr txBox="1"/>
          <p:nvPr/>
        </p:nvSpPr>
        <p:spPr>
          <a:xfrm>
            <a:off x="841247" y="2542032"/>
            <a:ext cx="2148840" cy="2057400"/>
          </a:xfrm>
          <a:prstGeom prst="rect">
            <a:avLst/>
          </a:prstGeom>
          <a:noFill/>
        </p:spPr>
        <p:txBody>
          <a:bodyPr wrap="square" lIns="0" rIns="0" tIns="0" bIns="0">
            <a:spAutoFit/>
          </a:bodyPr>
          <a:lstStyle/>
          <a:p>
            <a:pPr algn="l">
              <a:lnSpc>
                <a:spcPct val="102000"/>
              </a:lnSpc>
              <a:spcBef>
                <a:spcPts val="0"/>
              </a:spcBef>
              <a:spcAft>
                <a:spcPts val="700"/>
              </a:spcAft>
            </a:pPr>
            <a:r>
              <a:rPr sz="1450" b="1" i="0">
                <a:solidFill>
                  <a:srgbClr val="0B6E4F"/>
                </a:solidFill>
                <a:latin typeface="Trebuchet MS"/>
              </a:rPr>
              <a:t>Distinguish &amp; Apply</a:t>
            </a:r>
          </a:p>
          <a:p>
            <a:pPr algn="l">
              <a:lnSpc>
                <a:spcPct val="114000"/>
              </a:lnSpc>
              <a:spcBef>
                <a:spcPts val="0"/>
              </a:spcBef>
              <a:spcAft>
                <a:spcPts val="0"/>
              </a:spcAft>
            </a:pPr>
            <a:r>
              <a:rPr sz="1150" b="0" i="0">
                <a:solidFill>
                  <a:srgbClr val="14262E"/>
                </a:solidFill>
                <a:latin typeface="Calibri"/>
              </a:rPr>
              <a:t>Distinguish formative and summative assessment, and use each purposefully at the right point in a lesson or term.</a:t>
            </a:r>
          </a:p>
        </p:txBody>
      </p:sp>
      <p:sp>
        <p:nvSpPr>
          <p:cNvPr id="10" name="Rounded Rectangle 9"/>
          <p:cNvSpPr/>
          <p:nvPr/>
        </p:nvSpPr>
        <p:spPr>
          <a:xfrm>
            <a:off x="3465576" y="1536192"/>
            <a:ext cx="2697480" cy="3246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65576" y="1536192"/>
            <a:ext cx="2697480" cy="685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39896" y="1847088"/>
            <a:ext cx="548640" cy="548640"/>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2100" b="1" i="0">
                <a:solidFill>
                  <a:srgbClr val="FFFFFF"/>
                </a:solidFill>
                <a:latin typeface="Trebuchet MS"/>
              </a:rPr>
              <a:t>2</a:t>
            </a:r>
          </a:p>
        </p:txBody>
      </p:sp>
      <p:sp>
        <p:nvSpPr>
          <p:cNvPr id="13" name="TextBox 12"/>
          <p:cNvSpPr txBox="1"/>
          <p:nvPr/>
        </p:nvSpPr>
        <p:spPr>
          <a:xfrm>
            <a:off x="3739896" y="2542032"/>
            <a:ext cx="2148840" cy="2057400"/>
          </a:xfrm>
          <a:prstGeom prst="rect">
            <a:avLst/>
          </a:prstGeom>
          <a:noFill/>
        </p:spPr>
        <p:txBody>
          <a:bodyPr wrap="square" lIns="0" rIns="0" tIns="0" bIns="0">
            <a:spAutoFit/>
          </a:bodyPr>
          <a:lstStyle/>
          <a:p>
            <a:pPr algn="l">
              <a:lnSpc>
                <a:spcPct val="102000"/>
              </a:lnSpc>
              <a:spcBef>
                <a:spcPts val="0"/>
              </a:spcBef>
              <a:spcAft>
                <a:spcPts val="700"/>
              </a:spcAft>
            </a:pPr>
            <a:r>
              <a:rPr sz="1450" b="1" i="0">
                <a:solidFill>
                  <a:srgbClr val="F4B400"/>
                </a:solidFill>
                <a:latin typeface="Trebuchet MS"/>
              </a:rPr>
              <a:t>Navigate Policy</a:t>
            </a:r>
          </a:p>
          <a:p>
            <a:pPr algn="l">
              <a:lnSpc>
                <a:spcPct val="114000"/>
              </a:lnSpc>
              <a:spcBef>
                <a:spcPts val="0"/>
              </a:spcBef>
              <a:spcAft>
                <a:spcPts val="0"/>
              </a:spcAft>
            </a:pPr>
            <a:r>
              <a:rPr sz="1150" b="0" i="0">
                <a:solidFill>
                  <a:srgbClr val="14262E"/>
                </a:solidFill>
                <a:latin typeface="Calibri"/>
              </a:rPr>
              <a:t>Explain Ghana's continuous assessment requirements, and locate your grade level within the Standards-Based Curriculum.</a:t>
            </a:r>
          </a:p>
        </p:txBody>
      </p:sp>
      <p:sp>
        <p:nvSpPr>
          <p:cNvPr id="14" name="Rounded Rectangle 13"/>
          <p:cNvSpPr/>
          <p:nvPr/>
        </p:nvSpPr>
        <p:spPr>
          <a:xfrm>
            <a:off x="6364224" y="1536192"/>
            <a:ext cx="2697480" cy="3246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64224" y="1536192"/>
            <a:ext cx="2697480" cy="6858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38544" y="1847088"/>
            <a:ext cx="548640" cy="54864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2100" b="1" i="0">
                <a:solidFill>
                  <a:srgbClr val="FFFFFF"/>
                </a:solidFill>
                <a:latin typeface="Trebuchet MS"/>
              </a:rPr>
              <a:t>3</a:t>
            </a:r>
          </a:p>
        </p:txBody>
      </p:sp>
      <p:sp>
        <p:nvSpPr>
          <p:cNvPr id="17" name="TextBox 16"/>
          <p:cNvSpPr txBox="1"/>
          <p:nvPr/>
        </p:nvSpPr>
        <p:spPr>
          <a:xfrm>
            <a:off x="6638544" y="2542032"/>
            <a:ext cx="2148840" cy="2057400"/>
          </a:xfrm>
          <a:prstGeom prst="rect">
            <a:avLst/>
          </a:prstGeom>
          <a:noFill/>
        </p:spPr>
        <p:txBody>
          <a:bodyPr wrap="square" lIns="0" rIns="0" tIns="0" bIns="0">
            <a:spAutoFit/>
          </a:bodyPr>
          <a:lstStyle/>
          <a:p>
            <a:pPr algn="l">
              <a:lnSpc>
                <a:spcPct val="102000"/>
              </a:lnSpc>
              <a:spcBef>
                <a:spcPts val="0"/>
              </a:spcBef>
              <a:spcAft>
                <a:spcPts val="700"/>
              </a:spcAft>
            </a:pPr>
            <a:r>
              <a:rPr sz="1450" b="1" i="0">
                <a:solidFill>
                  <a:srgbClr val="C1440E"/>
                </a:solidFill>
                <a:latin typeface="Trebuchet MS"/>
              </a:rPr>
              <a:t>Design Fair Tools</a:t>
            </a:r>
          </a:p>
          <a:p>
            <a:pPr algn="l">
              <a:lnSpc>
                <a:spcPct val="114000"/>
              </a:lnSpc>
              <a:spcBef>
                <a:spcPts val="0"/>
              </a:spcBef>
              <a:spcAft>
                <a:spcPts val="0"/>
              </a:spcAft>
            </a:pPr>
            <a:r>
              <a:rPr sz="1150" b="0" i="0">
                <a:solidFill>
                  <a:srgbClr val="14262E"/>
                </a:solidFill>
                <a:latin typeface="Calibri"/>
              </a:rPr>
              <a:t>Create valid, fair and inclusive assessment tasks and simple rubrics suited to your learners' level.</a:t>
            </a:r>
          </a:p>
        </p:txBody>
      </p:sp>
      <p:sp>
        <p:nvSpPr>
          <p:cNvPr id="18" name="Rounded Rectangle 17"/>
          <p:cNvSpPr/>
          <p:nvPr/>
        </p:nvSpPr>
        <p:spPr>
          <a:xfrm>
            <a:off x="9262872" y="1536192"/>
            <a:ext cx="2697480" cy="3246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62872" y="1536192"/>
            <a:ext cx="2697480" cy="6858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37192" y="1847088"/>
            <a:ext cx="548640" cy="548640"/>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2100" b="1" i="0">
                <a:solidFill>
                  <a:srgbClr val="FFFFFF"/>
                </a:solidFill>
                <a:latin typeface="Trebuchet MS"/>
              </a:rPr>
              <a:t>4</a:t>
            </a:r>
          </a:p>
        </p:txBody>
      </p:sp>
      <p:sp>
        <p:nvSpPr>
          <p:cNvPr id="21" name="TextBox 20"/>
          <p:cNvSpPr txBox="1"/>
          <p:nvPr/>
        </p:nvSpPr>
        <p:spPr>
          <a:xfrm>
            <a:off x="9537192" y="2542032"/>
            <a:ext cx="2148840" cy="2057400"/>
          </a:xfrm>
          <a:prstGeom prst="rect">
            <a:avLst/>
          </a:prstGeom>
          <a:noFill/>
        </p:spPr>
        <p:txBody>
          <a:bodyPr wrap="square" lIns="0" rIns="0" tIns="0" bIns="0">
            <a:spAutoFit/>
          </a:bodyPr>
          <a:lstStyle/>
          <a:p>
            <a:pPr algn="l">
              <a:lnSpc>
                <a:spcPct val="102000"/>
              </a:lnSpc>
              <a:spcBef>
                <a:spcPts val="0"/>
              </a:spcBef>
              <a:spcAft>
                <a:spcPts val="700"/>
              </a:spcAft>
            </a:pPr>
            <a:r>
              <a:rPr sz="1450" b="1" i="0">
                <a:solidFill>
                  <a:srgbClr val="0B6E4F"/>
                </a:solidFill>
                <a:latin typeface="Trebuchet MS"/>
              </a:rPr>
              <a:t>Use Data for Learning</a:t>
            </a:r>
          </a:p>
          <a:p>
            <a:pPr algn="l">
              <a:lnSpc>
                <a:spcPct val="114000"/>
              </a:lnSpc>
              <a:spcBef>
                <a:spcPts val="0"/>
              </a:spcBef>
              <a:spcAft>
                <a:spcPts val="0"/>
              </a:spcAft>
            </a:pPr>
            <a:r>
              <a:rPr sz="1150" b="0" i="0">
                <a:solidFill>
                  <a:srgbClr val="14262E"/>
                </a:solidFill>
                <a:latin typeface="Calibri"/>
              </a:rPr>
              <a:t>Turn assessment results into targeted feedback, better teaching decisions, and clear records.</a:t>
            </a:r>
          </a:p>
        </p:txBody>
      </p:sp>
      <p:sp>
        <p:nvSpPr>
          <p:cNvPr id="22" name="TextBox 21"/>
          <p:cNvSpPr txBox="1"/>
          <p:nvPr/>
        </p:nvSpPr>
        <p:spPr>
          <a:xfrm>
            <a:off x="566928" y="5010912"/>
            <a:ext cx="11057839" cy="548640"/>
          </a:xfrm>
          <a:prstGeom prst="rect">
            <a:avLst/>
          </a:prstGeom>
          <a:noFill/>
        </p:spPr>
        <p:txBody>
          <a:bodyPr wrap="square" lIns="0" rIns="0" tIns="0" bIns="0">
            <a:spAutoFit/>
          </a:bodyPr>
          <a:lstStyle/>
          <a:p>
            <a:pPr algn="l">
              <a:lnSpc>
                <a:spcPct val="115000"/>
              </a:lnSpc>
              <a:spcBef>
                <a:spcPts val="0"/>
              </a:spcBef>
              <a:spcAft>
                <a:spcPts val="600"/>
              </a:spcAft>
            </a:pPr>
            <a:r>
              <a:rPr sz="1250" b="1" i="0">
                <a:solidFill>
                  <a:srgbClr val="0B6E4F"/>
                </a:solidFill>
                <a:latin typeface="Calibri"/>
              </a:rPr>
              <a:t>Note the verb in objective 3:  </a:t>
            </a:r>
            <a:r>
              <a:rPr sz="1250" b="0" i="0">
                <a:solidFill>
                  <a:srgbClr val="14262E"/>
                </a:solidFill>
                <a:latin typeface="Calibri"/>
              </a:rPr>
              <a:t>“design”, not “discuss”. By 1:35 this afternoon you will have built something — not just talked about it.</a:t>
            </a:r>
          </a:p>
        </p:txBody>
      </p:sp>
      <p:sp>
        <p:nvSpPr>
          <p:cNvPr id="23" name="TextBox 22"/>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Icebreaker — One Word for Assessment</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Five minutes · honesty welcome, formality not required</a:t>
            </a:r>
          </a:p>
        </p:txBody>
      </p:sp>
      <p:pic>
        <p:nvPicPr>
          <p:cNvPr id="6" name="Picture 5" descr="18_icebreaker.jpg"/>
          <p:cNvPicPr>
            <a:picLocks noChangeAspect="1"/>
          </p:cNvPicPr>
          <p:nvPr/>
        </p:nvPicPr>
        <p:blipFill>
          <a:blip r:embed="rId2"/>
          <a:srcRect l="16667" r="16667"/>
          <a:stretch>
            <a:fillRect/>
          </a:stretch>
        </p:blipFill>
        <p:spPr>
          <a:xfrm>
            <a:off x="566928" y="1417320"/>
            <a:ext cx="4663440" cy="4663440"/>
          </a:xfrm>
          <a:prstGeom prst="rect">
            <a:avLst/>
          </a:prstGeom>
        </p:spPr>
      </p:pic>
      <p:sp>
        <p:nvSpPr>
          <p:cNvPr id="7" name="Rectangle 6"/>
          <p:cNvSpPr/>
          <p:nvPr/>
        </p:nvSpPr>
        <p:spPr>
          <a:xfrm>
            <a:off x="566928" y="1417320"/>
            <a:ext cx="4663440" cy="5943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14416" y="1408176"/>
            <a:ext cx="1417320" cy="384048"/>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074A35"/>
                </a:solidFill>
                <a:latin typeface="Trebuchet MS"/>
              </a:rPr>
              <a:t>5 MINUTES</a:t>
            </a:r>
          </a:p>
        </p:txBody>
      </p:sp>
      <p:sp>
        <p:nvSpPr>
          <p:cNvPr id="9" name="Rounded Rectangle 8"/>
          <p:cNvSpPr/>
          <p:nvPr/>
        </p:nvSpPr>
        <p:spPr>
          <a:xfrm>
            <a:off x="5614416" y="1938528"/>
            <a:ext cx="6010351"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14416" y="1938528"/>
            <a:ext cx="50292" cy="10972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33872" y="2066544"/>
            <a:ext cx="5571439" cy="841247"/>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Think</a:t>
            </a:r>
          </a:p>
          <a:p>
            <a:pPr algn="l">
              <a:lnSpc>
                <a:spcPct val="110000"/>
              </a:lnSpc>
              <a:spcBef>
                <a:spcPts val="0"/>
              </a:spcBef>
              <a:spcAft>
                <a:spcPts val="0"/>
              </a:spcAft>
            </a:pPr>
            <a:r>
              <a:rPr sz="1150" b="0" i="0">
                <a:solidFill>
                  <a:srgbClr val="14262E"/>
                </a:solidFill>
                <a:latin typeface="Calibri"/>
              </a:rPr>
              <a:t>When you hear the word “assessment”, what is the FIRST word that comes into your mind? Not the textbook word. Your honest word.</a:t>
            </a:r>
          </a:p>
        </p:txBody>
      </p:sp>
      <p:sp>
        <p:nvSpPr>
          <p:cNvPr id="12" name="Rounded Rectangle 11"/>
          <p:cNvSpPr/>
          <p:nvPr/>
        </p:nvSpPr>
        <p:spPr>
          <a:xfrm>
            <a:off x="5614416" y="3127248"/>
            <a:ext cx="6010351"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14416" y="3127248"/>
            <a:ext cx="50292" cy="10972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3255264"/>
            <a:ext cx="5571439" cy="841247"/>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Share</a:t>
            </a:r>
          </a:p>
          <a:p>
            <a:pPr algn="l">
              <a:lnSpc>
                <a:spcPct val="110000"/>
              </a:lnSpc>
              <a:spcBef>
                <a:spcPts val="0"/>
              </a:spcBef>
              <a:spcAft>
                <a:spcPts val="0"/>
              </a:spcAft>
            </a:pPr>
            <a:r>
              <a:rPr sz="1150" b="0" i="0">
                <a:solidFill>
                  <a:srgbClr val="14262E"/>
                </a:solidFill>
                <a:latin typeface="Calibri"/>
              </a:rPr>
              <a:t>Turn to the person beside you. One word each. Thirty seconds. No explaining, no defending — just the word.</a:t>
            </a:r>
          </a:p>
        </p:txBody>
      </p:sp>
      <p:sp>
        <p:nvSpPr>
          <p:cNvPr id="15" name="Rounded Rectangle 14"/>
          <p:cNvSpPr/>
          <p:nvPr/>
        </p:nvSpPr>
        <p:spPr>
          <a:xfrm>
            <a:off x="5614416" y="4315968"/>
            <a:ext cx="6010351" cy="1097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14416" y="4315968"/>
            <a:ext cx="50292" cy="109728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4443984"/>
            <a:ext cx="5571439" cy="841247"/>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Collect</a:t>
            </a:r>
          </a:p>
          <a:p>
            <a:pPr algn="l">
              <a:lnSpc>
                <a:spcPct val="110000"/>
              </a:lnSpc>
              <a:spcBef>
                <a:spcPts val="0"/>
              </a:spcBef>
              <a:spcAft>
                <a:spcPts val="0"/>
              </a:spcAft>
            </a:pPr>
            <a:r>
              <a:rPr sz="1150" b="0" i="0">
                <a:solidFill>
                  <a:srgbClr val="14262E"/>
                </a:solidFill>
                <a:latin typeface="Calibri"/>
              </a:rPr>
              <a:t>We will hear a few out loud. Every word is welcome — including the uncomfortable ones.</a:t>
            </a:r>
          </a:p>
        </p:txBody>
      </p:sp>
      <p:sp>
        <p:nvSpPr>
          <p:cNvPr id="18" name="Rounded Rectangle 17"/>
          <p:cNvSpPr/>
          <p:nvPr/>
        </p:nvSpPr>
        <p:spPr>
          <a:xfrm>
            <a:off x="5614416" y="5413248"/>
            <a:ext cx="6010351" cy="1572768"/>
          </a:xfrm>
          <a:prstGeom prst="roundRect">
            <a:avLst>
              <a:gd name="adj" fmla="val 6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14416" y="5413248"/>
            <a:ext cx="50292" cy="157276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33872" y="5559552"/>
            <a:ext cx="5571439" cy="1316736"/>
          </a:xfrm>
          <a:prstGeom prst="rect">
            <a:avLst/>
          </a:prstGeom>
          <a:noFill/>
        </p:spPr>
        <p:txBody>
          <a:bodyPr wrap="square" lIns="0" rIns="0" tIns="0" bIns="0">
            <a:spAutoFit/>
          </a:bodyPr>
          <a:lstStyle/>
          <a:p>
            <a:pPr algn="l">
              <a:lnSpc>
                <a:spcPct val="100000"/>
              </a:lnSpc>
              <a:spcBef>
                <a:spcPts val="0"/>
              </a:spcBef>
              <a:spcAft>
                <a:spcPts val="500"/>
              </a:spcAft>
            </a:pPr>
            <a:r>
              <a:rPr sz="1050" b="1" i="0">
                <a:solidFill>
                  <a:srgbClr val="0B6E4F"/>
                </a:solidFill>
                <a:latin typeface="Trebuchet MS"/>
              </a:rPr>
              <a:t>WHY WE START HERE</a:t>
            </a:r>
          </a:p>
          <a:p>
            <a:pPr algn="l">
              <a:lnSpc>
                <a:spcPct val="112000"/>
              </a:lnSpc>
              <a:spcBef>
                <a:spcPts val="0"/>
              </a:spcBef>
              <a:spcAft>
                <a:spcPts val="0"/>
              </a:spcAft>
            </a:pPr>
            <a:r>
              <a:rPr sz="1100" b="0" i="0">
                <a:solidFill>
                  <a:srgbClr val="14262E"/>
                </a:solidFill>
                <a:latin typeface="Calibri"/>
              </a:rPr>
              <a:t>You will hear words like stress, marks, fear, pressure, paperwork, ranking. You may also hear growth, feedback, help, understanding. Both sets are honest — and the difference between them is the whole point of today.</a:t>
            </a:r>
          </a:p>
        </p:txBody>
      </p:sp>
      <p:sp>
        <p:nvSpPr>
          <p:cNvPr id="21" name="TextBox 20"/>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feedback_loop.jpg"/>
          <p:cNvPicPr>
            <a:picLocks noChangeAspect="1"/>
          </p:cNvPicPr>
          <p:nvPr/>
        </p:nvPicPr>
        <p:blipFill>
          <a:blip r:embed="rId2"/>
          <a:srcRect l="5557" r="5557"/>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SESSION 1</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20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Understanding Assessment</a:t>
            </a:r>
          </a:p>
          <a:p>
            <a:pPr algn="l">
              <a:lnSpc>
                <a:spcPct val="115000"/>
              </a:lnSpc>
              <a:spcBef>
                <a:spcPts val="0"/>
              </a:spcBef>
              <a:spcAft>
                <a:spcPts val="0"/>
              </a:spcAft>
            </a:pPr>
            <a:r>
              <a:rPr sz="1300" b="0" i="0">
                <a:solidFill>
                  <a:srgbClr val="C6DBD3"/>
                </a:solidFill>
                <a:latin typeface="Calibri"/>
              </a:rPr>
              <a:t>Purpose &amp; types — what assessment is for, and the family of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Assessment — The Plain Meaning</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single most important definition of the day</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Finding out what a learner knows and can do, and how far they have travelled towards the goal you set. It is gathering information about a learner in order to make a decision about their learning.</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It is not only the end-of-term paper. It is the question you asked in the middle of the lesson and the blank faces that answered it. It is the exercise book you marked at 9pm. It is watching a group argue over a titration and realising they have misunderstood the indicator. Every one of those is assessment — and every one of them changed what you did next.</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0" i="0">
                <a:solidFill>
                  <a:srgbClr val="14262E"/>
                </a:solidFill>
                <a:latin typeface="Calibri"/>
              </a:rPr>
              <a:t>The official wording says the same thing:  </a:t>
            </a:r>
            <a:r>
              <a:rPr sz="1150" b="0" i="1">
                <a:solidFill>
                  <a:srgbClr val="5A6B72"/>
                </a:solidFill>
                <a:latin typeface="Calibri"/>
              </a:rPr>
              <a:t>“the process of collecting information on the learner to help in deciding the degree to which the learner has achieved the expected learning outcomes/standards.”</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Why We Assess — The Purposes</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Assessment is not one thing doing one job</a:t>
            </a:r>
          </a:p>
        </p:txBody>
      </p:sp>
      <p:pic>
        <p:nvPicPr>
          <p:cNvPr id="6" name="Picture 5" descr="04_pantry_market.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Checking what learners already bring, before you build on it.</a:t>
            </a:r>
          </a:p>
        </p:txBody>
      </p:sp>
      <p:sp>
        <p:nvSpPr>
          <p:cNvPr id="9" name="Rounded Rectangle 8"/>
          <p:cNvSpPr/>
          <p:nvPr/>
        </p:nvSpPr>
        <p:spPr>
          <a:xfrm>
            <a:off x="566928" y="1426464"/>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979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To improve learning</a:t>
            </a:r>
          </a:p>
          <a:p>
            <a:pPr algn="l">
              <a:lnSpc>
                <a:spcPct val="110000"/>
              </a:lnSpc>
              <a:spcBef>
                <a:spcPts val="0"/>
              </a:spcBef>
              <a:spcAft>
                <a:spcPts val="0"/>
              </a:spcAft>
            </a:pPr>
            <a:r>
              <a:rPr sz="1150" b="0" i="0">
                <a:solidFill>
                  <a:srgbClr val="14262E"/>
                </a:solidFill>
                <a:latin typeface="Calibri"/>
              </a:rPr>
              <a:t>The main purpose. Information gathered DURING learning, used to adjust teaching while there is still time to help.</a:t>
            </a:r>
          </a:p>
        </p:txBody>
      </p:sp>
      <p:sp>
        <p:nvSpPr>
          <p:cNvPr id="12" name="Rounded Rectangle 11"/>
          <p:cNvSpPr/>
          <p:nvPr/>
        </p:nvSpPr>
        <p:spPr>
          <a:xfrm>
            <a:off x="566928" y="2434132"/>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434132"/>
            <a:ext cx="45720" cy="8979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71292"/>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To diagnose</a:t>
            </a:r>
          </a:p>
          <a:p>
            <a:pPr algn="l">
              <a:lnSpc>
                <a:spcPct val="110000"/>
              </a:lnSpc>
              <a:spcBef>
                <a:spcPts val="0"/>
              </a:spcBef>
              <a:spcAft>
                <a:spcPts val="0"/>
              </a:spcAft>
            </a:pPr>
            <a:r>
              <a:rPr sz="1150" b="0" i="0">
                <a:solidFill>
                  <a:srgbClr val="14262E"/>
                </a:solidFill>
                <a:latin typeface="Calibri"/>
              </a:rPr>
              <a:t>Before teaching, to find out what learners already bring and where the gaps are.</a:t>
            </a:r>
          </a:p>
        </p:txBody>
      </p:sp>
      <p:sp>
        <p:nvSpPr>
          <p:cNvPr id="15" name="Rounded Rectangle 14"/>
          <p:cNvSpPr/>
          <p:nvPr/>
        </p:nvSpPr>
        <p:spPr>
          <a:xfrm>
            <a:off x="566928" y="3441801"/>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41801"/>
            <a:ext cx="45720" cy="8979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578961"/>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To inform teaching</a:t>
            </a:r>
          </a:p>
          <a:p>
            <a:pPr algn="l">
              <a:lnSpc>
                <a:spcPct val="110000"/>
              </a:lnSpc>
              <a:spcBef>
                <a:spcPts val="0"/>
              </a:spcBef>
              <a:spcAft>
                <a:spcPts val="0"/>
              </a:spcAft>
            </a:pPr>
            <a:r>
              <a:rPr sz="1150" b="0" i="0">
                <a:solidFill>
                  <a:srgbClr val="14262E"/>
                </a:solidFill>
                <a:latin typeface="Calibri"/>
              </a:rPr>
              <a:t>Your planning for next week should be shaped by what last week's assessment revealed.</a:t>
            </a:r>
          </a:p>
        </p:txBody>
      </p:sp>
      <p:sp>
        <p:nvSpPr>
          <p:cNvPr id="18" name="Rounded Rectangle 17"/>
          <p:cNvSpPr/>
          <p:nvPr/>
        </p:nvSpPr>
        <p:spPr>
          <a:xfrm>
            <a:off x="566928" y="4449470"/>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49470"/>
            <a:ext cx="45720" cy="8979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586630"/>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To certify and select</a:t>
            </a:r>
          </a:p>
          <a:p>
            <a:pPr algn="l">
              <a:lnSpc>
                <a:spcPct val="110000"/>
              </a:lnSpc>
              <a:spcBef>
                <a:spcPts val="0"/>
              </a:spcBef>
              <a:spcAft>
                <a:spcPts val="0"/>
              </a:spcAft>
            </a:pPr>
            <a:r>
              <a:rPr sz="1150" b="0" i="0">
                <a:solidFill>
                  <a:srgbClr val="14262E"/>
                </a:solidFill>
                <a:latin typeface="Calibri"/>
              </a:rPr>
              <a:t>At the end, to summarise achievement for transcripts, placement and employers. A legitimate purpose — just not the only one.</a:t>
            </a:r>
          </a:p>
        </p:txBody>
      </p:sp>
      <p:sp>
        <p:nvSpPr>
          <p:cNvPr id="21" name="Rounded Rectangle 20"/>
          <p:cNvSpPr/>
          <p:nvPr/>
        </p:nvSpPr>
        <p:spPr>
          <a:xfrm>
            <a:off x="566928" y="5457139"/>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457139"/>
            <a:ext cx="45720" cy="897940"/>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594299"/>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To motivate and involve</a:t>
            </a:r>
          </a:p>
          <a:p>
            <a:pPr algn="l">
              <a:lnSpc>
                <a:spcPct val="110000"/>
              </a:lnSpc>
              <a:spcBef>
                <a:spcPts val="0"/>
              </a:spcBef>
              <a:spcAft>
                <a:spcPts val="0"/>
              </a:spcAft>
            </a:pPr>
            <a:r>
              <a:rPr sz="1150" b="0" i="0">
                <a:solidFill>
                  <a:srgbClr val="14262E"/>
                </a:solidFill>
                <a:latin typeface="Calibri"/>
              </a:rPr>
              <a:t>Assessment that learners understand and act on builds ownership. Assessment that only judges breeds fear — as the icebreaker showed.</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soup_tasting.jpg"/>
          <p:cNvPicPr>
            <a:picLocks noChangeAspect="1"/>
          </p:cNvPicPr>
          <p:nvPr/>
        </p:nvPicPr>
        <p:blipFill>
          <a:blip r:embed="rId2"/>
          <a:srcRect t="7811" b="7811"/>
          <a:stretch>
            <a:fillRect/>
          </a:stretch>
        </p:blipFill>
        <p:spPr>
          <a:xfrm>
            <a:off x="0" y="0"/>
            <a:ext cx="12191695" cy="6858000"/>
          </a:xfrm>
          <a:prstGeom prst="rect">
            <a:avLst/>
          </a:prstGeom>
        </p:spPr>
      </p:pic>
      <p:sp>
        <p:nvSpPr>
          <p:cNvPr id="3" name="Rectangle 2"/>
          <p:cNvSpPr/>
          <p:nvPr/>
        </p:nvSpPr>
        <p:spPr>
          <a:xfrm>
            <a:off x="0" y="4526280"/>
            <a:ext cx="12191695" cy="2331720"/>
          </a:xfrm>
          <a:prstGeom prst="rect">
            <a:avLst/>
          </a:prstGeom>
          <a:solidFill>
            <a:srgbClr val="074A35">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1887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754880"/>
            <a:ext cx="11057839" cy="1828800"/>
          </a:xfrm>
          <a:prstGeom prst="rect">
            <a:avLst/>
          </a:prstGeom>
          <a:noFill/>
        </p:spPr>
        <p:txBody>
          <a:bodyPr wrap="square" lIns="0" rIns="0" tIns="0" bIns="0">
            <a:spAutoFit/>
          </a:bodyPr>
          <a:lstStyle/>
          <a:p>
            <a:pPr algn="l">
              <a:lnSpc>
                <a:spcPct val="100000"/>
              </a:lnSpc>
              <a:spcBef>
                <a:spcPts val="0"/>
              </a:spcBef>
              <a:spcAft>
                <a:spcPts val="800"/>
              </a:spcAft>
            </a:pPr>
            <a:r>
              <a:rPr sz="1200" b="1" i="0">
                <a:solidFill>
                  <a:srgbClr val="F4B400"/>
                </a:solidFill>
                <a:latin typeface="Trebuchet MS"/>
              </a:rPr>
              <a:t>FORMATIVE ASSESSMENT  ·  ASSESSMENT FOR LEARNING + AS LEARNING</a:t>
            </a:r>
          </a:p>
          <a:p>
            <a:pPr algn="l">
              <a:lnSpc>
                <a:spcPct val="100000"/>
              </a:lnSpc>
              <a:spcBef>
                <a:spcPts val="0"/>
              </a:spcBef>
              <a:spcAft>
                <a:spcPts val="1000"/>
              </a:spcAft>
            </a:pPr>
            <a:r>
              <a:rPr sz="3200" b="1" i="0">
                <a:solidFill>
                  <a:srgbClr val="FFFFFF"/>
                </a:solidFill>
                <a:latin typeface="Trebuchet MS"/>
              </a:rPr>
              <a:t>Tasting the Soup</a:t>
            </a:r>
          </a:p>
          <a:p>
            <a:pPr algn="l">
              <a:lnSpc>
                <a:spcPct val="112000"/>
              </a:lnSpc>
              <a:spcBef>
                <a:spcPts val="0"/>
              </a:spcBef>
              <a:spcAft>
                <a:spcPts val="0"/>
              </a:spcAft>
            </a:pPr>
            <a:r>
              <a:rPr sz="1450" b="0" i="0">
                <a:solidFill>
                  <a:srgbClr val="D8E8E1"/>
                </a:solidFill>
                <a:latin typeface="Calibri"/>
              </a:rPr>
              <a:t>You taste while it is still on the fire. No salt? Add some. Too much pepper? Add water. You have not failed the soup — you have just improved it before anyone sits down to eat. That is assessment FOR learning, and it saves the meal.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meal_served.jpg"/>
          <p:cNvPicPr>
            <a:picLocks noChangeAspect="1"/>
          </p:cNvPicPr>
          <p:nvPr/>
        </p:nvPicPr>
        <p:blipFill>
          <a:blip r:embed="rId2"/>
          <a:srcRect t="7811" b="7811"/>
          <a:stretch>
            <a:fillRect/>
          </a:stretch>
        </p:blipFill>
        <p:spPr>
          <a:xfrm>
            <a:off x="0" y="0"/>
            <a:ext cx="12191695" cy="6858000"/>
          </a:xfrm>
          <a:prstGeom prst="rect">
            <a:avLst/>
          </a:prstGeom>
        </p:spPr>
      </p:pic>
      <p:sp>
        <p:nvSpPr>
          <p:cNvPr id="3" name="Rectangle 2"/>
          <p:cNvSpPr/>
          <p:nvPr/>
        </p:nvSpPr>
        <p:spPr>
          <a:xfrm>
            <a:off x="0" y="4526280"/>
            <a:ext cx="12191695" cy="2331720"/>
          </a:xfrm>
          <a:prstGeom prst="rect">
            <a:avLst/>
          </a:prstGeom>
          <a:solidFill>
            <a:srgbClr val="074A35">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1887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754880"/>
            <a:ext cx="11057839" cy="1828800"/>
          </a:xfrm>
          <a:prstGeom prst="rect">
            <a:avLst/>
          </a:prstGeom>
          <a:noFill/>
        </p:spPr>
        <p:txBody>
          <a:bodyPr wrap="square" lIns="0" rIns="0" tIns="0" bIns="0">
            <a:spAutoFit/>
          </a:bodyPr>
          <a:lstStyle/>
          <a:p>
            <a:pPr algn="l">
              <a:lnSpc>
                <a:spcPct val="100000"/>
              </a:lnSpc>
              <a:spcBef>
                <a:spcPts val="0"/>
              </a:spcBef>
              <a:spcAft>
                <a:spcPts val="800"/>
              </a:spcAft>
            </a:pPr>
            <a:r>
              <a:rPr sz="1200" b="1" i="0">
                <a:solidFill>
                  <a:srgbClr val="F4B400"/>
                </a:solidFill>
                <a:latin typeface="Trebuchet MS"/>
              </a:rPr>
              <a:t>SUMMATIVE ASSESSMENT  ·  ASSESSMENT OF LEARNING</a:t>
            </a:r>
          </a:p>
          <a:p>
            <a:pPr algn="l">
              <a:lnSpc>
                <a:spcPct val="100000"/>
              </a:lnSpc>
              <a:spcBef>
                <a:spcPts val="0"/>
              </a:spcBef>
              <a:spcAft>
                <a:spcPts val="1000"/>
              </a:spcAft>
            </a:pPr>
            <a:r>
              <a:rPr sz="3200" b="1" i="0">
                <a:solidFill>
                  <a:srgbClr val="FFFFFF"/>
                </a:solidFill>
                <a:latin typeface="Trebuchet MS"/>
              </a:rPr>
              <a:t>Serving the Meal</a:t>
            </a:r>
          </a:p>
          <a:p>
            <a:pPr algn="l">
              <a:lnSpc>
                <a:spcPct val="112000"/>
              </a:lnSpc>
              <a:spcBef>
                <a:spcPts val="0"/>
              </a:spcBef>
              <a:spcAft>
                <a:spcPts val="0"/>
              </a:spcAft>
            </a:pPr>
            <a:r>
              <a:rPr sz="1450" b="0" i="0">
                <a:solidFill>
                  <a:srgbClr val="D8E8E1"/>
                </a:solidFill>
                <a:latin typeface="Calibri"/>
              </a:rPr>
              <a:t>The cooking is finished. This is the meal as it is. No amount of tasting will help now. You serve it, the family eats, and the meal is judged as served. That is assessment OF learning — end of term, WASSCE, certification.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The Three Sisters: AfL, AaL and AoL</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These three acronyms cause the most confusion — here they are side by side</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AfL and AaL together make up what the manual calls FORMATIVE assessment. AoL is SUMMATIVE.</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9966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Acronym</a:t>
            </a:r>
          </a:p>
        </p:txBody>
      </p:sp>
      <p:sp>
        <p:nvSpPr>
          <p:cNvPr id="9" name="TextBox 8"/>
          <p:cNvSpPr txBox="1"/>
          <p:nvPr/>
        </p:nvSpPr>
        <p:spPr>
          <a:xfrm>
            <a:off x="1920240" y="1947672"/>
            <a:ext cx="23682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Full name</a:t>
            </a:r>
          </a:p>
        </p:txBody>
      </p:sp>
      <p:sp>
        <p:nvSpPr>
          <p:cNvPr id="10" name="TextBox 9"/>
          <p:cNvSpPr txBox="1"/>
          <p:nvPr/>
        </p:nvSpPr>
        <p:spPr>
          <a:xfrm>
            <a:off x="4526280" y="1947672"/>
            <a:ext cx="191109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Who is doing the work</a:t>
            </a:r>
          </a:p>
        </p:txBody>
      </p:sp>
      <p:sp>
        <p:nvSpPr>
          <p:cNvPr id="11" name="TextBox 10"/>
          <p:cNvSpPr txBox="1"/>
          <p:nvPr/>
        </p:nvSpPr>
        <p:spPr>
          <a:xfrm>
            <a:off x="6675120" y="1947672"/>
            <a:ext cx="482803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In one plain sentence</a:t>
            </a:r>
          </a:p>
        </p:txBody>
      </p:sp>
      <p:sp>
        <p:nvSpPr>
          <p:cNvPr id="12" name="Rectangle 11"/>
          <p:cNvSpPr/>
          <p:nvPr/>
        </p:nvSpPr>
        <p:spPr>
          <a:xfrm>
            <a:off x="566928" y="2249424"/>
            <a:ext cx="1105783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13432"/>
            <a:ext cx="996696" cy="47548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AfL</a:t>
            </a:r>
          </a:p>
        </p:txBody>
      </p:sp>
      <p:sp>
        <p:nvSpPr>
          <p:cNvPr id="14" name="TextBox 13"/>
          <p:cNvSpPr txBox="1"/>
          <p:nvPr/>
        </p:nvSpPr>
        <p:spPr>
          <a:xfrm>
            <a:off x="1920240" y="2313432"/>
            <a:ext cx="2368296"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Assessment for Learning</a:t>
            </a:r>
          </a:p>
        </p:txBody>
      </p:sp>
      <p:sp>
        <p:nvSpPr>
          <p:cNvPr id="15" name="TextBox 14"/>
          <p:cNvSpPr txBox="1"/>
          <p:nvPr/>
        </p:nvSpPr>
        <p:spPr>
          <a:xfrm>
            <a:off x="4526280" y="2313432"/>
            <a:ext cx="1911095"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TEACHER</a:t>
            </a:r>
          </a:p>
        </p:txBody>
      </p:sp>
      <p:sp>
        <p:nvSpPr>
          <p:cNvPr id="16" name="TextBox 15"/>
          <p:cNvSpPr txBox="1"/>
          <p:nvPr/>
        </p:nvSpPr>
        <p:spPr>
          <a:xfrm>
            <a:off x="6675120" y="2313432"/>
            <a:ext cx="4828032"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I check as we go, so I can teach better.</a:t>
            </a:r>
          </a:p>
        </p:txBody>
      </p:sp>
      <p:sp>
        <p:nvSpPr>
          <p:cNvPr id="17" name="Rectangle 16"/>
          <p:cNvSpPr/>
          <p:nvPr/>
        </p:nvSpPr>
        <p:spPr>
          <a:xfrm>
            <a:off x="566928" y="2816352"/>
            <a:ext cx="11057839" cy="566928"/>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0360"/>
            <a:ext cx="996696" cy="47548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AaL</a:t>
            </a:r>
          </a:p>
        </p:txBody>
      </p:sp>
      <p:sp>
        <p:nvSpPr>
          <p:cNvPr id="19" name="TextBox 18"/>
          <p:cNvSpPr txBox="1"/>
          <p:nvPr/>
        </p:nvSpPr>
        <p:spPr>
          <a:xfrm>
            <a:off x="1920240" y="2880360"/>
            <a:ext cx="2368296"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Assessment as Learning</a:t>
            </a:r>
          </a:p>
        </p:txBody>
      </p:sp>
      <p:sp>
        <p:nvSpPr>
          <p:cNvPr id="20" name="TextBox 19"/>
          <p:cNvSpPr txBox="1"/>
          <p:nvPr/>
        </p:nvSpPr>
        <p:spPr>
          <a:xfrm>
            <a:off x="4526280" y="2880360"/>
            <a:ext cx="1911095"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LEARNER</a:t>
            </a:r>
          </a:p>
        </p:txBody>
      </p:sp>
      <p:sp>
        <p:nvSpPr>
          <p:cNvPr id="21" name="TextBox 20"/>
          <p:cNvSpPr txBox="1"/>
          <p:nvPr/>
        </p:nvSpPr>
        <p:spPr>
          <a:xfrm>
            <a:off x="6675120" y="2880360"/>
            <a:ext cx="4828032"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student checks themselves, so they learn better.</a:t>
            </a:r>
          </a:p>
        </p:txBody>
      </p:sp>
      <p:sp>
        <p:nvSpPr>
          <p:cNvPr id="22" name="Rectangle 21"/>
          <p:cNvSpPr/>
          <p:nvPr/>
        </p:nvSpPr>
        <p:spPr>
          <a:xfrm>
            <a:off x="566928" y="3383280"/>
            <a:ext cx="11057839"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447288"/>
            <a:ext cx="996696" cy="47548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AoL</a:t>
            </a:r>
          </a:p>
        </p:txBody>
      </p:sp>
      <p:sp>
        <p:nvSpPr>
          <p:cNvPr id="24" name="TextBox 23"/>
          <p:cNvSpPr txBox="1"/>
          <p:nvPr/>
        </p:nvSpPr>
        <p:spPr>
          <a:xfrm>
            <a:off x="1920240" y="3447288"/>
            <a:ext cx="2368296"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Assessment of Learning</a:t>
            </a:r>
          </a:p>
        </p:txBody>
      </p:sp>
      <p:sp>
        <p:nvSpPr>
          <p:cNvPr id="25" name="TextBox 24"/>
          <p:cNvSpPr txBox="1"/>
          <p:nvPr/>
        </p:nvSpPr>
        <p:spPr>
          <a:xfrm>
            <a:off x="4526280" y="3447288"/>
            <a:ext cx="1911095"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SYSTEM / teacher</a:t>
            </a:r>
          </a:p>
        </p:txBody>
      </p:sp>
      <p:sp>
        <p:nvSpPr>
          <p:cNvPr id="26" name="TextBox 25"/>
          <p:cNvSpPr txBox="1"/>
          <p:nvPr/>
        </p:nvSpPr>
        <p:spPr>
          <a:xfrm>
            <a:off x="6675120" y="3447288"/>
            <a:ext cx="4828032" cy="47548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 final summary of what has been achieved.</a:t>
            </a:r>
          </a:p>
        </p:txBody>
      </p:sp>
      <p:sp>
        <p:nvSpPr>
          <p:cNvPr id="27" name="Rounded Rectangle 26"/>
          <p:cNvSpPr/>
          <p:nvPr/>
        </p:nvSpPr>
        <p:spPr>
          <a:xfrm>
            <a:off x="566928" y="4261104"/>
            <a:ext cx="11057839" cy="2157983"/>
          </a:xfrm>
          <a:prstGeom prst="roundRect">
            <a:avLst>
              <a:gd name="adj" fmla="val 7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261104"/>
            <a:ext cx="50292" cy="215798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416552"/>
            <a:ext cx="10545775" cy="1847087"/>
          </a:xfrm>
          <a:prstGeom prst="rect">
            <a:avLst/>
          </a:prstGeom>
          <a:noFill/>
        </p:spPr>
        <p:txBody>
          <a:bodyPr wrap="square" lIns="0" rIns="0" tIns="0" bIns="0">
            <a:spAutoFit/>
          </a:bodyPr>
          <a:lstStyle/>
          <a:p>
            <a:pPr algn="l">
              <a:lnSpc>
                <a:spcPct val="100000"/>
              </a:lnSpc>
              <a:spcBef>
                <a:spcPts val="0"/>
              </a:spcBef>
              <a:spcAft>
                <a:spcPts val="500"/>
              </a:spcAft>
            </a:pPr>
            <a:r>
              <a:rPr sz="1100" b="1" i="0">
                <a:solidFill>
                  <a:srgbClr val="0B6E4F"/>
                </a:solidFill>
                <a:latin typeface="Trebuchet MS"/>
              </a:rPr>
              <a:t>A SIMPLE TEST TO USE ON YOUR OWN PRACTICE</a:t>
            </a:r>
          </a:p>
          <a:p>
            <a:pPr algn="l">
              <a:lnSpc>
                <a:spcPct val="114000"/>
              </a:lnSpc>
              <a:spcBef>
                <a:spcPts val="0"/>
              </a:spcBef>
              <a:spcAft>
                <a:spcPts val="0"/>
              </a:spcAft>
            </a:pPr>
            <a:r>
              <a:rPr sz="1200" b="0" i="0">
                <a:solidFill>
                  <a:srgbClr val="14262E"/>
                </a:solidFill>
                <a:latin typeface="Calibri"/>
              </a:rPr>
              <a:t>Ask: “Who is going to change what they do as a result of this information?” If the answer is the TEACHER, it is AfL. If it is the LEARNER, it is AaL. If nobody changes anything and it just gets recorded, it is AoL.
AaL is the one we most often forget: we tell learners their marks, but we rarely teach them to check themselves — and that is the skill that carries them into university and into work.</a:t>
            </a:r>
          </a:p>
        </p:txBody>
      </p:sp>
      <p:sp>
        <p:nvSpPr>
          <p:cNvPr id="30" name="TextBox 29"/>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Formative vs Summative — Side by Side</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same skills, two different jobs</a:t>
            </a:r>
          </a:p>
        </p:txBody>
      </p:sp>
      <p:sp>
        <p:nvSpPr>
          <p:cNvPr id="6" name="Rectangle 5"/>
          <p:cNvSpPr/>
          <p:nvPr/>
        </p:nvSpPr>
        <p:spPr>
          <a:xfrm>
            <a:off x="566928" y="1426464"/>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14538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
            </a:r>
          </a:p>
        </p:txBody>
      </p:sp>
      <p:sp>
        <p:nvSpPr>
          <p:cNvPr id="8" name="TextBox 7"/>
          <p:cNvSpPr txBox="1"/>
          <p:nvPr/>
        </p:nvSpPr>
        <p:spPr>
          <a:xfrm>
            <a:off x="2377440" y="1508760"/>
            <a:ext cx="424281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FORMATIVE (the tasting)</a:t>
            </a:r>
          </a:p>
        </p:txBody>
      </p:sp>
      <p:sp>
        <p:nvSpPr>
          <p:cNvPr id="9" name="TextBox 8"/>
          <p:cNvSpPr txBox="1"/>
          <p:nvPr/>
        </p:nvSpPr>
        <p:spPr>
          <a:xfrm>
            <a:off x="6858000" y="1508760"/>
            <a:ext cx="464515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SUMMATIVE (the serving)</a:t>
            </a:r>
          </a:p>
        </p:txBody>
      </p:sp>
      <p:sp>
        <p:nvSpPr>
          <p:cNvPr id="10" name="Rectangle 9"/>
          <p:cNvSpPr/>
          <p:nvPr/>
        </p:nvSpPr>
        <p:spPr>
          <a:xfrm>
            <a:off x="566928" y="1810512"/>
            <a:ext cx="1105783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74519"/>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When</a:t>
            </a:r>
          </a:p>
        </p:txBody>
      </p:sp>
      <p:sp>
        <p:nvSpPr>
          <p:cNvPr id="12" name="TextBox 11"/>
          <p:cNvSpPr txBox="1"/>
          <p:nvPr/>
        </p:nvSpPr>
        <p:spPr>
          <a:xfrm>
            <a:off x="2377440" y="1874519"/>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During teaching — before, during and after the lesson</a:t>
            </a:r>
          </a:p>
        </p:txBody>
      </p:sp>
      <p:sp>
        <p:nvSpPr>
          <p:cNvPr id="13" name="TextBox 12"/>
          <p:cNvSpPr txBox="1"/>
          <p:nvPr/>
        </p:nvSpPr>
        <p:spPr>
          <a:xfrm>
            <a:off x="6858000" y="1874519"/>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After teaching — end of unit, term, year, programme</a:t>
            </a:r>
          </a:p>
        </p:txBody>
      </p:sp>
      <p:sp>
        <p:nvSpPr>
          <p:cNvPr id="14" name="Rectangle 13"/>
          <p:cNvSpPr/>
          <p:nvPr/>
        </p:nvSpPr>
        <p:spPr>
          <a:xfrm>
            <a:off x="566928" y="2322576"/>
            <a:ext cx="11057839" cy="512064"/>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386584"/>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Purpose</a:t>
            </a:r>
          </a:p>
        </p:txBody>
      </p:sp>
      <p:sp>
        <p:nvSpPr>
          <p:cNvPr id="16" name="TextBox 15"/>
          <p:cNvSpPr txBox="1"/>
          <p:nvPr/>
        </p:nvSpPr>
        <p:spPr>
          <a:xfrm>
            <a:off x="2377440" y="2386584"/>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To IMPROVE learning while there is still time</a:t>
            </a:r>
          </a:p>
        </p:txBody>
      </p:sp>
      <p:sp>
        <p:nvSpPr>
          <p:cNvPr id="17" name="TextBox 16"/>
          <p:cNvSpPr txBox="1"/>
          <p:nvPr/>
        </p:nvSpPr>
        <p:spPr>
          <a:xfrm>
            <a:off x="6858000" y="2386584"/>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To PROVE and record overall achievement</a:t>
            </a:r>
          </a:p>
        </p:txBody>
      </p:sp>
      <p:sp>
        <p:nvSpPr>
          <p:cNvPr id="18" name="Rectangle 17"/>
          <p:cNvSpPr/>
          <p:nvPr/>
        </p:nvSpPr>
        <p:spPr>
          <a:xfrm>
            <a:off x="566928" y="2834640"/>
            <a:ext cx="1105783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898648"/>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Who uses it</a:t>
            </a:r>
          </a:p>
        </p:txBody>
      </p:sp>
      <p:sp>
        <p:nvSpPr>
          <p:cNvPr id="20" name="TextBox 19"/>
          <p:cNvSpPr txBox="1"/>
          <p:nvPr/>
        </p:nvSpPr>
        <p:spPr>
          <a:xfrm>
            <a:off x="2377440" y="2898648"/>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Teacher and learner</a:t>
            </a:r>
          </a:p>
        </p:txBody>
      </p:sp>
      <p:sp>
        <p:nvSpPr>
          <p:cNvPr id="21" name="TextBox 20"/>
          <p:cNvSpPr txBox="1"/>
          <p:nvPr/>
        </p:nvSpPr>
        <p:spPr>
          <a:xfrm>
            <a:off x="6858000" y="2898648"/>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School, WAEC and other external bodies</a:t>
            </a:r>
          </a:p>
        </p:txBody>
      </p:sp>
      <p:sp>
        <p:nvSpPr>
          <p:cNvPr id="22" name="Rectangle 21"/>
          <p:cNvSpPr/>
          <p:nvPr/>
        </p:nvSpPr>
        <p:spPr>
          <a:xfrm>
            <a:off x="566928" y="3346704"/>
            <a:ext cx="11057839" cy="512064"/>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410712"/>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What it sounds like</a:t>
            </a:r>
          </a:p>
        </p:txBody>
      </p:sp>
      <p:sp>
        <p:nvSpPr>
          <p:cNvPr id="24" name="TextBox 23"/>
          <p:cNvSpPr txBox="1"/>
          <p:nvPr/>
        </p:nvSpPr>
        <p:spPr>
          <a:xfrm>
            <a:off x="2377440" y="3410712"/>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“I see where you got stuck — let us try it this way”</a:t>
            </a:r>
          </a:p>
        </p:txBody>
      </p:sp>
      <p:sp>
        <p:nvSpPr>
          <p:cNvPr id="25" name="TextBox 24"/>
          <p:cNvSpPr txBox="1"/>
          <p:nvPr/>
        </p:nvSpPr>
        <p:spPr>
          <a:xfrm>
            <a:off x="6858000" y="3410712"/>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“This is your final grade for the term”</a:t>
            </a:r>
          </a:p>
        </p:txBody>
      </p:sp>
      <p:sp>
        <p:nvSpPr>
          <p:cNvPr id="26" name="Rectangle 25"/>
          <p:cNvSpPr/>
          <p:nvPr/>
        </p:nvSpPr>
        <p:spPr>
          <a:xfrm>
            <a:off x="566928" y="3858768"/>
            <a:ext cx="1105783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22776"/>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Feels like</a:t>
            </a:r>
          </a:p>
        </p:txBody>
      </p:sp>
      <p:sp>
        <p:nvSpPr>
          <p:cNvPr id="28" name="TextBox 27"/>
          <p:cNvSpPr txBox="1"/>
          <p:nvPr/>
        </p:nvSpPr>
        <p:spPr>
          <a:xfrm>
            <a:off x="2377440" y="3922776"/>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 conversation, a question, a quick check, a show of hands</a:t>
            </a:r>
          </a:p>
        </p:txBody>
      </p:sp>
      <p:sp>
        <p:nvSpPr>
          <p:cNvPr id="29" name="TextBox 28"/>
          <p:cNvSpPr txBox="1"/>
          <p:nvPr/>
        </p:nvSpPr>
        <p:spPr>
          <a:xfrm>
            <a:off x="6858000" y="3922776"/>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 formal paper, a scheduled exam, a transcript</a:t>
            </a:r>
          </a:p>
        </p:txBody>
      </p:sp>
      <p:sp>
        <p:nvSpPr>
          <p:cNvPr id="30" name="Rectangle 29"/>
          <p:cNvSpPr/>
          <p:nvPr/>
        </p:nvSpPr>
        <p:spPr>
          <a:xfrm>
            <a:off x="566928" y="4370832"/>
            <a:ext cx="11057839" cy="512064"/>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434840"/>
            <a:ext cx="1453896" cy="420624"/>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Examples</a:t>
            </a:r>
          </a:p>
        </p:txBody>
      </p:sp>
      <p:sp>
        <p:nvSpPr>
          <p:cNvPr id="32" name="TextBox 31"/>
          <p:cNvSpPr txBox="1"/>
          <p:nvPr/>
        </p:nvSpPr>
        <p:spPr>
          <a:xfrm>
            <a:off x="2377440" y="4434840"/>
            <a:ext cx="4242816"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Questions, exit cards, class exercises, observation, peer assessment, drafts</a:t>
            </a:r>
          </a:p>
        </p:txBody>
      </p:sp>
      <p:sp>
        <p:nvSpPr>
          <p:cNvPr id="33" name="TextBox 32"/>
          <p:cNvSpPr txBox="1"/>
          <p:nvPr/>
        </p:nvSpPr>
        <p:spPr>
          <a:xfrm>
            <a:off x="6858000" y="4434840"/>
            <a:ext cx="4645152" cy="420624"/>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End-of-term exam, WASSCE, projects, portfolios, practicals</a:t>
            </a:r>
          </a:p>
        </p:txBody>
      </p:sp>
      <p:sp>
        <p:nvSpPr>
          <p:cNvPr id="34" name="TextBox 3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The Golden Rule Most Teachers Miss</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two do not live in separate boxes — they feed each other</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Summative results can be used FORMATIVELY, and formative work can count SUMMATIVELY. The label describes the PURPOSE the information is put to — not the test paper itself.</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You mark the end-of-term paper as usual. But instead of only recording the scores, you hand the scripts back, put learners in groups to find the answers to the questions they missed, and you re-teach the two topics the whole class failed. That exam just became a teaching tool. Equally: the class exercises and the group project you grade against a clear rubric — that is the 30% school-based assessment. Your everyday work is already counting towards the final grade.</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C1440E"/>
                </a:solidFill>
                <a:latin typeface="Calibri"/>
              </a:rPr>
              <a:t>Why this matters for you:  </a:t>
            </a:r>
            <a:r>
              <a:rPr sz="1150" b="0" i="0">
                <a:solidFill>
                  <a:srgbClr val="5A6B72"/>
                </a:solidFill>
                <a:latin typeface="Calibri"/>
              </a:rPr>
              <a:t>the same piece of work can do two jobs. You are not being asked to double your marking load — you are being asked to use the information twice.</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Quick Check — Formative or Summative?</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Two minutes · call it out · then we discuss</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Do not think about the paperwork. Ask: who is going to change what they do as a result of this information?</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59801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The situation</a:t>
            </a:r>
          </a:p>
        </p:txBody>
      </p:sp>
      <p:sp>
        <p:nvSpPr>
          <p:cNvPr id="9" name="TextBox 8"/>
          <p:cNvSpPr txBox="1"/>
          <p:nvPr/>
        </p:nvSpPr>
        <p:spPr>
          <a:xfrm>
            <a:off x="6903720" y="1947672"/>
            <a:ext cx="218541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Formative or summative?</a:t>
            </a:r>
          </a:p>
        </p:txBody>
      </p:sp>
      <p:sp>
        <p:nvSpPr>
          <p:cNvPr id="10" name="TextBox 9"/>
          <p:cNvSpPr txBox="1"/>
          <p:nvPr/>
        </p:nvSpPr>
        <p:spPr>
          <a:xfrm>
            <a:off x="9326880" y="1947672"/>
            <a:ext cx="217627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Why</a:t>
            </a:r>
          </a:p>
        </p:txBody>
      </p:sp>
      <p:sp>
        <p:nvSpPr>
          <p:cNvPr id="11" name="Rectangle 10"/>
          <p:cNvSpPr/>
          <p:nvPr/>
        </p:nvSpPr>
        <p:spPr>
          <a:xfrm>
            <a:off x="566928" y="2249424"/>
            <a:ext cx="11057839"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give a five-question quiz halfway through a lesson to check understanding.</a:t>
            </a:r>
          </a:p>
        </p:txBody>
      </p:sp>
      <p:sp>
        <p:nvSpPr>
          <p:cNvPr id="13" name="TextBox 12"/>
          <p:cNvSpPr txBox="1"/>
          <p:nvPr/>
        </p:nvSpPr>
        <p:spPr>
          <a:xfrm>
            <a:off x="6903720" y="2313432"/>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14" name="TextBox 13"/>
          <p:cNvSpPr txBox="1"/>
          <p:nvPr/>
        </p:nvSpPr>
        <p:spPr>
          <a:xfrm>
            <a:off x="9326880" y="2313432"/>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15" name="Rectangle 14"/>
          <p:cNvSpPr/>
          <p:nvPr/>
        </p:nvSpPr>
        <p:spPr>
          <a:xfrm>
            <a:off x="566928" y="2779776"/>
            <a:ext cx="11057839" cy="5303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843784"/>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set the end-of-term examination paper.</a:t>
            </a:r>
          </a:p>
        </p:txBody>
      </p:sp>
      <p:sp>
        <p:nvSpPr>
          <p:cNvPr id="17" name="TextBox 16"/>
          <p:cNvSpPr txBox="1"/>
          <p:nvPr/>
        </p:nvSpPr>
        <p:spPr>
          <a:xfrm>
            <a:off x="6903720" y="2843784"/>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18" name="TextBox 17"/>
          <p:cNvSpPr txBox="1"/>
          <p:nvPr/>
        </p:nvSpPr>
        <p:spPr>
          <a:xfrm>
            <a:off x="9326880" y="2843784"/>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19" name="Rectangle 18"/>
          <p:cNvSpPr/>
          <p:nvPr/>
        </p:nvSpPr>
        <p:spPr>
          <a:xfrm>
            <a:off x="566928" y="3310128"/>
            <a:ext cx="11057839"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374136"/>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stand beside a group and listen to how they are solving a problem.</a:t>
            </a:r>
          </a:p>
        </p:txBody>
      </p:sp>
      <p:sp>
        <p:nvSpPr>
          <p:cNvPr id="21" name="TextBox 20"/>
          <p:cNvSpPr txBox="1"/>
          <p:nvPr/>
        </p:nvSpPr>
        <p:spPr>
          <a:xfrm>
            <a:off x="6903720" y="3374136"/>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22" name="TextBox 21"/>
          <p:cNvSpPr txBox="1"/>
          <p:nvPr/>
        </p:nvSpPr>
        <p:spPr>
          <a:xfrm>
            <a:off x="9326880" y="3374136"/>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23" name="Rectangle 22"/>
          <p:cNvSpPr/>
          <p:nvPr/>
        </p:nvSpPr>
        <p:spPr>
          <a:xfrm>
            <a:off x="566928" y="3840480"/>
            <a:ext cx="11057839" cy="5303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904488"/>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mark a learner's draft essay and ask them to rewrite one paragraph.</a:t>
            </a:r>
          </a:p>
        </p:txBody>
      </p:sp>
      <p:sp>
        <p:nvSpPr>
          <p:cNvPr id="25" name="TextBox 24"/>
          <p:cNvSpPr txBox="1"/>
          <p:nvPr/>
        </p:nvSpPr>
        <p:spPr>
          <a:xfrm>
            <a:off x="6903720" y="3904488"/>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26" name="TextBox 25"/>
          <p:cNvSpPr txBox="1"/>
          <p:nvPr/>
        </p:nvSpPr>
        <p:spPr>
          <a:xfrm>
            <a:off x="9326880" y="3904488"/>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27" name="Rectangle 26"/>
          <p:cNvSpPr/>
          <p:nvPr/>
        </p:nvSpPr>
        <p:spPr>
          <a:xfrm>
            <a:off x="566928" y="4370832"/>
            <a:ext cx="11057839" cy="5303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434840"/>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submit learners' WASSCE registration grades.</a:t>
            </a:r>
          </a:p>
        </p:txBody>
      </p:sp>
      <p:sp>
        <p:nvSpPr>
          <p:cNvPr id="29" name="TextBox 28"/>
          <p:cNvSpPr txBox="1"/>
          <p:nvPr/>
        </p:nvSpPr>
        <p:spPr>
          <a:xfrm>
            <a:off x="6903720" y="4434840"/>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30" name="TextBox 29"/>
          <p:cNvSpPr txBox="1"/>
          <p:nvPr/>
        </p:nvSpPr>
        <p:spPr>
          <a:xfrm>
            <a:off x="9326880" y="4434840"/>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31" name="Rectangle 30"/>
          <p:cNvSpPr/>
          <p:nvPr/>
        </p:nvSpPr>
        <p:spPr>
          <a:xfrm>
            <a:off x="566928" y="4901184"/>
            <a:ext cx="11057839" cy="5303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965192"/>
            <a:ext cx="5980176" cy="438912"/>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You grade a group project against a rubric and it counts towards their 30%.</a:t>
            </a:r>
          </a:p>
        </p:txBody>
      </p:sp>
      <p:sp>
        <p:nvSpPr>
          <p:cNvPr id="33" name="TextBox 32"/>
          <p:cNvSpPr txBox="1"/>
          <p:nvPr/>
        </p:nvSpPr>
        <p:spPr>
          <a:xfrm>
            <a:off x="6903720" y="4965192"/>
            <a:ext cx="2185415"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34" name="TextBox 33"/>
          <p:cNvSpPr txBox="1"/>
          <p:nvPr/>
        </p:nvSpPr>
        <p:spPr>
          <a:xfrm>
            <a:off x="9326880" y="4965192"/>
            <a:ext cx="2176272" cy="438912"/>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a:t>
            </a:r>
          </a:p>
        </p:txBody>
      </p:sp>
      <p:sp>
        <p:nvSpPr>
          <p:cNvPr id="35" name="TextBox 3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pillars.jpg"/>
          <p:cNvPicPr>
            <a:picLocks noChangeAspect="1"/>
          </p:cNvPicPr>
          <p:nvPr/>
        </p:nvPicPr>
        <p:blipFill>
          <a:blip r:embed="rId2"/>
          <a:srcRect l="20371" r="20371"/>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SESSION 2</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15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Ghana's Assessment
Policy Landscape</a:t>
            </a:r>
          </a:p>
          <a:p>
            <a:pPr algn="l">
              <a:lnSpc>
                <a:spcPct val="115000"/>
              </a:lnSpc>
              <a:spcBef>
                <a:spcPts val="0"/>
              </a:spcBef>
              <a:spcAft>
                <a:spcPts val="0"/>
              </a:spcAft>
            </a:pPr>
            <a:r>
              <a:rPr sz="1300" b="0" i="0">
                <a:solidFill>
                  <a:srgbClr val="C6DBD3"/>
                </a:solidFill>
                <a:latin typeface="Calibri"/>
              </a:rPr>
              <a:t>What you are required to do — and who requires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Who Does What — The Policy Actors</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Six bodies, one system. Knowing who is who makes circulars make sense.</a:t>
            </a:r>
          </a:p>
        </p:txBody>
      </p:sp>
      <p:pic>
        <p:nvPicPr>
          <p:cNvPr id="6" name="Picture 5" descr="17_practical_lab.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Different bodies, different jobs — all pointing at your classroom.</a:t>
            </a:r>
          </a:p>
        </p:txBody>
      </p:sp>
      <p:sp>
        <p:nvSpPr>
          <p:cNvPr id="9" name="Rounded Rectangle 8"/>
          <p:cNvSpPr/>
          <p:nvPr/>
        </p:nvSpPr>
        <p:spPr>
          <a:xfrm>
            <a:off x="566928" y="1426464"/>
            <a:ext cx="5781751" cy="804176"/>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041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529856"/>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NaCCA</a:t>
            </a:r>
          </a:p>
          <a:p>
            <a:pPr algn="l">
              <a:lnSpc>
                <a:spcPct val="110000"/>
              </a:lnSpc>
              <a:spcBef>
                <a:spcPts val="0"/>
              </a:spcBef>
              <a:spcAft>
                <a:spcPts val="0"/>
              </a:spcAft>
            </a:pPr>
            <a:r>
              <a:rPr sz="900" b="0" i="0">
                <a:solidFill>
                  <a:srgbClr val="14262E"/>
                </a:solidFill>
                <a:latin typeface="Calibri"/>
              </a:rPr>
              <a:t>National Council for Curriculum and Assessment. Sets the curriculum AND the assessment guidance. This workshop's manual is theirs.</a:t>
            </a:r>
          </a:p>
        </p:txBody>
      </p:sp>
      <p:sp>
        <p:nvSpPr>
          <p:cNvPr id="12" name="Rounded Rectangle 11"/>
          <p:cNvSpPr/>
          <p:nvPr/>
        </p:nvSpPr>
        <p:spPr>
          <a:xfrm>
            <a:off x="566928" y="2340368"/>
            <a:ext cx="5781751" cy="655815"/>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40368"/>
            <a:ext cx="45720" cy="655815"/>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477528"/>
            <a:ext cx="5379415" cy="381495"/>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Ministry of Education</a:t>
            </a:r>
          </a:p>
          <a:p>
            <a:pPr algn="l">
              <a:lnSpc>
                <a:spcPct val="110000"/>
              </a:lnSpc>
              <a:spcBef>
                <a:spcPts val="0"/>
              </a:spcBef>
              <a:spcAft>
                <a:spcPts val="0"/>
              </a:spcAft>
            </a:pPr>
            <a:r>
              <a:rPr sz="900" b="0" i="0">
                <a:solidFill>
                  <a:srgbClr val="14262E"/>
                </a:solidFill>
                <a:latin typeface="Calibri"/>
              </a:rPr>
              <a:t>Sets national policy and funds the system. Owns the reforms behind the new curriculum.</a:t>
            </a:r>
          </a:p>
        </p:txBody>
      </p:sp>
      <p:sp>
        <p:nvSpPr>
          <p:cNvPr id="15" name="Rounded Rectangle 14"/>
          <p:cNvSpPr/>
          <p:nvPr/>
        </p:nvSpPr>
        <p:spPr>
          <a:xfrm>
            <a:off x="566928" y="3105912"/>
            <a:ext cx="5781751" cy="655815"/>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105912"/>
            <a:ext cx="45720" cy="655815"/>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243072"/>
            <a:ext cx="5379415" cy="381495"/>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Ghana Education Service</a:t>
            </a:r>
          </a:p>
          <a:p>
            <a:pPr algn="l">
              <a:lnSpc>
                <a:spcPct val="110000"/>
              </a:lnSpc>
              <a:spcBef>
                <a:spcPts val="0"/>
              </a:spcBef>
              <a:spcAft>
                <a:spcPts val="0"/>
              </a:spcAft>
            </a:pPr>
            <a:r>
              <a:rPr sz="900" b="0" i="0">
                <a:solidFill>
                  <a:srgbClr val="14262E"/>
                </a:solidFill>
                <a:latin typeface="Calibri"/>
              </a:rPr>
              <a:t>Runs public pre-tertiary schools. Your direct employer; issues day-to-day directives.</a:t>
            </a:r>
          </a:p>
        </p:txBody>
      </p:sp>
      <p:sp>
        <p:nvSpPr>
          <p:cNvPr id="18" name="Rounded Rectangle 17"/>
          <p:cNvSpPr/>
          <p:nvPr/>
        </p:nvSpPr>
        <p:spPr>
          <a:xfrm>
            <a:off x="566928" y="3871455"/>
            <a:ext cx="5781751" cy="655815"/>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871455"/>
            <a:ext cx="45720" cy="655815"/>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008615"/>
            <a:ext cx="5379415" cy="381495"/>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WAEC</a:t>
            </a:r>
          </a:p>
          <a:p>
            <a:pPr algn="l">
              <a:lnSpc>
                <a:spcPct val="110000"/>
              </a:lnSpc>
              <a:spcBef>
                <a:spcPts val="0"/>
              </a:spcBef>
              <a:spcAft>
                <a:spcPts val="0"/>
              </a:spcAft>
            </a:pPr>
            <a:r>
              <a:rPr sz="900" b="0" i="0">
                <a:solidFill>
                  <a:srgbClr val="14262E"/>
                </a:solidFill>
                <a:latin typeface="Calibri"/>
              </a:rPr>
              <a:t>West African Examinations Council. Runs WASSCE — the external 70%. Also advises on item quality.</a:t>
            </a:r>
          </a:p>
        </p:txBody>
      </p:sp>
      <p:sp>
        <p:nvSpPr>
          <p:cNvPr id="21" name="Rounded Rectangle 20"/>
          <p:cNvSpPr/>
          <p:nvPr/>
        </p:nvSpPr>
        <p:spPr>
          <a:xfrm>
            <a:off x="566928" y="4636998"/>
            <a:ext cx="5781751" cy="804176"/>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636998"/>
            <a:ext cx="45720" cy="8041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774158"/>
            <a:ext cx="5379415" cy="529856"/>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NaSIA</a:t>
            </a:r>
          </a:p>
          <a:p>
            <a:pPr algn="l">
              <a:lnSpc>
                <a:spcPct val="110000"/>
              </a:lnSpc>
              <a:spcBef>
                <a:spcPts val="0"/>
              </a:spcBef>
              <a:spcAft>
                <a:spcPts val="0"/>
              </a:spcAft>
            </a:pPr>
            <a:r>
              <a:rPr sz="900" b="0" i="0">
                <a:solidFill>
                  <a:srgbClr val="14262E"/>
                </a:solidFill>
                <a:latin typeface="Calibri"/>
              </a:rPr>
              <a:t>National School Inspectorate Authority. Inspects schools — and will look at your assessment records.</a:t>
            </a:r>
          </a:p>
        </p:txBody>
      </p:sp>
      <p:sp>
        <p:nvSpPr>
          <p:cNvPr id="24" name="Rounded Rectangle 23"/>
          <p:cNvSpPr/>
          <p:nvPr/>
        </p:nvSpPr>
        <p:spPr>
          <a:xfrm>
            <a:off x="566928" y="5550903"/>
            <a:ext cx="5781751" cy="804176"/>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5550903"/>
            <a:ext cx="45720" cy="8041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 y="5688063"/>
            <a:ext cx="5379415" cy="529856"/>
          </a:xfrm>
          <a:prstGeom prst="rect">
            <a:avLst/>
          </a:prstGeom>
          <a:noFill/>
        </p:spPr>
        <p:txBody>
          <a:bodyPr wrap="square" lIns="0" rIns="0" tIns="0" bIns="0">
            <a:spAutoFit/>
          </a:bodyPr>
          <a:lstStyle/>
          <a:p>
            <a:pPr algn="l">
              <a:lnSpc>
                <a:spcPct val="100000"/>
              </a:lnSpc>
              <a:spcBef>
                <a:spcPts val="0"/>
              </a:spcBef>
              <a:spcAft>
                <a:spcPts val="300"/>
              </a:spcAft>
            </a:pPr>
            <a:r>
              <a:rPr sz="1000" b="1" i="0">
                <a:solidFill>
                  <a:srgbClr val="0B6E4F"/>
                </a:solidFill>
                <a:latin typeface="Trebuchet MS"/>
              </a:rPr>
              <a:t>National Teaching Council</a:t>
            </a:r>
          </a:p>
          <a:p>
            <a:pPr algn="l">
              <a:lnSpc>
                <a:spcPct val="110000"/>
              </a:lnSpc>
              <a:spcBef>
                <a:spcPts val="0"/>
              </a:spcBef>
              <a:spcAft>
                <a:spcPts val="0"/>
              </a:spcAft>
            </a:pPr>
            <a:r>
              <a:rPr sz="900" b="0" i="0">
                <a:solidFill>
                  <a:srgbClr val="14262E"/>
                </a:solidFill>
                <a:latin typeface="Calibri"/>
              </a:rPr>
              <a:t>Regulates the teaching profession: licensure, professional standards and continuous professional development.</a:t>
            </a:r>
          </a:p>
        </p:txBody>
      </p:sp>
      <p:sp>
        <p:nvSpPr>
          <p:cNvPr id="27" name="TextBox 26"/>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The Two Frameworks — NPLAF and SEAF</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Where the rules in the manual actually come from</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Three acronyms that govern everything you do. You do not need to memorise them — you need to know which one answers your question.</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9966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Framework</a:t>
            </a:r>
          </a:p>
        </p:txBody>
      </p:sp>
      <p:sp>
        <p:nvSpPr>
          <p:cNvPr id="9" name="TextBox 8"/>
          <p:cNvSpPr txBox="1"/>
          <p:nvPr/>
        </p:nvSpPr>
        <p:spPr>
          <a:xfrm>
            <a:off x="1920240" y="1947672"/>
            <a:ext cx="27797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Full name</a:t>
            </a:r>
          </a:p>
        </p:txBody>
      </p:sp>
      <p:sp>
        <p:nvSpPr>
          <p:cNvPr id="10" name="TextBox 9"/>
          <p:cNvSpPr txBox="1"/>
          <p:nvPr/>
        </p:nvSpPr>
        <p:spPr>
          <a:xfrm>
            <a:off x="4937759" y="1947672"/>
            <a:ext cx="36941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it covers</a:t>
            </a:r>
          </a:p>
        </p:txBody>
      </p:sp>
      <p:sp>
        <p:nvSpPr>
          <p:cNvPr id="11" name="TextBox 10"/>
          <p:cNvSpPr txBox="1"/>
          <p:nvPr/>
        </p:nvSpPr>
        <p:spPr>
          <a:xfrm>
            <a:off x="8869680" y="1947672"/>
            <a:ext cx="263347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Why you should care</a:t>
            </a:r>
          </a:p>
        </p:txBody>
      </p:sp>
      <p:sp>
        <p:nvSpPr>
          <p:cNvPr id="12" name="Rectangle 11"/>
          <p:cNvSpPr/>
          <p:nvPr/>
        </p:nvSpPr>
        <p:spPr>
          <a:xfrm>
            <a:off x="566928" y="2249424"/>
            <a:ext cx="11057839"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13432"/>
            <a:ext cx="996696" cy="84124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NPLAF</a:t>
            </a:r>
          </a:p>
        </p:txBody>
      </p:sp>
      <p:sp>
        <p:nvSpPr>
          <p:cNvPr id="14" name="TextBox 13"/>
          <p:cNvSpPr txBox="1"/>
          <p:nvPr/>
        </p:nvSpPr>
        <p:spPr>
          <a:xfrm>
            <a:off x="1920240" y="2313432"/>
            <a:ext cx="27797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National Pre-tertiary Learning and Assessment Framework</a:t>
            </a:r>
          </a:p>
        </p:txBody>
      </p:sp>
      <p:sp>
        <p:nvSpPr>
          <p:cNvPr id="15" name="TextBox 14"/>
          <p:cNvSpPr txBox="1"/>
          <p:nvPr/>
        </p:nvSpPr>
        <p:spPr>
          <a:xfrm>
            <a:off x="4937759" y="2313432"/>
            <a:ext cx="36941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national master document. Defines the principles and forms of assessment for ALL pre-tertiary levels.</a:t>
            </a:r>
          </a:p>
        </p:txBody>
      </p:sp>
      <p:sp>
        <p:nvSpPr>
          <p:cNvPr id="16" name="TextBox 15"/>
          <p:cNvSpPr txBox="1"/>
          <p:nvPr/>
        </p:nvSpPr>
        <p:spPr>
          <a:xfrm>
            <a:off x="8869680" y="2313432"/>
            <a:ext cx="2633472"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root source. Every principle in Session 3 traces back here.</a:t>
            </a:r>
          </a:p>
        </p:txBody>
      </p:sp>
      <p:sp>
        <p:nvSpPr>
          <p:cNvPr id="17" name="Rectangle 16"/>
          <p:cNvSpPr/>
          <p:nvPr/>
        </p:nvSpPr>
        <p:spPr>
          <a:xfrm>
            <a:off x="566928" y="3182112"/>
            <a:ext cx="11057839" cy="932688"/>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46120"/>
            <a:ext cx="996696" cy="84124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SEAF</a:t>
            </a:r>
          </a:p>
        </p:txBody>
      </p:sp>
      <p:sp>
        <p:nvSpPr>
          <p:cNvPr id="19" name="TextBox 18"/>
          <p:cNvSpPr txBox="1"/>
          <p:nvPr/>
        </p:nvSpPr>
        <p:spPr>
          <a:xfrm>
            <a:off x="1920240" y="3246120"/>
            <a:ext cx="27797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Secondary Education Assessment Framework</a:t>
            </a:r>
          </a:p>
        </p:txBody>
      </p:sp>
      <p:sp>
        <p:nvSpPr>
          <p:cNvPr id="20" name="TextBox 19"/>
          <p:cNvSpPr txBox="1"/>
          <p:nvPr/>
        </p:nvSpPr>
        <p:spPr>
          <a:xfrm>
            <a:off x="4937759" y="3246120"/>
            <a:ext cx="36941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How SHS / SHTS / STEM learners are assessed within and across grade levels.</a:t>
            </a:r>
          </a:p>
        </p:txBody>
      </p:sp>
      <p:sp>
        <p:nvSpPr>
          <p:cNvPr id="21" name="TextBox 20"/>
          <p:cNvSpPr txBox="1"/>
          <p:nvPr/>
        </p:nvSpPr>
        <p:spPr>
          <a:xfrm>
            <a:off x="8869680" y="3246120"/>
            <a:ext cx="2633472"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direct rulebook for your classroom. It proposes the two forms: formative and summative.</a:t>
            </a:r>
          </a:p>
        </p:txBody>
      </p:sp>
      <p:sp>
        <p:nvSpPr>
          <p:cNvPr id="22" name="Rectangle 21"/>
          <p:cNvSpPr/>
          <p:nvPr/>
        </p:nvSpPr>
        <p:spPr>
          <a:xfrm>
            <a:off x="566928" y="4114800"/>
            <a:ext cx="11057839"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78808"/>
            <a:ext cx="996696" cy="841248"/>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14262E"/>
                </a:solidFill>
                <a:latin typeface="Calibri"/>
              </a:rPr>
              <a:t>SBC</a:t>
            </a:r>
          </a:p>
        </p:txBody>
      </p:sp>
      <p:sp>
        <p:nvSpPr>
          <p:cNvPr id="24" name="TextBox 23"/>
          <p:cNvSpPr txBox="1"/>
          <p:nvPr/>
        </p:nvSpPr>
        <p:spPr>
          <a:xfrm>
            <a:off x="1920240" y="4178808"/>
            <a:ext cx="27797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Standards-Based Curriculum</a:t>
            </a:r>
          </a:p>
        </p:txBody>
      </p:sp>
      <p:sp>
        <p:nvSpPr>
          <p:cNvPr id="25" name="TextBox 24"/>
          <p:cNvSpPr txBox="1"/>
          <p:nvPr/>
        </p:nvSpPr>
        <p:spPr>
          <a:xfrm>
            <a:off x="4937759" y="4178808"/>
            <a:ext cx="3694176"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The current SHS curriculum. Organised by strands and sub-strands with learning outcomes expressed as standards.</a:t>
            </a:r>
          </a:p>
        </p:txBody>
      </p:sp>
      <p:sp>
        <p:nvSpPr>
          <p:cNvPr id="26" name="TextBox 25"/>
          <p:cNvSpPr txBox="1"/>
          <p:nvPr/>
        </p:nvSpPr>
        <p:spPr>
          <a:xfrm>
            <a:off x="8869680" y="4178808"/>
            <a:ext cx="2633472" cy="841248"/>
          </a:xfrm>
          <a:prstGeom prst="rect">
            <a:avLst/>
          </a:prstGeom>
          <a:noFill/>
        </p:spPr>
        <p:txBody>
          <a:bodyPr wrap="square" lIns="0" rIns="0" tIns="0" bIns="0">
            <a:spAutoFit/>
          </a:bodyPr>
          <a:lstStyle/>
          <a:p>
            <a:pPr algn="l">
              <a:lnSpc>
                <a:spcPct val="100000"/>
              </a:lnSpc>
              <a:spcBef>
                <a:spcPts val="0"/>
              </a:spcBef>
              <a:spcAft>
                <a:spcPts val="0"/>
              </a:spcAft>
            </a:pPr>
            <a:r>
              <a:rPr sz="1150" b="0" i="0">
                <a:solidFill>
                  <a:srgbClr val="14262E"/>
                </a:solidFill>
                <a:latin typeface="Calibri"/>
              </a:rPr>
              <a:t>Your teaching and assessment must be aligned to its learning outcomes — that is what validity means in practice.</a:t>
            </a:r>
          </a:p>
        </p:txBody>
      </p:sp>
      <p:sp>
        <p:nvSpPr>
          <p:cNvPr id="27" name="TextBox 26"/>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The 70 / 30 Split — Your Marks Now Have Weight</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Why school-based assessment is no longer soft data</a:t>
            </a:r>
          </a:p>
        </p:txBody>
      </p:sp>
      <p:pic>
        <p:nvPicPr>
          <p:cNvPr id="6" name="Picture 5" descr="21_records.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Your 30% is now on the transcript, and it has to be defensible.</a:t>
            </a:r>
          </a:p>
        </p:txBody>
      </p:sp>
      <p:sp>
        <p:nvSpPr>
          <p:cNvPr id="9" name="Rounded Rectangle 8"/>
          <p:cNvSpPr/>
          <p:nvPr/>
        </p:nvSpPr>
        <p:spPr>
          <a:xfrm>
            <a:off x="566928" y="1426464"/>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3200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C1440E"/>
                </a:solidFill>
                <a:latin typeface="Trebuchet MS"/>
              </a:rPr>
              <a:t>The split</a:t>
            </a:r>
          </a:p>
          <a:p>
            <a:pPr algn="l">
              <a:lnSpc>
                <a:spcPct val="110000"/>
              </a:lnSpc>
              <a:spcBef>
                <a:spcPts val="0"/>
              </a:spcBef>
              <a:spcAft>
                <a:spcPts val="0"/>
              </a:spcAft>
            </a:pPr>
            <a:r>
              <a:rPr sz="1000" b="0" i="0">
                <a:solidFill>
                  <a:srgbClr val="14262E"/>
                </a:solidFill>
                <a:latin typeface="Calibri"/>
              </a:rPr>
              <a:t>Thirty per cent of a learner's final grade comes from work done in YOUR school and marked by YOU. Seventy per cent comes from WAEC's final WASSCE.</a:t>
            </a:r>
          </a:p>
        </p:txBody>
      </p:sp>
      <p:sp>
        <p:nvSpPr>
          <p:cNvPr id="12" name="Rounded Rectangle 11"/>
          <p:cNvSpPr/>
          <p:nvPr/>
        </p:nvSpPr>
        <p:spPr>
          <a:xfrm>
            <a:off x="566928" y="2368194"/>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68194"/>
            <a:ext cx="45720" cy="83200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05354"/>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C1440E"/>
                </a:solidFill>
                <a:latin typeface="Trebuchet MS"/>
              </a:rPr>
              <a:t>What makes up the 30%</a:t>
            </a:r>
          </a:p>
          <a:p>
            <a:pPr algn="l">
              <a:lnSpc>
                <a:spcPct val="110000"/>
              </a:lnSpc>
              <a:spcBef>
                <a:spcPts val="0"/>
              </a:spcBef>
              <a:spcAft>
                <a:spcPts val="0"/>
              </a:spcAft>
            </a:pPr>
            <a:r>
              <a:rPr sz="1000" b="0" i="0">
                <a:solidFill>
                  <a:srgbClr val="14262E"/>
                </a:solidFill>
                <a:latin typeface="Calibri"/>
              </a:rPr>
              <a:t>Formative work (portfolios, performance and project work) plus summative internal work (end-of-term examinations), recorded in a school-based transcript.</a:t>
            </a:r>
          </a:p>
        </p:txBody>
      </p:sp>
      <p:sp>
        <p:nvSpPr>
          <p:cNvPr id="15" name="Rounded Rectangle 14"/>
          <p:cNvSpPr/>
          <p:nvPr/>
        </p:nvSpPr>
        <p:spPr>
          <a:xfrm>
            <a:off x="566928" y="3309924"/>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309924"/>
            <a:ext cx="45720" cy="99684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447084"/>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C1440E"/>
                </a:solidFill>
                <a:latin typeface="Trebuchet MS"/>
              </a:rPr>
              <a:t>What changed</a:t>
            </a:r>
          </a:p>
          <a:p>
            <a:pPr algn="l">
              <a:lnSpc>
                <a:spcPct val="110000"/>
              </a:lnSpc>
              <a:spcBef>
                <a:spcPts val="0"/>
              </a:spcBef>
              <a:spcAft>
                <a:spcPts val="0"/>
              </a:spcAft>
            </a:pPr>
            <a:r>
              <a:rPr sz="1000" b="0" i="0">
                <a:solidFill>
                  <a:srgbClr val="14262E"/>
                </a:solidFill>
                <a:latin typeface="Calibri"/>
              </a:rPr>
              <a:t>Internal marks are no longer treated as a formality at the back of the mark book. The 30% now sits on a school-based transcript with far greater transparency and quality assurance.</a:t>
            </a:r>
          </a:p>
        </p:txBody>
      </p:sp>
      <p:sp>
        <p:nvSpPr>
          <p:cNvPr id="18" name="Rounded Rectangle 17"/>
          <p:cNvSpPr/>
          <p:nvPr/>
        </p:nvSpPr>
        <p:spPr>
          <a:xfrm>
            <a:off x="566928" y="4416501"/>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16501"/>
            <a:ext cx="45720" cy="99684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553661"/>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C1440E"/>
                </a:solidFill>
                <a:latin typeface="Trebuchet MS"/>
              </a:rPr>
              <a:t>The consequence</a:t>
            </a:r>
          </a:p>
          <a:p>
            <a:pPr algn="l">
              <a:lnSpc>
                <a:spcPct val="110000"/>
              </a:lnSpc>
              <a:spcBef>
                <a:spcPts val="0"/>
              </a:spcBef>
              <a:spcAft>
                <a:spcPts val="0"/>
              </a:spcAft>
            </a:pPr>
            <a:r>
              <a:rPr sz="1000" b="0" i="0">
                <a:solidFill>
                  <a:srgbClr val="14262E"/>
                </a:solidFill>
                <a:latin typeface="Calibri"/>
              </a:rPr>
              <a:t>If your school's 30% is not credible, transparent and defensible, the learner is the one who suffers when the transcript is scrutinised \u2014 and the school is the one that is exposed.</a:t>
            </a:r>
          </a:p>
        </p:txBody>
      </p:sp>
      <p:sp>
        <p:nvSpPr>
          <p:cNvPr id="21" name="Rounded Rectangle 20"/>
          <p:cNvSpPr/>
          <p:nvPr/>
        </p:nvSpPr>
        <p:spPr>
          <a:xfrm>
            <a:off x="566928" y="552307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523077"/>
            <a:ext cx="45720" cy="83200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023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C1440E"/>
                </a:solidFill>
                <a:latin typeface="Trebuchet MS"/>
              </a:rPr>
              <a:t>So what?</a:t>
            </a:r>
          </a:p>
          <a:p>
            <a:pPr algn="l">
              <a:lnSpc>
                <a:spcPct val="110000"/>
              </a:lnSpc>
              <a:spcBef>
                <a:spcPts val="0"/>
              </a:spcBef>
              <a:spcAft>
                <a:spcPts val="0"/>
              </a:spcAft>
            </a:pPr>
            <a:r>
              <a:rPr sz="1000" b="0" i="0">
                <a:solidFill>
                  <a:srgbClr val="14262E"/>
                </a:solidFill>
                <a:latin typeface="Calibri"/>
              </a:rPr>
              <a:t>Reliable rubrics applied consistently are no longer just good practice. They are protection \u2014 for your learners and for your school.</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Continuous Assessment — What Is Required of You</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practical obligations, in plain terms</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Six obligations that come with the 30%. None of them is optional, and all of them are auditable.</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264261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Requirement</a:t>
            </a:r>
          </a:p>
        </p:txBody>
      </p:sp>
      <p:sp>
        <p:nvSpPr>
          <p:cNvPr id="9" name="TextBox 8"/>
          <p:cNvSpPr txBox="1"/>
          <p:nvPr/>
        </p:nvSpPr>
        <p:spPr>
          <a:xfrm>
            <a:off x="3566160" y="1947672"/>
            <a:ext cx="41513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it means in practice</a:t>
            </a:r>
          </a:p>
        </p:txBody>
      </p:sp>
      <p:sp>
        <p:nvSpPr>
          <p:cNvPr id="10" name="TextBox 9"/>
          <p:cNvSpPr txBox="1"/>
          <p:nvPr/>
        </p:nvSpPr>
        <p:spPr>
          <a:xfrm>
            <a:off x="7955280" y="1947672"/>
            <a:ext cx="354787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Where teachers commonly slip</a:t>
            </a:r>
          </a:p>
        </p:txBody>
      </p:sp>
      <p:sp>
        <p:nvSpPr>
          <p:cNvPr id="11" name="Rectangle 10"/>
          <p:cNvSpPr/>
          <p:nvPr/>
        </p:nvSpPr>
        <p:spPr>
          <a:xfrm>
            <a:off x="566928" y="2249424"/>
            <a:ext cx="11057839"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Assess against curriculum learning outcomes</a:t>
            </a:r>
          </a:p>
        </p:txBody>
      </p:sp>
      <p:sp>
        <p:nvSpPr>
          <p:cNvPr id="13" name="TextBox 12"/>
          <p:cNvSpPr txBox="1"/>
          <p:nvPr/>
        </p:nvSpPr>
        <p:spPr>
          <a:xfrm>
            <a:off x="3566160" y="2313432"/>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Your tasks must test the standards in the Standards-Based Curriculum for your level.</a:t>
            </a:r>
          </a:p>
        </p:txBody>
      </p:sp>
      <p:sp>
        <p:nvSpPr>
          <p:cNvPr id="14" name="TextBox 13"/>
          <p:cNvSpPr txBox="1"/>
          <p:nvPr/>
        </p:nvSpPr>
        <p:spPr>
          <a:xfrm>
            <a:off x="7955280" y="2313432"/>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Setting questions on content you taught but which is not in the curriculum standards — or missing standards you did not teach.</a:t>
            </a:r>
          </a:p>
        </p:txBody>
      </p:sp>
      <p:sp>
        <p:nvSpPr>
          <p:cNvPr id="15" name="Rectangle 14"/>
          <p:cNvSpPr/>
          <p:nvPr/>
        </p:nvSpPr>
        <p:spPr>
          <a:xfrm>
            <a:off x="566928" y="3108960"/>
            <a:ext cx="11057839" cy="85953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172968"/>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Use a variety of assessment methods</a:t>
            </a:r>
          </a:p>
        </p:txBody>
      </p:sp>
      <p:sp>
        <p:nvSpPr>
          <p:cNvPr id="17" name="TextBox 16"/>
          <p:cNvSpPr txBox="1"/>
          <p:nvPr/>
        </p:nvSpPr>
        <p:spPr>
          <a:xfrm>
            <a:off x="3566160" y="3172968"/>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Not just written tests. Include projects, portfolios, performance, practicals, observation and oral work.</a:t>
            </a:r>
          </a:p>
        </p:txBody>
      </p:sp>
      <p:sp>
        <p:nvSpPr>
          <p:cNvPr id="18" name="TextBox 17"/>
          <p:cNvSpPr txBox="1"/>
          <p:nvPr/>
        </p:nvSpPr>
        <p:spPr>
          <a:xfrm>
            <a:off x="7955280" y="3172968"/>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Relying on class tests alone, then finding the 30% is thin and undefensible.</a:t>
            </a:r>
          </a:p>
        </p:txBody>
      </p:sp>
      <p:sp>
        <p:nvSpPr>
          <p:cNvPr id="19" name="Rectangle 18"/>
          <p:cNvSpPr/>
          <p:nvPr/>
        </p:nvSpPr>
        <p:spPr>
          <a:xfrm>
            <a:off x="566928" y="3968496"/>
            <a:ext cx="11057839"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032504"/>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Record results systematically</a:t>
            </a:r>
          </a:p>
        </p:txBody>
      </p:sp>
      <p:sp>
        <p:nvSpPr>
          <p:cNvPr id="21" name="TextBox 20"/>
          <p:cNvSpPr txBox="1"/>
          <p:nvPr/>
        </p:nvSpPr>
        <p:spPr>
          <a:xfrm>
            <a:off x="3566160" y="4032504"/>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Every learner's results kept accurately across the term, with the evidence behind them.</a:t>
            </a:r>
          </a:p>
        </p:txBody>
      </p:sp>
      <p:sp>
        <p:nvSpPr>
          <p:cNvPr id="22" name="TextBox 21"/>
          <p:cNvSpPr txBox="1"/>
          <p:nvPr/>
        </p:nvSpPr>
        <p:spPr>
          <a:xfrm>
            <a:off x="7955280" y="4032504"/>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Losing the record book, or reconstructing marks at the end of term. This is the most common quality-assurance failure.</a:t>
            </a:r>
          </a:p>
        </p:txBody>
      </p:sp>
      <p:sp>
        <p:nvSpPr>
          <p:cNvPr id="23" name="Rectangle 22"/>
          <p:cNvSpPr/>
          <p:nvPr/>
        </p:nvSpPr>
        <p:spPr>
          <a:xfrm>
            <a:off x="566928" y="4828031"/>
            <a:ext cx="11057839" cy="85953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92040"/>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Give feedback learners can act on</a:t>
            </a:r>
          </a:p>
        </p:txBody>
      </p:sp>
      <p:sp>
        <p:nvSpPr>
          <p:cNvPr id="25" name="TextBox 24"/>
          <p:cNvSpPr txBox="1"/>
          <p:nvPr/>
        </p:nvSpPr>
        <p:spPr>
          <a:xfrm>
            <a:off x="3566160" y="4892040"/>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Results must feed back into teaching and into the learner's next steps — not just a mark.</a:t>
            </a:r>
          </a:p>
        </p:txBody>
      </p:sp>
      <p:sp>
        <p:nvSpPr>
          <p:cNvPr id="26" name="TextBox 25"/>
          <p:cNvSpPr txBox="1"/>
          <p:nvPr/>
        </p:nvSpPr>
        <p:spPr>
          <a:xfrm>
            <a:off x="7955280" y="4892040"/>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Marking and recording without ever handing work back or re-teaching the gaps.</a:t>
            </a:r>
          </a:p>
        </p:txBody>
      </p:sp>
      <p:sp>
        <p:nvSpPr>
          <p:cNvPr id="27" name="Rectangle 26"/>
          <p:cNvSpPr/>
          <p:nvPr/>
        </p:nvSpPr>
        <p:spPr>
          <a:xfrm>
            <a:off x="566928" y="5687567"/>
            <a:ext cx="11057839"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751575"/>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Accommodate learners with SEN</a:t>
            </a:r>
          </a:p>
        </p:txBody>
      </p:sp>
      <p:sp>
        <p:nvSpPr>
          <p:cNvPr id="29" name="TextBox 28"/>
          <p:cNvSpPr txBox="1"/>
          <p:nvPr/>
        </p:nvSpPr>
        <p:spPr>
          <a:xfrm>
            <a:off x="3566160" y="5751575"/>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Extra time, alternative formats and appropriate accommodations, applied fairly.</a:t>
            </a:r>
          </a:p>
        </p:txBody>
      </p:sp>
      <p:sp>
        <p:nvSpPr>
          <p:cNvPr id="30" name="TextBox 29"/>
          <p:cNvSpPr txBox="1"/>
          <p:nvPr/>
        </p:nvSpPr>
        <p:spPr>
          <a:xfrm>
            <a:off x="7955280" y="5751575"/>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Treating accommodations as favours rather than requirements — and having no record of what was provided.</a:t>
            </a:r>
          </a:p>
        </p:txBody>
      </p:sp>
      <p:sp>
        <p:nvSpPr>
          <p:cNvPr id="31" name="Rectangle 30"/>
          <p:cNvSpPr/>
          <p:nvPr/>
        </p:nvSpPr>
        <p:spPr>
          <a:xfrm>
            <a:off x="566928" y="6547103"/>
            <a:ext cx="11057839" cy="859536"/>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611111"/>
            <a:ext cx="2642615" cy="768096"/>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Be transparent and consistent</a:t>
            </a:r>
          </a:p>
        </p:txBody>
      </p:sp>
      <p:sp>
        <p:nvSpPr>
          <p:cNvPr id="33" name="TextBox 32"/>
          <p:cNvSpPr txBox="1"/>
          <p:nvPr/>
        </p:nvSpPr>
        <p:spPr>
          <a:xfrm>
            <a:off x="3566160" y="6611111"/>
            <a:ext cx="4151376"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Learners know the criteria in advance; the same rubric is used across classes.</a:t>
            </a:r>
          </a:p>
        </p:txBody>
      </p:sp>
      <p:sp>
        <p:nvSpPr>
          <p:cNvPr id="34" name="TextBox 33"/>
          <p:cNvSpPr txBox="1"/>
          <p:nvPr/>
        </p:nvSpPr>
        <p:spPr>
          <a:xfrm>
            <a:off x="7955280" y="6611111"/>
            <a:ext cx="3547872" cy="768096"/>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Two teachers marking the same subject to different standards, which undermines the whole transcript.</a:t>
            </a:r>
          </a:p>
        </p:txBody>
      </p:sp>
      <p:sp>
        <p:nvSpPr>
          <p:cNvPr id="35" name="TextBox 3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The School-Based Transcript — Why Records Matter</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document that turns your mark book into a learner's future</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The school-based transcript records the internal 30% formally, with far greater transparency and quality assurance than the old system. It accompanies the learner beyond your school — to further study, to placements, to employers.</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Imagine two learners with identical WASSCE grades. One school's 30% rests on rubrics, marked work and a clean record book. The other's rests on marks entered the week before submission with no evidence behind them. If both transcripts are scrutinised, only one survives. The learner does not lose a place because they knew less — they lose it because somebody's record-keeping was loose. Your record book is not admin. It is a young person's evidence.</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C1440E"/>
                </a:solidFill>
                <a:latin typeface="Calibri"/>
              </a:rPr>
              <a:t>The test to apply to yourself:  </a:t>
            </a:r>
            <a:r>
              <a:rPr sz="1150" b="0" i="0">
                <a:solidFill>
                  <a:srgbClr val="5A6B72"/>
                </a:solidFill>
                <a:latin typeface="Calibri"/>
              </a:rPr>
              <a:t>if an inspector asked you to justify one learner's 30% mark today, could you show the work, the rubric and the date? If not, the record needs attention.</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hero_classroom.jpg"/>
          <p:cNvPicPr>
            <a:picLocks noChangeAspect="1"/>
          </p:cNvPicPr>
          <p:nvPr/>
        </p:nvPicPr>
        <p:blipFill>
          <a:blip r:embed="rId2"/>
          <a:srcRect l="1279" r="1279"/>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74A35">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1887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2148840"/>
            <a:ext cx="10783519" cy="2377440"/>
          </a:xfrm>
          <a:prstGeom prst="rect">
            <a:avLst/>
          </a:prstGeom>
          <a:noFill/>
        </p:spPr>
        <p:txBody>
          <a:bodyPr wrap="square" lIns="0" rIns="0" tIns="0" bIns="0">
            <a:spAutoFit/>
          </a:bodyPr>
          <a:lstStyle/>
          <a:p>
            <a:pPr algn="l">
              <a:lnSpc>
                <a:spcPct val="100000"/>
              </a:lnSpc>
              <a:spcBef>
                <a:spcPts val="0"/>
              </a:spcBef>
              <a:spcAft>
                <a:spcPts val="1200"/>
              </a:spcAft>
            </a:pPr>
            <a:r>
              <a:rPr sz="5600" b="1" i="0">
                <a:solidFill>
                  <a:srgbClr val="FFFFFF"/>
                </a:solidFill>
                <a:latin typeface="Trebuchet MS"/>
              </a:rPr>
              <a:t>Break</a:t>
            </a:r>
          </a:p>
          <a:p>
            <a:pPr algn="l">
              <a:lnSpc>
                <a:spcPct val="100000"/>
              </a:lnSpc>
              <a:spcBef>
                <a:spcPts val="0"/>
              </a:spcBef>
              <a:spcAft>
                <a:spcPts val="2000"/>
              </a:spcAft>
            </a:pPr>
            <a:r>
              <a:rPr sz="2000" b="0" i="0">
                <a:solidFill>
                  <a:srgbClr val="F4B400"/>
                </a:solidFill>
                <a:latin typeface="Trebuchet MS"/>
              </a:rPr>
              <a:t>15 minutes  ·  back at 01:00</a:t>
            </a:r>
          </a:p>
          <a:p>
            <a:pPr algn="l">
              <a:lnSpc>
                <a:spcPct val="115000"/>
              </a:lnSpc>
              <a:spcBef>
                <a:spcPts val="0"/>
              </a:spcBef>
              <a:spcAft>
                <a:spcPts val="0"/>
              </a:spcAft>
            </a:pPr>
            <a:r>
              <a:rPr sz="1400" b="0" i="0">
                <a:solidFill>
                  <a:srgbClr val="D8E8E1"/>
                </a:solidFill>
                <a:latin typeface="Calibri"/>
              </a:rPr>
              <a:t>When we return: the seven principles that hold up every good assessment — and then you will design your own task and rubric.</a:t>
            </a:r>
          </a:p>
        </p:txBody>
      </p:sp>
      <p:sp>
        <p:nvSpPr>
          <p:cNvPr id="6" name="TextBox 5"/>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B9CFC7"/>
                </a:solidFill>
                <a:latin typeface="Calibri"/>
              </a:rPr>
              <a:t>Effective Assessment Practices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pillars.jpg"/>
          <p:cNvPicPr>
            <a:picLocks noChangeAspect="1"/>
          </p:cNvPicPr>
          <p:nvPr/>
        </p:nvPicPr>
        <p:blipFill>
          <a:blip r:embed="rId2"/>
          <a:srcRect l="20371" r="20371"/>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SESSION 3</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15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Principles of
Effective Assessment</a:t>
            </a:r>
          </a:p>
          <a:p>
            <a:pPr algn="l">
              <a:lnSpc>
                <a:spcPct val="115000"/>
              </a:lnSpc>
              <a:spcBef>
                <a:spcPts val="0"/>
              </a:spcBef>
              <a:spcAft>
                <a:spcPts val="0"/>
              </a:spcAft>
            </a:pPr>
            <a:r>
              <a:rPr sz="1300" b="0" i="0">
                <a:solidFill>
                  <a:srgbClr val="C6DBD3"/>
                </a:solidFill>
                <a:latin typeface="Calibri"/>
              </a:rPr>
              <a:t>Seven pillars. Remove one, and the roof leans.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Seven Pillars — Hold Up the Roof</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Everything that follows rests on these</a:t>
            </a:r>
          </a:p>
        </p:txBody>
      </p:sp>
      <p:pic>
        <p:nvPicPr>
          <p:cNvPr id="6" name="Picture 5" descr="05_pillars.jpg"/>
          <p:cNvPicPr>
            <a:picLocks noChangeAspect="1"/>
          </p:cNvPicPr>
          <p:nvPr/>
        </p:nvPicPr>
        <p:blipFill>
          <a:blip r:embed="rId2"/>
          <a:srcRect l="21895" r="21895"/>
          <a:stretch>
            <a:fillRect/>
          </a:stretch>
        </p:blipFill>
        <p:spPr>
          <a:xfrm>
            <a:off x="566928" y="1417320"/>
            <a:ext cx="3931920" cy="4663440"/>
          </a:xfrm>
          <a:prstGeom prst="rect">
            <a:avLst/>
          </a:prstGeom>
        </p:spPr>
      </p:pic>
      <p:sp>
        <p:nvSpPr>
          <p:cNvPr id="7" name="Rectangle 6"/>
          <p:cNvSpPr/>
          <p:nvPr/>
        </p:nvSpPr>
        <p:spPr>
          <a:xfrm>
            <a:off x="566928" y="1417320"/>
            <a:ext cx="393192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144768"/>
            <a:ext cx="393192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Seven pillars. Remove one, and the roof leans.</a:t>
            </a:r>
          </a:p>
        </p:txBody>
      </p:sp>
      <p:sp>
        <p:nvSpPr>
          <p:cNvPr id="9" name="Rounded Rectangle 8"/>
          <p:cNvSpPr/>
          <p:nvPr/>
        </p:nvSpPr>
        <p:spPr>
          <a:xfrm>
            <a:off x="4864608" y="1426464"/>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64608" y="1426464"/>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65776" y="1609344"/>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1 · Validity</a:t>
            </a:r>
          </a:p>
          <a:p>
            <a:pPr algn="l">
              <a:lnSpc>
                <a:spcPct val="110000"/>
              </a:lnSpc>
              <a:spcBef>
                <a:spcPts val="0"/>
              </a:spcBef>
              <a:spcAft>
                <a:spcPts val="0"/>
              </a:spcAft>
            </a:pPr>
            <a:r>
              <a:rPr sz="1150" b="0" i="0">
                <a:solidFill>
                  <a:srgbClr val="14262E"/>
                </a:solidFill>
                <a:latin typeface="Calibri"/>
              </a:rPr>
              <a:t>Am I measuring the RIGHT thing?</a:t>
            </a:r>
          </a:p>
        </p:txBody>
      </p:sp>
      <p:sp>
        <p:nvSpPr>
          <p:cNvPr id="12" name="Rounded Rectangle 11"/>
          <p:cNvSpPr/>
          <p:nvPr/>
        </p:nvSpPr>
        <p:spPr>
          <a:xfrm>
            <a:off x="8345271" y="1426464"/>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45271" y="1426464"/>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6439" y="1609344"/>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2 · Reliability</a:t>
            </a:r>
          </a:p>
          <a:p>
            <a:pPr algn="l">
              <a:lnSpc>
                <a:spcPct val="110000"/>
              </a:lnSpc>
              <a:spcBef>
                <a:spcPts val="0"/>
              </a:spcBef>
              <a:spcAft>
                <a:spcPts val="0"/>
              </a:spcAft>
            </a:pPr>
            <a:r>
              <a:rPr sz="1150" b="0" i="0">
                <a:solidFill>
                  <a:srgbClr val="14262E"/>
                </a:solidFill>
                <a:latin typeface="Calibri"/>
              </a:rPr>
              <a:t>Do I get the SAME result every time, whoever marks it?</a:t>
            </a:r>
          </a:p>
        </p:txBody>
      </p:sp>
      <p:sp>
        <p:nvSpPr>
          <p:cNvPr id="15" name="Rounded Rectangle 14"/>
          <p:cNvSpPr/>
          <p:nvPr/>
        </p:nvSpPr>
        <p:spPr>
          <a:xfrm>
            <a:off x="4864608" y="2686050"/>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64608" y="2686050"/>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65776" y="2868930"/>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3 · Fairness and ethics</a:t>
            </a:r>
          </a:p>
          <a:p>
            <a:pPr algn="l">
              <a:lnSpc>
                <a:spcPct val="110000"/>
              </a:lnSpc>
              <a:spcBef>
                <a:spcPts val="0"/>
              </a:spcBef>
              <a:spcAft>
                <a:spcPts val="0"/>
              </a:spcAft>
            </a:pPr>
            <a:r>
              <a:rPr sz="1150" b="0" i="0">
                <a:solidFill>
                  <a:srgbClr val="14262E"/>
                </a:solidFill>
                <a:latin typeface="Calibri"/>
              </a:rPr>
              <a:t>Does every learner get an EQUITABLE chance?</a:t>
            </a:r>
          </a:p>
        </p:txBody>
      </p:sp>
      <p:sp>
        <p:nvSpPr>
          <p:cNvPr id="18" name="Rounded Rectangle 17"/>
          <p:cNvSpPr/>
          <p:nvPr/>
        </p:nvSpPr>
        <p:spPr>
          <a:xfrm>
            <a:off x="8345271" y="2686050"/>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45271" y="2686050"/>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46439" y="2868930"/>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4 · Transparency</a:t>
            </a:r>
          </a:p>
          <a:p>
            <a:pPr algn="l">
              <a:lnSpc>
                <a:spcPct val="110000"/>
              </a:lnSpc>
              <a:spcBef>
                <a:spcPts val="0"/>
              </a:spcBef>
              <a:spcAft>
                <a:spcPts val="0"/>
              </a:spcAft>
            </a:pPr>
            <a:r>
              <a:rPr sz="1150" b="0" i="0">
                <a:solidFill>
                  <a:srgbClr val="14262E"/>
                </a:solidFill>
                <a:latin typeface="Calibri"/>
              </a:rPr>
              <a:t>Do learners know WHAT they are judged on and HOW?</a:t>
            </a:r>
          </a:p>
        </p:txBody>
      </p:sp>
      <p:sp>
        <p:nvSpPr>
          <p:cNvPr id="21" name="Rounded Rectangle 20"/>
          <p:cNvSpPr/>
          <p:nvPr/>
        </p:nvSpPr>
        <p:spPr>
          <a:xfrm>
            <a:off x="4864608" y="3945635"/>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64608" y="3945635"/>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5776" y="4128515"/>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5 · Inclusivity</a:t>
            </a:r>
          </a:p>
          <a:p>
            <a:pPr algn="l">
              <a:lnSpc>
                <a:spcPct val="110000"/>
              </a:lnSpc>
              <a:spcBef>
                <a:spcPts val="0"/>
              </a:spcBef>
              <a:spcAft>
                <a:spcPts val="0"/>
              </a:spcAft>
            </a:pPr>
            <a:r>
              <a:rPr sz="1150" b="0" i="0">
                <a:solidFill>
                  <a:srgbClr val="14262E"/>
                </a:solidFill>
                <a:latin typeface="Calibri"/>
              </a:rPr>
              <a:t>Is it accessible to ALL learners, without exception?</a:t>
            </a:r>
          </a:p>
        </p:txBody>
      </p:sp>
      <p:sp>
        <p:nvSpPr>
          <p:cNvPr id="24" name="Rounded Rectangle 23"/>
          <p:cNvSpPr/>
          <p:nvPr/>
        </p:nvSpPr>
        <p:spPr>
          <a:xfrm>
            <a:off x="8345271" y="3945635"/>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45271" y="3945635"/>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46439" y="4128515"/>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6 · Practicability</a:t>
            </a:r>
          </a:p>
          <a:p>
            <a:pPr algn="l">
              <a:lnSpc>
                <a:spcPct val="110000"/>
              </a:lnSpc>
              <a:spcBef>
                <a:spcPts val="0"/>
              </a:spcBef>
              <a:spcAft>
                <a:spcPts val="0"/>
              </a:spcAft>
            </a:pPr>
            <a:r>
              <a:rPr sz="1150" b="0" i="0">
                <a:solidFill>
                  <a:srgbClr val="14262E"/>
                </a:solidFill>
                <a:latin typeface="Calibri"/>
              </a:rPr>
              <a:t>Can I ACTUALLY do this with my time and my class size?</a:t>
            </a:r>
          </a:p>
        </p:txBody>
      </p:sp>
      <p:sp>
        <p:nvSpPr>
          <p:cNvPr id="27" name="Rounded Rectangle 26"/>
          <p:cNvSpPr/>
          <p:nvPr/>
        </p:nvSpPr>
        <p:spPr>
          <a:xfrm>
            <a:off x="4864608" y="5205222"/>
            <a:ext cx="3279495"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64608" y="5205222"/>
            <a:ext cx="3279495" cy="502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65776" y="5388102"/>
            <a:ext cx="2877159" cy="820674"/>
          </a:xfrm>
          <a:prstGeom prst="rect">
            <a:avLst/>
          </a:prstGeom>
          <a:noFill/>
        </p:spPr>
        <p:txBody>
          <a:bodyPr wrap="square" lIns="0" rIns="0" tIns="0" bIns="0">
            <a:spAutoFit/>
          </a:bodyPr>
          <a:lstStyle/>
          <a:p>
            <a:pPr algn="l">
              <a:lnSpc>
                <a:spcPct val="100000"/>
              </a:lnSpc>
              <a:spcBef>
                <a:spcPts val="0"/>
              </a:spcBef>
              <a:spcAft>
                <a:spcPts val="400"/>
              </a:spcAft>
            </a:pPr>
            <a:r>
              <a:rPr sz="1300" b="1" i="0">
                <a:solidFill>
                  <a:srgbClr val="0B6E4F"/>
                </a:solidFill>
                <a:latin typeface="Trebuchet MS"/>
              </a:rPr>
              <a:t>7 · Assessment utility</a:t>
            </a:r>
          </a:p>
          <a:p>
            <a:pPr algn="l">
              <a:lnSpc>
                <a:spcPct val="110000"/>
              </a:lnSpc>
              <a:spcBef>
                <a:spcPts val="0"/>
              </a:spcBef>
              <a:spcAft>
                <a:spcPts val="0"/>
              </a:spcAft>
            </a:pPr>
            <a:r>
              <a:rPr sz="1150" b="0" i="0">
                <a:solidFill>
                  <a:srgbClr val="14262E"/>
                </a:solidFill>
                <a:latin typeface="Calibri"/>
              </a:rPr>
              <a:t>Is it USEFUL — does anybody learn anything from it?</a:t>
            </a:r>
          </a:p>
        </p:txBody>
      </p:sp>
      <p:sp>
        <p:nvSpPr>
          <p:cNvPr id="30" name="TextBox 29"/>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1 · Validity — Measuring the Right Thing</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pillar most often broken without anyone noticing</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Are you actually measuring the thing you say you are measuring? A valid assessment measures the important learning outcomes of the curriculum — not just whatever was easiest to set.</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A trader uses a weighing scale to sell yam. If she used that scale to measure the LENGTH of the yam, the reading would be worthless — not because the scale is broken, but because it is measuring the wrong thing. Now think of your last class test. Your learning outcome said learners should ANALYSE data. But every question you set asked them to RECALL a definition. Your test was neat. It was well marked. It was simply measuring the wrong thing. That is an invalid assessment — and the learners who studied hard still lost marks for it.</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0B6E4F"/>
                </a:solidFill>
                <a:latin typeface="Calibri"/>
              </a:rPr>
              <a:t>The teacher's quick validity check:  </a:t>
            </a:r>
            <a:r>
              <a:rPr sz="1150" b="0" i="0">
                <a:solidFill>
                  <a:srgbClr val="5A6B72"/>
                </a:solidFill>
                <a:latin typeface="Calibri"/>
              </a:rPr>
              <a:t>“Does this question actually test the skill I said I was teaching?”  If the answer is no, the marks it produces mean very little.</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2 · Reliability — The Same Result Every Time</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Reliability is about trust in the numbers</a:t>
            </a:r>
          </a:p>
        </p:txBody>
      </p:sp>
      <p:pic>
        <p:nvPicPr>
          <p:cNvPr id="6" name="Picture 5" descr="06_scales.jpg"/>
          <p:cNvPicPr>
            <a:picLocks noChangeAspect="1"/>
          </p:cNvPicPr>
          <p:nvPr/>
        </p:nvPicPr>
        <p:blipFill>
          <a:blip r:embed="rId2"/>
          <a:srcRect l="21250" r="21250"/>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Same pile, same reading — every time.</a:t>
            </a:r>
          </a:p>
        </p:txBody>
      </p:sp>
      <p:sp>
        <p:nvSpPr>
          <p:cNvPr id="9" name="Rounded Rectangle 8"/>
          <p:cNvSpPr/>
          <p:nvPr/>
        </p:nvSpPr>
        <p:spPr>
          <a:xfrm>
            <a:off x="566928" y="1426464"/>
            <a:ext cx="5781751" cy="912891"/>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912891"/>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638571"/>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Plain English</a:t>
            </a:r>
          </a:p>
          <a:p>
            <a:pPr algn="l">
              <a:lnSpc>
                <a:spcPct val="110000"/>
              </a:lnSpc>
              <a:spcBef>
                <a:spcPts val="0"/>
              </a:spcBef>
              <a:spcAft>
                <a:spcPts val="0"/>
              </a:spcAft>
            </a:pPr>
            <a:r>
              <a:rPr sz="1150" b="0" i="0">
                <a:solidFill>
                  <a:srgbClr val="14262E"/>
                </a:solidFill>
                <a:latin typeface="Calibri"/>
              </a:rPr>
              <a:t>Do you get the same result every time, whoever is doing the marking? Reliable results are dependable enough to make decisions with.</a:t>
            </a:r>
          </a:p>
        </p:txBody>
      </p:sp>
      <p:sp>
        <p:nvSpPr>
          <p:cNvPr id="12" name="Rounded Rectangle 11"/>
          <p:cNvSpPr/>
          <p:nvPr/>
        </p:nvSpPr>
        <p:spPr>
          <a:xfrm>
            <a:off x="566928" y="2449083"/>
            <a:ext cx="5781751" cy="1292037"/>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449083"/>
            <a:ext cx="45720" cy="1292037"/>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86243"/>
            <a:ext cx="5379415" cy="1017717"/>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The classroom picture</a:t>
            </a:r>
          </a:p>
          <a:p>
            <a:pPr algn="l">
              <a:lnSpc>
                <a:spcPct val="110000"/>
              </a:lnSpc>
              <a:spcBef>
                <a:spcPts val="0"/>
              </a:spcBef>
              <a:spcAft>
                <a:spcPts val="0"/>
              </a:spcAft>
            </a:pPr>
            <a:r>
              <a:rPr sz="1150" b="0" i="0">
                <a:solidFill>
                  <a:srgbClr val="14262E"/>
                </a:solidFill>
                <a:latin typeface="Calibri"/>
              </a:rPr>
              <a:t>A market scale that gives the same weight for the same pile of tomatoes — on Monday or Saturday, whoever is standing at the stall. Now imagine the scale was generous on Monday and harsh on Saturday. Nobody would trust that market again.</a:t>
            </a:r>
          </a:p>
        </p:txBody>
      </p:sp>
      <p:sp>
        <p:nvSpPr>
          <p:cNvPr id="15" name="Rounded Rectangle 14"/>
          <p:cNvSpPr/>
          <p:nvPr/>
        </p:nvSpPr>
        <p:spPr>
          <a:xfrm>
            <a:off x="566928" y="3850849"/>
            <a:ext cx="5781751" cy="1292037"/>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850849"/>
            <a:ext cx="45720" cy="1292037"/>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988009"/>
            <a:ext cx="5379415" cy="1017717"/>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Where we break it</a:t>
            </a:r>
          </a:p>
          <a:p>
            <a:pPr algn="l">
              <a:lnSpc>
                <a:spcPct val="110000"/>
              </a:lnSpc>
              <a:spcBef>
                <a:spcPts val="0"/>
              </a:spcBef>
              <a:spcAft>
                <a:spcPts val="0"/>
              </a:spcAft>
            </a:pPr>
            <a:r>
              <a:rPr sz="1150" b="0" i="0">
                <a:solidFill>
                  <a:srgbClr val="14262E"/>
                </a:solidFill>
                <a:latin typeface="Calibri"/>
              </a:rPr>
              <a:t>If this term's 30 marks in your subject are generously given and next term's are harsh, learners are being ranked against a ruler that keeps changing length. With the 30% now on a transcript, that is no longer just unfair — it is indefensible.</a:t>
            </a:r>
          </a:p>
        </p:txBody>
      </p:sp>
      <p:sp>
        <p:nvSpPr>
          <p:cNvPr id="18" name="Rounded Rectangle 17"/>
          <p:cNvSpPr/>
          <p:nvPr/>
        </p:nvSpPr>
        <p:spPr>
          <a:xfrm>
            <a:off x="566928" y="5252615"/>
            <a:ext cx="5781751" cy="1102464"/>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5252615"/>
            <a:ext cx="45720" cy="1102464"/>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5389775"/>
            <a:ext cx="5379415" cy="828144"/>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0B6E4F"/>
                </a:solidFill>
                <a:latin typeface="Trebuchet MS"/>
              </a:rPr>
              <a:t>How the manual says to fix it</a:t>
            </a:r>
          </a:p>
          <a:p>
            <a:pPr algn="l">
              <a:lnSpc>
                <a:spcPct val="110000"/>
              </a:lnSpc>
              <a:spcBef>
                <a:spcPts val="0"/>
              </a:spcBef>
              <a:spcAft>
                <a:spcPts val="0"/>
              </a:spcAft>
            </a:pPr>
            <a:r>
              <a:rPr sz="1150" b="0" i="0">
                <a:solidFill>
                  <a:srgbClr val="14262E"/>
                </a:solidFill>
                <a:latin typeface="Calibri"/>
              </a:rPr>
              <a:t>Clear learning outcomes · a colleague reviews your marking · more than one assessment method for the same outcome · proper marking schemes with weightings · rubrics given OUT before the task · a calm, suitable room.</a:t>
            </a:r>
          </a:p>
        </p:txBody>
      </p:sp>
      <p:sp>
        <p:nvSpPr>
          <p:cNvPr id="21" name="TextBox 20"/>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3 · Fairness and Ethics — An Equitable Chance</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Fairness is not treating everyone identically — it is giving everyone a real chance</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Assessment strategies should give learners an equitable opportunity to demonstrate what they know and can do, taking into account their ability, learning styles, gender and Special Educational Needs. It also means never assessing what you have not taught.</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A test question asks learners to explain the rules of cricket. A learner from a village that has never played cricket — and never seen it — cannot answer, and fails. That question did not measure physics. It measured cricket. Now swap it for a question about the physics of a loaded trotro braking at a junction, and every learner in the room has something to think with. Same physics. Same difficulty. Fair.</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C1440E"/>
                </a:solidFill>
                <a:latin typeface="Calibri"/>
              </a:rPr>
              <a:t>The manual's red flags:  </a:t>
            </a:r>
            <a:r>
              <a:rPr sz="1150" b="0" i="0">
                <a:solidFill>
                  <a:srgbClr val="5A6B72"/>
                </a:solidFill>
                <a:latin typeface="Calibri"/>
              </a:rPr>
              <a:t>culturally biased content  ·  unfamiliar words and examples  ·  assessing content you never taught  ·  failing to give SEN learners extra time or alternative formats.</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4 · Transparency — No Secret Exams</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If learners have to guess what you want, you have already made it harder than it needs to be</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Making the assessment process and criteria clear and understandable to learners. They should know what is being judged, how it is judged, and what counts as a pass.</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Two teachers set the same project. The first teacher says “do the project, I will mark it” — and the learners spend the week guessing. The second teacher hands out the rubric on day one: what is expected, the marks for each part, what a top answer looks like. Both teachers mark with the same rubric. The second class almost always scores higher — not because they worked harder, but because they knew where to aim. Assessment should not be a guessing game you are the referee of.</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0B6E4F"/>
                </a:solidFill>
                <a:latin typeface="Calibri"/>
              </a:rPr>
              <a:t>Transparency also requires you to:  </a:t>
            </a:r>
            <a:r>
              <a:rPr sz="1150" b="0" i="0">
                <a:solidFill>
                  <a:srgbClr val="5A6B72"/>
                </a:solidFill>
                <a:latin typeface="Calibri"/>
              </a:rPr>
              <a:t>share the learning outcomes being assessed  ·  tell learners the pass mark  ·  share results openly with learners and parents/guardians  ·  give learners a route to seek review and redress if they disagree with a score.</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5 · Inclusivity — Fair and Accessible to ALL</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Not an extra duty. It is a standing requirement of the framework</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Creating assessment practices that are fair and accessible to every learner — regardless of gender, disability, poverty, background or learning difference. The framework names three lenses you must apply: GESI, SEL and SEN.</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A learner with low vision in your class cannot read an ordinary small-print paper — but they understand the work perfectly. A learner who is hard of hearing misses the spoken instructions you gave once, quickly, at the front. A learner who is dyslexic knows the science but loses marks to their handwriting. In all three cases we did not measure their learning. We measured their eyes, their ears and their handwriting. Inclusivity means removing that barrier so the mark reflects the learning.</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0B6E4F"/>
                </a:solidFill>
                <a:latin typeface="Calibri"/>
              </a:rPr>
              <a:t>GESI</a:t>
            </a:r>
            <a:r>
              <a:rPr sz="1150" b="0" i="0">
                <a:solidFill>
                  <a:srgbClr val="5A6B72"/>
                </a:solidFill>
                <a:latin typeface="Calibri"/>
              </a:rPr>
              <a:t> = Gender Equality and Social Inclusion.   </a:t>
            </a:r>
            <a:r>
              <a:rPr sz="1150" b="1" i="0">
                <a:solidFill>
                  <a:srgbClr val="0B6E4F"/>
                </a:solidFill>
                <a:latin typeface="Calibri"/>
              </a:rPr>
              <a:t>SEL</a:t>
            </a:r>
            <a:r>
              <a:rPr sz="1150" b="0" i="0">
                <a:solidFill>
                  <a:srgbClr val="5A6B72"/>
                </a:solidFill>
                <a:latin typeface="Calibri"/>
              </a:rPr>
              <a:t> = Socio-Emotional Learning.   </a:t>
            </a:r>
            <a:r>
              <a:rPr sz="1150" b="1" i="0">
                <a:solidFill>
                  <a:srgbClr val="0B6E4F"/>
                </a:solidFill>
                <a:latin typeface="Calibri"/>
              </a:rPr>
              <a:t>SEN</a:t>
            </a:r>
            <a:r>
              <a:rPr sz="1150" b="0" i="0">
                <a:solidFill>
                  <a:srgbClr val="5A6B72"/>
                </a:solidFill>
                <a:latin typeface="Calibri"/>
              </a:rPr>
              <a:t> = Special Educational Needs.</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6 · Practicability — Can You Actually Do It?</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pillar that kills the most beautiful assessment plans</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The assessment must be feasible, convenient, efficient and successful with the real resources you have — your actual class size, your actual timetable, your actual materials.</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You design a wonderful one-hour one-on-one oral assessment for your Government class. It is rigorous. It is valid. It is inclusive. It is also completely impossible with 60 learners — and by Thursday it will have collapsed into chaos, you will be three weeks behind, and you will abandon it. The plan failed not because it was bad, but because it was not practicable. A good assessment is one you can still run in week eight, when you are tired and the term is crowded.</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C1440E"/>
                </a:solidFill>
                <a:latin typeface="Calibri"/>
              </a:rPr>
              <a:t>The three practicability questions:  </a:t>
            </a:r>
            <a:r>
              <a:rPr sz="1150" b="0" i="0">
                <a:solidFill>
                  <a:srgbClr val="5A6B72"/>
                </a:solidFill>
                <a:latin typeface="Calibri"/>
              </a:rPr>
              <a:t>Do I have the materials and the security?  ·  Does this format suit my class size and their level?  ·  Do I have the TIME to set it, mark it, AND give constructive feedback?</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7 · Assessment Utility — Is It Actually Useful?</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question that separates data collection from real assessment</a:t>
            </a:r>
          </a:p>
        </p:txBody>
      </p:sp>
      <p:sp>
        <p:nvSpPr>
          <p:cNvPr id="6" name="Rounded Rectangle 5"/>
          <p:cNvSpPr/>
          <p:nvPr/>
        </p:nvSpPr>
        <p:spPr>
          <a:xfrm>
            <a:off x="566928" y="1389888"/>
            <a:ext cx="11057839" cy="1481328"/>
          </a:xfrm>
          <a:prstGeom prst="roundRect">
            <a:avLst>
              <a:gd name="adj" fmla="val 5000"/>
            </a:avLst>
          </a:prstGeom>
          <a:solidFill>
            <a:srgbClr val="E3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0292" cy="148132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 y="1554480"/>
            <a:ext cx="1485900" cy="274320"/>
          </a:xfrm>
          <a:prstGeom prst="roundRect">
            <a:avLst>
              <a:gd name="adj" fmla="val 45000"/>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50" b="1" i="0">
                <a:solidFill>
                  <a:srgbClr val="FFFFFF"/>
                </a:solidFill>
                <a:latin typeface="Trebuchet MS"/>
              </a:rPr>
              <a:t>PLAIN ENGLISH</a:t>
            </a:r>
          </a:p>
        </p:txBody>
      </p:sp>
      <p:sp>
        <p:nvSpPr>
          <p:cNvPr id="9" name="TextBox 8"/>
          <p:cNvSpPr txBox="1"/>
          <p:nvPr/>
        </p:nvSpPr>
        <p:spPr>
          <a:xfrm>
            <a:off x="804672" y="1947672"/>
            <a:ext cx="10509199" cy="86868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The assessment must be useful. It must give you and the learner information worth having, and that information must lead to action.</a:t>
            </a:r>
          </a:p>
        </p:txBody>
      </p:sp>
      <p:sp>
        <p:nvSpPr>
          <p:cNvPr id="10" name="Rounded Rectangle 9"/>
          <p:cNvSpPr/>
          <p:nvPr/>
        </p:nvSpPr>
        <p:spPr>
          <a:xfrm>
            <a:off x="566928" y="2999232"/>
            <a:ext cx="11057839" cy="2084831"/>
          </a:xfrm>
          <a:prstGeom prst="roundRect">
            <a:avLst>
              <a:gd name="adj" fmla="val 5000"/>
            </a:avLst>
          </a:prstGeom>
          <a:solidFill>
            <a:srgbClr val="FDF3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99232"/>
            <a:ext cx="50292" cy="208483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4672" y="3163824"/>
            <a:ext cx="1869948" cy="274320"/>
          </a:xfrm>
          <a:prstGeom prst="roundRect">
            <a:avLst>
              <a:gd name="adj" fmla="val 45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lnSpc>
                <a:spcPct val="100000"/>
              </a:lnSpc>
              <a:spcBef>
                <a:spcPts val="0"/>
              </a:spcBef>
              <a:spcAft>
                <a:spcPts val="0"/>
              </a:spcAft>
            </a:pPr>
            <a:r>
              <a:rPr sz="1000" b="1" i="0">
                <a:solidFill>
                  <a:srgbClr val="FFFFFF"/>
                </a:solidFill>
                <a:latin typeface="Trebuchet MS"/>
              </a:rPr>
              <a:t>CLASSROOM PICTURE</a:t>
            </a:r>
          </a:p>
        </p:txBody>
      </p:sp>
      <p:sp>
        <p:nvSpPr>
          <p:cNvPr id="13" name="TextBox 12"/>
          <p:cNvSpPr txBox="1"/>
          <p:nvPr/>
        </p:nvSpPr>
        <p:spPr>
          <a:xfrm>
            <a:off x="804672" y="3557016"/>
            <a:ext cx="10509199" cy="1463040"/>
          </a:xfrm>
          <a:prstGeom prst="rect">
            <a:avLst/>
          </a:prstGeom>
          <a:noFill/>
        </p:spPr>
        <p:txBody>
          <a:bodyPr wrap="square" lIns="0" rIns="0" tIns="0" bIns="0">
            <a:spAutoFit/>
          </a:bodyPr>
          <a:lstStyle/>
          <a:p>
            <a:pPr algn="l">
              <a:lnSpc>
                <a:spcPct val="116000"/>
              </a:lnSpc>
              <a:spcBef>
                <a:spcPts val="0"/>
              </a:spcBef>
              <a:spcAft>
                <a:spcPts val="0"/>
              </a:spcAft>
            </a:pPr>
            <a:r>
              <a:rPr sz="1350" b="0" i="0">
                <a:solidFill>
                  <a:srgbClr val="14262E"/>
                </a:solidFill>
                <a:latin typeface="Calibri"/>
              </a:rPr>
              <a:t>You set a class test. You mark it. You enter the scores in the mark book. You file the papers. Term ends. Now ask honestly: did anybody learn anything from that test? If the test did not change what you taught next, and did not change what the learner did next, then all that happened was data collection. Utility is the difference between a test that teaches and a test that merely records.</a:t>
            </a:r>
          </a:p>
        </p:txBody>
      </p:sp>
      <p:sp>
        <p:nvSpPr>
          <p:cNvPr id="14" name="TextBox 13"/>
          <p:cNvSpPr txBox="1"/>
          <p:nvPr/>
        </p:nvSpPr>
        <p:spPr>
          <a:xfrm>
            <a:off x="566928" y="5212080"/>
            <a:ext cx="11057839" cy="566928"/>
          </a:xfrm>
          <a:prstGeom prst="rect">
            <a:avLst/>
          </a:prstGeom>
          <a:noFill/>
        </p:spPr>
        <p:txBody>
          <a:bodyPr wrap="square" lIns="0" rIns="0" tIns="0" bIns="0">
            <a:spAutoFit/>
          </a:bodyPr>
          <a:lstStyle/>
          <a:p>
            <a:pPr algn="l">
              <a:lnSpc>
                <a:spcPct val="112000"/>
              </a:lnSpc>
              <a:spcBef>
                <a:spcPts val="0"/>
              </a:spcBef>
              <a:spcAft>
                <a:spcPts val="600"/>
              </a:spcAft>
            </a:pPr>
            <a:r>
              <a:rPr sz="1150" b="1" i="0">
                <a:solidFill>
                  <a:srgbClr val="0B6E4F"/>
                </a:solidFill>
                <a:latin typeface="Calibri"/>
              </a:rPr>
              <a:t>Utility in practice:  </a:t>
            </a:r>
            <a:r>
              <a:rPr sz="1150" b="0" i="0">
                <a:solidFill>
                  <a:srgbClr val="5A6B72"/>
                </a:solidFill>
                <a:latin typeface="Calibri"/>
              </a:rPr>
              <a:t>state the intended use of the result up front  ·  produce credible information for learners and parents  ·  give constructive feedback  ·  and then ACT on it — re-teach, regroup, intervene, adapt.</a:t>
            </a:r>
          </a:p>
        </p:txBody>
      </p:sp>
      <p:sp>
        <p:nvSpPr>
          <p:cNvPr id="15" name="TextBox 1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rubric_card.jpg"/>
          <p:cNvPicPr>
            <a:picLocks noChangeAspect="1"/>
          </p:cNvPicPr>
          <p:nvPr/>
        </p:nvPicPr>
        <p:blipFill>
          <a:blip r:embed="rId2"/>
          <a:srcRect l="20371" r="20371"/>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SESSION 4</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20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Assessment Strategies
Across Levels</a:t>
            </a:r>
          </a:p>
          <a:p>
            <a:pPr algn="l">
              <a:lnSpc>
                <a:spcPct val="115000"/>
              </a:lnSpc>
              <a:spcBef>
                <a:spcPts val="0"/>
              </a:spcBef>
              <a:spcAft>
                <a:spcPts val="0"/>
              </a:spcAft>
            </a:pPr>
            <a:r>
              <a:rPr sz="1300" b="0" i="0">
                <a:solidFill>
                  <a:srgbClr val="C6DBD3"/>
                </a:solidFill>
                <a:latin typeface="Calibri"/>
              </a:rPr>
              <a:t>Choosing the right tool — and matching it to your learners.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Choosing a Strategy — Match the Tool to the Job</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most common mistake is using a test for everything</a:t>
            </a:r>
          </a:p>
        </p:txBody>
      </p:sp>
      <p:pic>
        <p:nvPicPr>
          <p:cNvPr id="6" name="Picture 5" descr="09_plan_journey.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Start with what learners must do, then pick the tool.</a:t>
            </a:r>
          </a:p>
        </p:txBody>
      </p:sp>
      <p:sp>
        <p:nvSpPr>
          <p:cNvPr id="9" name="Rounded Rectangle 8"/>
          <p:cNvSpPr/>
          <p:nvPr/>
        </p:nvSpPr>
        <p:spPr>
          <a:xfrm>
            <a:off x="566928" y="1426464"/>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Start with the outcome, not the tool</a:t>
            </a:r>
          </a:p>
          <a:p>
            <a:pPr algn="l">
              <a:lnSpc>
                <a:spcPct val="110000"/>
              </a:lnSpc>
              <a:spcBef>
                <a:spcPts val="0"/>
              </a:spcBef>
              <a:spcAft>
                <a:spcPts val="0"/>
              </a:spcAft>
            </a:pPr>
            <a:r>
              <a:rPr sz="1000" b="0" i="0">
                <a:solidFill>
                  <a:srgbClr val="14262E"/>
                </a:solidFill>
                <a:latin typeface="Calibri"/>
              </a:rPr>
              <a:t>Ask first: what should the learner be able to DO? Then choose the method that lets them show it. If the outcome is “dismantle and reassemble”, a written test cannot show it.</a:t>
            </a:r>
          </a:p>
        </p:txBody>
      </p:sp>
      <p:sp>
        <p:nvSpPr>
          <p:cNvPr id="12" name="Rounded Rectangle 11"/>
          <p:cNvSpPr/>
          <p:nvPr/>
        </p:nvSpPr>
        <p:spPr>
          <a:xfrm>
            <a:off x="566928" y="2533040"/>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533040"/>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670200"/>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Three families of strategy</a:t>
            </a:r>
          </a:p>
          <a:p>
            <a:pPr algn="l">
              <a:lnSpc>
                <a:spcPct val="110000"/>
              </a:lnSpc>
              <a:spcBef>
                <a:spcPts val="0"/>
              </a:spcBef>
              <a:spcAft>
                <a:spcPts val="0"/>
              </a:spcAft>
            </a:pPr>
            <a:r>
              <a:rPr sz="1000" b="0" i="0">
                <a:solidFill>
                  <a:srgbClr val="14262E"/>
                </a:solidFill>
                <a:latin typeface="Calibri"/>
              </a:rPr>
              <a:t>INFORMAL (questions, observation, exit cards) for quick in-lesson checks. FORMAL WRITTEN (tests, essays, MCQs) for recording. PERFORMANCE (projects, practicals, portfolios, debates) for real application.</a:t>
            </a:r>
          </a:p>
        </p:txBody>
      </p:sp>
      <p:sp>
        <p:nvSpPr>
          <p:cNvPr id="15" name="Rounded Rectangle 14"/>
          <p:cNvSpPr/>
          <p:nvPr/>
        </p:nvSpPr>
        <p:spPr>
          <a:xfrm>
            <a:off x="566928" y="3639616"/>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639616"/>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776776"/>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Vary your methods deliberately</a:t>
            </a:r>
          </a:p>
          <a:p>
            <a:pPr algn="l">
              <a:lnSpc>
                <a:spcPct val="110000"/>
              </a:lnSpc>
              <a:spcBef>
                <a:spcPts val="0"/>
              </a:spcBef>
              <a:spcAft>
                <a:spcPts val="0"/>
              </a:spcAft>
            </a:pPr>
            <a:r>
              <a:rPr sz="1000" b="0" i="0">
                <a:solidFill>
                  <a:srgbClr val="14262E"/>
                </a:solidFill>
                <a:latin typeface="Calibri"/>
              </a:rPr>
              <a:t>The manual requires a variety of assessment methods. If all your methods are written tests, you are assessing recall and missing everything else — and your 30% is thin.</a:t>
            </a:r>
          </a:p>
        </p:txBody>
      </p:sp>
      <p:sp>
        <p:nvSpPr>
          <p:cNvPr id="18" name="Rounded Rectangle 17"/>
          <p:cNvSpPr/>
          <p:nvPr/>
        </p:nvSpPr>
        <p:spPr>
          <a:xfrm>
            <a:off x="566928" y="458134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58134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71850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Match the level, not the label</a:t>
            </a:r>
          </a:p>
          <a:p>
            <a:pPr algn="l">
              <a:lnSpc>
                <a:spcPct val="110000"/>
              </a:lnSpc>
              <a:spcBef>
                <a:spcPts val="0"/>
              </a:spcBef>
              <a:spcAft>
                <a:spcPts val="0"/>
              </a:spcAft>
            </a:pPr>
            <a:r>
              <a:rPr sz="1000" b="0" i="0">
                <a:solidFill>
                  <a:srgbClr val="14262E"/>
                </a:solidFill>
                <a:latin typeface="Calibri"/>
              </a:rPr>
              <a:t>The same strategy pitches differently at SHS 1, 2 and 3. Scaffold heavily in Form 1; expect independence by Form 3. We will work through this shortly.</a:t>
            </a:r>
          </a:p>
        </p:txBody>
      </p:sp>
      <p:sp>
        <p:nvSpPr>
          <p:cNvPr id="21" name="Rounded Rectangle 20"/>
          <p:cNvSpPr/>
          <p:nvPr/>
        </p:nvSpPr>
        <p:spPr>
          <a:xfrm>
            <a:off x="566928" y="552307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52307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023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Check the seven pillars before you commit</a:t>
            </a:r>
          </a:p>
          <a:p>
            <a:pPr algn="l">
              <a:lnSpc>
                <a:spcPct val="110000"/>
              </a:lnSpc>
              <a:spcBef>
                <a:spcPts val="0"/>
              </a:spcBef>
              <a:spcAft>
                <a:spcPts val="0"/>
              </a:spcAft>
            </a:pPr>
            <a:r>
              <a:rPr sz="1000" b="0" i="0">
                <a:solidFill>
                  <a:srgbClr val="14262E"/>
                </a:solidFill>
                <a:latin typeface="Calibri"/>
              </a:rPr>
              <a:t>Will it measure the right thing (validity)? Can you mark it consistently (reliability)? Can you actually run it in week eight (practicability)?</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Depth of Knowledge — The Staircase of Thinking</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How DEEP is the thinking? Not how difficult the words look.</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DoK stands for Depth of Knowledge. It is a ladder, not a difficulty rating — the words can stay simple while the thinking goes deep.</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81381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Level</a:t>
            </a:r>
          </a:p>
        </p:txBody>
      </p:sp>
      <p:sp>
        <p:nvSpPr>
          <p:cNvPr id="9" name="TextBox 8"/>
          <p:cNvSpPr txBox="1"/>
          <p:nvPr/>
        </p:nvSpPr>
        <p:spPr>
          <a:xfrm>
            <a:off x="1737360" y="1947672"/>
            <a:ext cx="163677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Name</a:t>
            </a:r>
          </a:p>
        </p:txBody>
      </p:sp>
      <p:sp>
        <p:nvSpPr>
          <p:cNvPr id="10" name="TextBox 9"/>
          <p:cNvSpPr txBox="1"/>
          <p:nvPr/>
        </p:nvSpPr>
        <p:spPr>
          <a:xfrm>
            <a:off x="3611879" y="1947672"/>
            <a:ext cx="30083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Plain English</a:t>
            </a:r>
          </a:p>
        </p:txBody>
      </p:sp>
      <p:sp>
        <p:nvSpPr>
          <p:cNvPr id="11" name="TextBox 10"/>
          <p:cNvSpPr txBox="1"/>
          <p:nvPr/>
        </p:nvSpPr>
        <p:spPr>
          <a:xfrm>
            <a:off x="6857999" y="1947672"/>
            <a:ext cx="464515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SHS example — Social Studies</a:t>
            </a:r>
          </a:p>
        </p:txBody>
      </p:sp>
      <p:sp>
        <p:nvSpPr>
          <p:cNvPr id="12" name="Rectangle 11"/>
          <p:cNvSpPr/>
          <p:nvPr/>
        </p:nvSpPr>
        <p:spPr>
          <a:xfrm>
            <a:off x="566928" y="2249424"/>
            <a:ext cx="11057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13432"/>
            <a:ext cx="813815" cy="62179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DoK 1</a:t>
            </a:r>
          </a:p>
        </p:txBody>
      </p:sp>
      <p:sp>
        <p:nvSpPr>
          <p:cNvPr id="14" name="TextBox 13"/>
          <p:cNvSpPr txBox="1"/>
          <p:nvPr/>
        </p:nvSpPr>
        <p:spPr>
          <a:xfrm>
            <a:off x="1737360" y="2313432"/>
            <a:ext cx="1636775"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Recall / Reproduction</a:t>
            </a:r>
          </a:p>
        </p:txBody>
      </p:sp>
      <p:sp>
        <p:nvSpPr>
          <p:cNvPr id="15" name="TextBox 14"/>
          <p:cNvSpPr txBox="1"/>
          <p:nvPr/>
        </p:nvSpPr>
        <p:spPr>
          <a:xfrm>
            <a:off x="3611879" y="2313432"/>
            <a:ext cx="3008376"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Give back a fact you were taught.</a:t>
            </a:r>
          </a:p>
        </p:txBody>
      </p:sp>
      <p:sp>
        <p:nvSpPr>
          <p:cNvPr id="16" name="TextBox 15"/>
          <p:cNvSpPr txBox="1"/>
          <p:nvPr/>
        </p:nvSpPr>
        <p:spPr>
          <a:xfrm>
            <a:off x="6857999" y="2313432"/>
            <a:ext cx="4645152"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“State three causes of climate change.”</a:t>
            </a:r>
          </a:p>
        </p:txBody>
      </p:sp>
      <p:sp>
        <p:nvSpPr>
          <p:cNvPr id="17" name="Rectangle 16"/>
          <p:cNvSpPr/>
          <p:nvPr/>
        </p:nvSpPr>
        <p:spPr>
          <a:xfrm>
            <a:off x="566928" y="2962656"/>
            <a:ext cx="11057839" cy="71323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26664"/>
            <a:ext cx="813815" cy="62179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DoK 2</a:t>
            </a:r>
          </a:p>
        </p:txBody>
      </p:sp>
      <p:sp>
        <p:nvSpPr>
          <p:cNvPr id="19" name="TextBox 18"/>
          <p:cNvSpPr txBox="1"/>
          <p:nvPr/>
        </p:nvSpPr>
        <p:spPr>
          <a:xfrm>
            <a:off x="1737360" y="3026664"/>
            <a:ext cx="1636775"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Skills and Concepts</a:t>
            </a:r>
          </a:p>
        </p:txBody>
      </p:sp>
      <p:sp>
        <p:nvSpPr>
          <p:cNvPr id="20" name="TextBox 19"/>
          <p:cNvSpPr txBox="1"/>
          <p:nvPr/>
        </p:nvSpPr>
        <p:spPr>
          <a:xfrm>
            <a:off x="3611879" y="3026664"/>
            <a:ext cx="3008376"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Use your knowledge in a familiar routine.</a:t>
            </a:r>
          </a:p>
        </p:txBody>
      </p:sp>
      <p:sp>
        <p:nvSpPr>
          <p:cNvPr id="21" name="TextBox 20"/>
          <p:cNvSpPr txBox="1"/>
          <p:nvPr/>
        </p:nvSpPr>
        <p:spPr>
          <a:xfrm>
            <a:off x="6857999" y="3026664"/>
            <a:ext cx="4645152"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“Explain how the greenhouse effect works, using a diagram.”</a:t>
            </a:r>
          </a:p>
        </p:txBody>
      </p:sp>
      <p:sp>
        <p:nvSpPr>
          <p:cNvPr id="22" name="Rectangle 21"/>
          <p:cNvSpPr/>
          <p:nvPr/>
        </p:nvSpPr>
        <p:spPr>
          <a:xfrm>
            <a:off x="566928" y="3675888"/>
            <a:ext cx="11057839"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39896"/>
            <a:ext cx="813815" cy="62179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DoK 3</a:t>
            </a:r>
          </a:p>
        </p:txBody>
      </p:sp>
      <p:sp>
        <p:nvSpPr>
          <p:cNvPr id="24" name="TextBox 23"/>
          <p:cNvSpPr txBox="1"/>
          <p:nvPr/>
        </p:nvSpPr>
        <p:spPr>
          <a:xfrm>
            <a:off x="1737360" y="3739896"/>
            <a:ext cx="1636775"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Strategic Thinking</a:t>
            </a:r>
          </a:p>
        </p:txBody>
      </p:sp>
      <p:sp>
        <p:nvSpPr>
          <p:cNvPr id="25" name="TextBox 24"/>
          <p:cNvSpPr txBox="1"/>
          <p:nvPr/>
        </p:nvSpPr>
        <p:spPr>
          <a:xfrm>
            <a:off x="3611879" y="3739896"/>
            <a:ext cx="3008376"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Reason, justify, plan. There is more than one route to the answer.</a:t>
            </a:r>
          </a:p>
        </p:txBody>
      </p:sp>
      <p:sp>
        <p:nvSpPr>
          <p:cNvPr id="26" name="TextBox 25"/>
          <p:cNvSpPr txBox="1"/>
          <p:nvPr/>
        </p:nvSpPr>
        <p:spPr>
          <a:xfrm>
            <a:off x="6857999" y="3739896"/>
            <a:ext cx="4645152"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 cocoa farmer's yield is falling. Using the data given, diagnose the likely cause and justify your answer.”</a:t>
            </a:r>
          </a:p>
        </p:txBody>
      </p:sp>
      <p:sp>
        <p:nvSpPr>
          <p:cNvPr id="27" name="Rectangle 26"/>
          <p:cNvSpPr/>
          <p:nvPr/>
        </p:nvSpPr>
        <p:spPr>
          <a:xfrm>
            <a:off x="566928" y="4389120"/>
            <a:ext cx="11057839" cy="71323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453128"/>
            <a:ext cx="813815" cy="62179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DoK 4</a:t>
            </a:r>
          </a:p>
        </p:txBody>
      </p:sp>
      <p:sp>
        <p:nvSpPr>
          <p:cNvPr id="29" name="TextBox 28"/>
          <p:cNvSpPr txBox="1"/>
          <p:nvPr/>
        </p:nvSpPr>
        <p:spPr>
          <a:xfrm>
            <a:off x="1737360" y="4453128"/>
            <a:ext cx="1636775"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Extended Thinking</a:t>
            </a:r>
          </a:p>
        </p:txBody>
      </p:sp>
      <p:sp>
        <p:nvSpPr>
          <p:cNvPr id="30" name="TextBox 29"/>
          <p:cNvSpPr txBox="1"/>
          <p:nvPr/>
        </p:nvSpPr>
        <p:spPr>
          <a:xfrm>
            <a:off x="3611879" y="4453128"/>
            <a:ext cx="3008376"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Investigate over time, combine ideas, produce something original.</a:t>
            </a:r>
          </a:p>
        </p:txBody>
      </p:sp>
      <p:sp>
        <p:nvSpPr>
          <p:cNvPr id="31" name="TextBox 30"/>
          <p:cNvSpPr txBox="1"/>
          <p:nvPr/>
        </p:nvSpPr>
        <p:spPr>
          <a:xfrm>
            <a:off x="6857999" y="4453128"/>
            <a:ext cx="4645152" cy="62179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“Conduct a week-long survey in your community on waste disposal and present recommendations to the school assembly.”</a:t>
            </a:r>
          </a:p>
        </p:txBody>
      </p:sp>
      <p:sp>
        <p:nvSpPr>
          <p:cNvPr id="32" name="TextBox 31"/>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Portfolio — The Learner's Own Story</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Not a folder of everything. A chosen collection, with reflection.</a:t>
            </a:r>
          </a:p>
        </p:txBody>
      </p:sp>
      <p:pic>
        <p:nvPicPr>
          <p:cNvPr id="6" name="Picture 5" descr="15_portfolio.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Curated, with reflection — otherwise it is just a folder.</a:t>
            </a:r>
          </a:p>
        </p:txBody>
      </p:sp>
      <p:sp>
        <p:nvSpPr>
          <p:cNvPr id="9" name="Rounded Rectangle 8"/>
          <p:cNvSpPr/>
          <p:nvPr/>
        </p:nvSpPr>
        <p:spPr>
          <a:xfrm>
            <a:off x="566928" y="1426464"/>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Plain English</a:t>
            </a:r>
          </a:p>
          <a:p>
            <a:pPr algn="l">
              <a:lnSpc>
                <a:spcPct val="110000"/>
              </a:lnSpc>
              <a:spcBef>
                <a:spcPts val="0"/>
              </a:spcBef>
              <a:spcAft>
                <a:spcPts val="0"/>
              </a:spcAft>
            </a:pPr>
            <a:r>
              <a:rPr sz="1000" b="0" i="0">
                <a:solidFill>
                  <a:srgbClr val="14262E"/>
                </a:solidFill>
                <a:latin typeface="Calibri"/>
              </a:rPr>
              <a:t>A carefully chosen collection of a learner's work across time, showing progress towards the learning outcomes. Formative as it grows, summative when a rubric is applied at the end.</a:t>
            </a:r>
          </a:p>
        </p:txBody>
      </p:sp>
      <p:sp>
        <p:nvSpPr>
          <p:cNvPr id="12" name="Rounded Rectangle 11"/>
          <p:cNvSpPr/>
          <p:nvPr/>
        </p:nvSpPr>
        <p:spPr>
          <a:xfrm>
            <a:off x="566928" y="2533040"/>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533040"/>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670200"/>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The classroom picture</a:t>
            </a:r>
          </a:p>
          <a:p>
            <a:pPr algn="l">
              <a:lnSpc>
                <a:spcPct val="110000"/>
              </a:lnSpc>
              <a:spcBef>
                <a:spcPts val="0"/>
              </a:spcBef>
              <a:spcAft>
                <a:spcPts val="0"/>
              </a:spcAft>
            </a:pPr>
            <a:r>
              <a:rPr sz="1000" b="0" i="0">
                <a:solidFill>
                  <a:srgbClr val="14262E"/>
                </a:solidFill>
                <a:latin typeface="Calibri"/>
              </a:rPr>
              <a:t>Two things separate a real portfolio from a pile of papers. First it is CURATED — the learner chooses what goes in, and learns by choosing. Second it carries REFLECTION — beside each piece, a short note: “I chose this because…” and “next time I would…”.</a:t>
            </a:r>
          </a:p>
        </p:txBody>
      </p:sp>
      <p:sp>
        <p:nvSpPr>
          <p:cNvPr id="15" name="Rounded Rectangle 14"/>
          <p:cNvSpPr/>
          <p:nvPr/>
        </p:nvSpPr>
        <p:spPr>
          <a:xfrm>
            <a:off x="566928" y="3639616"/>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639616"/>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776776"/>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Why it is worth the effort</a:t>
            </a:r>
          </a:p>
          <a:p>
            <a:pPr algn="l">
              <a:lnSpc>
                <a:spcPct val="110000"/>
              </a:lnSpc>
              <a:spcBef>
                <a:spcPts val="0"/>
              </a:spcBef>
              <a:spcAft>
                <a:spcPts val="0"/>
              </a:spcAft>
            </a:pPr>
            <a:r>
              <a:rPr sz="1000" b="0" i="0">
                <a:solidFill>
                  <a:srgbClr val="14262E"/>
                </a:solidFill>
                <a:latin typeface="Calibri"/>
              </a:rPr>
              <a:t>It is the clearest evidence you will ever have of progress over time — and it is pure Assessment as Learning. The learner is judging their own growth, with evidence.</a:t>
            </a:r>
          </a:p>
        </p:txBody>
      </p:sp>
      <p:sp>
        <p:nvSpPr>
          <p:cNvPr id="18" name="Rounded Rectangle 17"/>
          <p:cNvSpPr/>
          <p:nvPr/>
        </p:nvSpPr>
        <p:spPr>
          <a:xfrm>
            <a:off x="566928" y="458134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58134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71850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The rule that saves your evenings</a:t>
            </a:r>
          </a:p>
          <a:p>
            <a:pPr algn="l">
              <a:lnSpc>
                <a:spcPct val="110000"/>
              </a:lnSpc>
              <a:spcBef>
                <a:spcPts val="0"/>
              </a:spcBef>
              <a:spcAft>
                <a:spcPts val="0"/>
              </a:spcAft>
            </a:pPr>
            <a:r>
              <a:rPr sz="1000" b="0" i="0">
                <a:solidFill>
                  <a:srgbClr val="14262E"/>
                </a:solidFill>
                <a:latin typeface="Calibri"/>
              </a:rPr>
              <a:t>You do not mark every piece. You mark the REFLECTIONS and the final selection. That is where the thinking is visible.</a:t>
            </a:r>
          </a:p>
        </p:txBody>
      </p:sp>
      <p:sp>
        <p:nvSpPr>
          <p:cNvPr id="21" name="Rounded Rectangle 20"/>
          <p:cNvSpPr/>
          <p:nvPr/>
        </p:nvSpPr>
        <p:spPr>
          <a:xfrm>
            <a:off x="566928" y="552307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52307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023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Where the manual helps</a:t>
            </a:r>
          </a:p>
          <a:p>
            <a:pPr algn="l">
              <a:lnSpc>
                <a:spcPct val="110000"/>
              </a:lnSpc>
              <a:spcBef>
                <a:spcPts val="0"/>
              </a:spcBef>
              <a:spcAft>
                <a:spcPts val="0"/>
              </a:spcAft>
            </a:pPr>
            <a:r>
              <a:rPr sz="1000" b="0" i="0">
                <a:solidFill>
                  <a:srgbClr val="14262E"/>
                </a:solidFill>
                <a:latin typeface="Calibri"/>
              </a:rPr>
              <a:t>Appendix C.1 gives worked portfolio exemplars for Science and Mathematics, including the rubric. You do not have to invent it.</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Debate — Thinking Out Loud</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A strategy that assesses reasoning, not just recall</a:t>
            </a:r>
          </a:p>
        </p:txBody>
      </p:sp>
      <p:pic>
        <p:nvPicPr>
          <p:cNvPr id="6" name="Picture 5" descr="16_debate.jpg"/>
          <p:cNvPicPr>
            <a:picLocks noChangeAspect="1"/>
          </p:cNvPicPr>
          <p:nvPr/>
        </p:nvPicPr>
        <p:blipFill>
          <a:blip r:embed="rId2"/>
          <a:srcRect l="15033" r="15033"/>
          <a:stretch>
            <a:fillRect/>
          </a:stretch>
        </p:blipFill>
        <p:spPr>
          <a:xfrm>
            <a:off x="566928" y="1417320"/>
            <a:ext cx="4892040" cy="4663440"/>
          </a:xfrm>
          <a:prstGeom prst="rect">
            <a:avLst/>
          </a:prstGeom>
        </p:spPr>
      </p:pic>
      <p:sp>
        <p:nvSpPr>
          <p:cNvPr id="7" name="Rectangle 6"/>
          <p:cNvSpPr/>
          <p:nvPr/>
        </p:nvSpPr>
        <p:spPr>
          <a:xfrm>
            <a:off x="566928" y="1417320"/>
            <a:ext cx="4892040" cy="594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Assessing the reasoning, not the volume.</a:t>
            </a:r>
          </a:p>
        </p:txBody>
      </p:sp>
      <p:sp>
        <p:nvSpPr>
          <p:cNvPr id="9" name="Rounded Rectangle 8"/>
          <p:cNvSpPr/>
          <p:nvPr/>
        </p:nvSpPr>
        <p:spPr>
          <a:xfrm>
            <a:off x="5843016" y="1426464"/>
            <a:ext cx="5781751"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3016" y="1426464"/>
            <a:ext cx="45720" cy="114985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44183" y="1563624"/>
            <a:ext cx="5379415" cy="875538"/>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Plain English</a:t>
            </a:r>
          </a:p>
          <a:p>
            <a:pPr algn="l">
              <a:lnSpc>
                <a:spcPct val="110000"/>
              </a:lnSpc>
              <a:spcBef>
                <a:spcPts val="0"/>
              </a:spcBef>
              <a:spcAft>
                <a:spcPts val="0"/>
              </a:spcAft>
            </a:pPr>
            <a:r>
              <a:rPr sz="1150" b="0" i="0">
                <a:solidFill>
                  <a:srgbClr val="14262E"/>
                </a:solidFill>
                <a:latin typeface="Calibri"/>
              </a:rPr>
              <a:t>Learners take a position on an issue, argue it with evidence, and respond to the opposing case. You assess the quality of the thinking, not just the conclusion.</a:t>
            </a:r>
          </a:p>
        </p:txBody>
      </p:sp>
      <p:sp>
        <p:nvSpPr>
          <p:cNvPr id="12" name="Rounded Rectangle 11"/>
          <p:cNvSpPr/>
          <p:nvPr/>
        </p:nvSpPr>
        <p:spPr>
          <a:xfrm>
            <a:off x="5843016" y="2686050"/>
            <a:ext cx="5781751"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43016" y="2686050"/>
            <a:ext cx="45720" cy="114985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44183" y="2823210"/>
            <a:ext cx="5379415" cy="875538"/>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The classroom picture</a:t>
            </a:r>
          </a:p>
          <a:p>
            <a:pPr algn="l">
              <a:lnSpc>
                <a:spcPct val="110000"/>
              </a:lnSpc>
              <a:spcBef>
                <a:spcPts val="0"/>
              </a:spcBef>
              <a:spcAft>
                <a:spcPts val="0"/>
              </a:spcAft>
            </a:pPr>
            <a:r>
              <a:rPr sz="1150" b="0" i="0">
                <a:solidFill>
                  <a:srgbClr val="14262E"/>
                </a:solidFill>
                <a:latin typeface="Calibri"/>
              </a:rPr>
              <a:t>A Government class debates: “Should Ghana raise the minimum wage?” Half the room argues for it, half against. The Economics or English teacher uses the same format for their own content.</a:t>
            </a:r>
          </a:p>
        </p:txBody>
      </p:sp>
      <p:sp>
        <p:nvSpPr>
          <p:cNvPr id="15" name="Rounded Rectangle 14"/>
          <p:cNvSpPr/>
          <p:nvPr/>
        </p:nvSpPr>
        <p:spPr>
          <a:xfrm>
            <a:off x="5843016" y="3945635"/>
            <a:ext cx="5781751"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3016" y="3945635"/>
            <a:ext cx="45720" cy="114985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44183" y="4082796"/>
            <a:ext cx="5379415" cy="875538"/>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What you are actually assessing</a:t>
            </a:r>
          </a:p>
          <a:p>
            <a:pPr algn="l">
              <a:lnSpc>
                <a:spcPct val="110000"/>
              </a:lnSpc>
              <a:spcBef>
                <a:spcPts val="0"/>
              </a:spcBef>
              <a:spcAft>
                <a:spcPts val="0"/>
              </a:spcAft>
            </a:pPr>
            <a:r>
              <a:rPr sz="1150" b="0" i="0">
                <a:solidFill>
                  <a:srgbClr val="14262E"/>
                </a:solidFill>
                <a:latin typeface="Calibri"/>
              </a:rPr>
              <a:t>Clarity of the argument  ·  use of evidence, not just opinion  ·  quality of rebuttal — do they answer the other side?  ·  listening  ·  respectful disagreement.</a:t>
            </a:r>
          </a:p>
        </p:txBody>
      </p:sp>
      <p:sp>
        <p:nvSpPr>
          <p:cNvPr id="18" name="Rounded Rectangle 17"/>
          <p:cNvSpPr/>
          <p:nvPr/>
        </p:nvSpPr>
        <p:spPr>
          <a:xfrm>
            <a:off x="5843016" y="5205221"/>
            <a:ext cx="5781751" cy="114985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43016" y="5205221"/>
            <a:ext cx="45720" cy="1149858"/>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44183" y="5342381"/>
            <a:ext cx="5379415" cy="875538"/>
          </a:xfrm>
          <a:prstGeom prst="rect">
            <a:avLst/>
          </a:prstGeom>
          <a:noFill/>
        </p:spPr>
        <p:txBody>
          <a:bodyPr wrap="square" lIns="0" rIns="0" tIns="0" bIns="0">
            <a:spAutoFit/>
          </a:bodyPr>
          <a:lstStyle/>
          <a:p>
            <a:pPr algn="l">
              <a:lnSpc>
                <a:spcPct val="100000"/>
              </a:lnSpc>
              <a:spcBef>
                <a:spcPts val="0"/>
              </a:spcBef>
              <a:spcAft>
                <a:spcPts val="300"/>
              </a:spcAft>
            </a:pPr>
            <a:r>
              <a:rPr sz="1250" b="1" i="0">
                <a:solidFill>
                  <a:srgbClr val="C1440E"/>
                </a:solidFill>
                <a:latin typeface="Trebuchet MS"/>
              </a:rPr>
              <a:t>The rule that makes it work</a:t>
            </a:r>
          </a:p>
          <a:p>
            <a:pPr algn="l">
              <a:lnSpc>
                <a:spcPct val="110000"/>
              </a:lnSpc>
              <a:spcBef>
                <a:spcPts val="0"/>
              </a:spcBef>
              <a:spcAft>
                <a:spcPts val="0"/>
              </a:spcAft>
            </a:pPr>
            <a:r>
              <a:rPr sz="1150" b="0" i="0">
                <a:solidFill>
                  <a:srgbClr val="14262E"/>
                </a:solidFill>
                <a:latin typeface="Calibri"/>
              </a:rPr>
              <a:t>Give the rubric BEFORE the debate, and give learners time to research. A debate sprung on them with no preparation assesses confidence, not competence — and it rewards the loudest voices.</a:t>
            </a:r>
          </a:p>
        </p:txBody>
      </p:sp>
      <p:sp>
        <p:nvSpPr>
          <p:cNvPr id="21" name="TextBox 20"/>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Practical and Performance — Doing It For Real</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manual calls it authentic assessment: it looks like real life</a:t>
            </a:r>
          </a:p>
        </p:txBody>
      </p:sp>
      <p:pic>
        <p:nvPicPr>
          <p:cNvPr id="6" name="Picture 5" descr="17_practical_lab.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You are judging the doing, not the writing about it.</a:t>
            </a:r>
          </a:p>
        </p:txBody>
      </p:sp>
      <p:sp>
        <p:nvSpPr>
          <p:cNvPr id="9" name="Rounded Rectangle 8"/>
          <p:cNvSpPr/>
          <p:nvPr/>
        </p:nvSpPr>
        <p:spPr>
          <a:xfrm>
            <a:off x="566928" y="1426464"/>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Plain English</a:t>
            </a:r>
          </a:p>
          <a:p>
            <a:pPr algn="l">
              <a:lnSpc>
                <a:spcPct val="110000"/>
              </a:lnSpc>
              <a:spcBef>
                <a:spcPts val="0"/>
              </a:spcBef>
              <a:spcAft>
                <a:spcPts val="0"/>
              </a:spcAft>
            </a:pPr>
            <a:r>
              <a:rPr sz="1000" b="0" i="0">
                <a:solidFill>
                  <a:srgbClr val="14262E"/>
                </a:solidFill>
                <a:latin typeface="Calibri"/>
              </a:rPr>
              <a:t>Learners demonstrate a skill in a real or simulated setting, and you judge the DOING — not just the writing about it.</a:t>
            </a:r>
          </a:p>
        </p:txBody>
      </p:sp>
      <p:sp>
        <p:nvSpPr>
          <p:cNvPr id="12" name="Rounded Rectangle 11"/>
          <p:cNvSpPr/>
          <p:nvPr/>
        </p:nvSpPr>
        <p:spPr>
          <a:xfrm>
            <a:off x="566928" y="2368194"/>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68194"/>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05354"/>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The classroom picture</a:t>
            </a:r>
          </a:p>
          <a:p>
            <a:pPr algn="l">
              <a:lnSpc>
                <a:spcPct val="110000"/>
              </a:lnSpc>
              <a:spcBef>
                <a:spcPts val="0"/>
              </a:spcBef>
              <a:spcAft>
                <a:spcPts val="0"/>
              </a:spcAft>
            </a:pPr>
            <a:r>
              <a:rPr sz="1000" b="0" i="0">
                <a:solidFill>
                  <a:srgbClr val="14262E"/>
                </a:solidFill>
                <a:latin typeface="Calibri"/>
              </a:rPr>
              <a:t>The Chemistry learner stands at the bench and titrates. The Technical Skills learner dismantles and reassembles an engine. The Visual Arts learner throws a pot. The Music learner performs. You are watching the skill, not reading about it.</a:t>
            </a:r>
          </a:p>
        </p:txBody>
      </p:sp>
      <p:sp>
        <p:nvSpPr>
          <p:cNvPr id="15" name="Rounded Rectangle 14"/>
          <p:cNvSpPr/>
          <p:nvPr/>
        </p:nvSpPr>
        <p:spPr>
          <a:xfrm>
            <a:off x="566928" y="3474770"/>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74770"/>
            <a:ext cx="45720" cy="996848"/>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611930"/>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What the teacher must do first</a:t>
            </a:r>
          </a:p>
          <a:p>
            <a:pPr algn="l">
              <a:lnSpc>
                <a:spcPct val="110000"/>
              </a:lnSpc>
              <a:spcBef>
                <a:spcPts val="0"/>
              </a:spcBef>
              <a:spcAft>
                <a:spcPts val="0"/>
              </a:spcAft>
            </a:pPr>
            <a:r>
              <a:rPr sz="1000" b="0" i="0">
                <a:solidFill>
                  <a:srgbClr val="14262E"/>
                </a:solidFill>
                <a:latin typeface="Calibri"/>
              </a:rPr>
              <a:t>Design a task requiring real application  ·  provide resources, guidance and support  ·  evaluate against PREDETERMINED criteria  ·  model the skill  ·  act as coach, not just examiner.</a:t>
            </a:r>
          </a:p>
        </p:txBody>
      </p:sp>
      <p:sp>
        <p:nvSpPr>
          <p:cNvPr id="18" name="Rounded Rectangle 17"/>
          <p:cNvSpPr/>
          <p:nvPr/>
        </p:nvSpPr>
        <p:spPr>
          <a:xfrm>
            <a:off x="566928" y="458134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58134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71850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Why the rubric matters most here</a:t>
            </a:r>
          </a:p>
          <a:p>
            <a:pPr algn="l">
              <a:lnSpc>
                <a:spcPct val="110000"/>
              </a:lnSpc>
              <a:spcBef>
                <a:spcPts val="0"/>
              </a:spcBef>
              <a:spcAft>
                <a:spcPts val="0"/>
              </a:spcAft>
            </a:pPr>
            <a:r>
              <a:rPr sz="1000" b="0" i="0">
                <a:solidFill>
                  <a:srgbClr val="14262E"/>
                </a:solidFill>
                <a:latin typeface="Calibri"/>
              </a:rPr>
              <a:t>In a practical, judgement happens live with no chance to re-read. Without a rubric written in advance you will mark the confident performer higher than the careful one.</a:t>
            </a:r>
          </a:p>
        </p:txBody>
      </p:sp>
      <p:sp>
        <p:nvSpPr>
          <p:cNvPr id="21" name="Rounded Rectangle 20"/>
          <p:cNvSpPr/>
          <p:nvPr/>
        </p:nvSpPr>
        <p:spPr>
          <a:xfrm>
            <a:off x="566928" y="552307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523077"/>
            <a:ext cx="45720" cy="83200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023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0B6E4F"/>
                </a:solidFill>
                <a:latin typeface="Trebuchet MS"/>
              </a:rPr>
              <a:t>No lab? Still possible</a:t>
            </a:r>
          </a:p>
          <a:p>
            <a:pPr algn="l">
              <a:lnSpc>
                <a:spcPct val="110000"/>
              </a:lnSpc>
              <a:spcBef>
                <a:spcPts val="0"/>
              </a:spcBef>
              <a:spcAft>
                <a:spcPts val="0"/>
              </a:spcAft>
            </a:pPr>
            <a:r>
              <a:rPr sz="1000" b="0" i="0">
                <a:solidFill>
                  <a:srgbClr val="14262E"/>
                </a:solidFill>
                <a:latin typeface="Calibri"/>
              </a:rPr>
              <a:t>The manual explicitly allows real OR simulated contexts. An improvised set-up still counts.</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Rubric — The Recipe Card</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single most useful document in your assessment toolkit</a:t>
            </a:r>
          </a:p>
        </p:txBody>
      </p:sp>
      <p:pic>
        <p:nvPicPr>
          <p:cNvPr id="6" name="Picture 5" descr="10_rubric_card.jpg"/>
          <p:cNvPicPr>
            <a:picLocks noChangeAspect="1"/>
          </p:cNvPicPr>
          <p:nvPr/>
        </p:nvPicPr>
        <p:blipFill>
          <a:blip r:embed="rId2"/>
          <a:srcRect l="15033" r="15033"/>
          <a:stretch>
            <a:fillRect/>
          </a:stretch>
        </p:blipFill>
        <p:spPr>
          <a:xfrm>
            <a:off x="566928" y="1417320"/>
            <a:ext cx="4892040" cy="4663440"/>
          </a:xfrm>
          <a:prstGeom prst="rect">
            <a:avLst/>
          </a:prstGeom>
        </p:spPr>
      </p:pic>
      <p:sp>
        <p:nvSpPr>
          <p:cNvPr id="7" name="Rectangle 6"/>
          <p:cNvSpPr/>
          <p:nvPr/>
        </p:nvSpPr>
        <p:spPr>
          <a:xfrm>
            <a:off x="566928" y="1417320"/>
            <a:ext cx="4892040" cy="5943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A recipe card with measurements, not guesses.</a:t>
            </a:r>
          </a:p>
        </p:txBody>
      </p:sp>
      <p:sp>
        <p:nvSpPr>
          <p:cNvPr id="9" name="Rounded Rectangle 8"/>
          <p:cNvSpPr/>
          <p:nvPr/>
        </p:nvSpPr>
        <p:spPr>
          <a:xfrm>
            <a:off x="5843016" y="1426464"/>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3016" y="1426464"/>
            <a:ext cx="45720" cy="863323"/>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44183" y="1563624"/>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F4B400"/>
                </a:solidFill>
                <a:latin typeface="Trebuchet MS"/>
              </a:rPr>
              <a:t>Plain English</a:t>
            </a:r>
          </a:p>
          <a:p>
            <a:pPr algn="l">
              <a:lnSpc>
                <a:spcPct val="110000"/>
              </a:lnSpc>
              <a:spcBef>
                <a:spcPts val="0"/>
              </a:spcBef>
              <a:spcAft>
                <a:spcPts val="0"/>
              </a:spcAft>
            </a:pPr>
            <a:r>
              <a:rPr sz="1050" b="0" i="0">
                <a:solidFill>
                  <a:srgbClr val="14262E"/>
                </a:solidFill>
                <a:latin typeface="Calibri"/>
              </a:rPr>
              <a:t>A table showing exactly what counts and how many marks each part is worth, at each level of quality.</a:t>
            </a:r>
          </a:p>
        </p:txBody>
      </p:sp>
      <p:sp>
        <p:nvSpPr>
          <p:cNvPr id="12" name="Rounded Rectangle 11"/>
          <p:cNvSpPr/>
          <p:nvPr/>
        </p:nvSpPr>
        <p:spPr>
          <a:xfrm>
            <a:off x="5843016" y="2399515"/>
            <a:ext cx="5781751" cy="1036411"/>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43016" y="2399515"/>
            <a:ext cx="45720" cy="1036411"/>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44183" y="2536675"/>
            <a:ext cx="5379415" cy="762091"/>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F4B400"/>
                </a:solidFill>
                <a:latin typeface="Trebuchet MS"/>
              </a:rPr>
              <a:t>The classroom picture</a:t>
            </a:r>
          </a:p>
          <a:p>
            <a:pPr algn="l">
              <a:lnSpc>
                <a:spcPct val="110000"/>
              </a:lnSpc>
              <a:spcBef>
                <a:spcPts val="0"/>
              </a:spcBef>
              <a:spcAft>
                <a:spcPts val="0"/>
              </a:spcAft>
            </a:pPr>
            <a:r>
              <a:rPr sz="1050" b="0" i="0">
                <a:solidFill>
                  <a:srgbClr val="14262E"/>
                </a:solidFill>
                <a:latin typeface="Calibri"/>
              </a:rPr>
              <a:t>It is a recipe card with measurements. Not “add enough salt” — but “one teaspoon”. Not “write a good essay” — but “three clear arguments, each supported by one example, maximum two pages.”</a:t>
            </a:r>
          </a:p>
        </p:txBody>
      </p:sp>
      <p:sp>
        <p:nvSpPr>
          <p:cNvPr id="15" name="Rounded Rectangle 14"/>
          <p:cNvSpPr/>
          <p:nvPr/>
        </p:nvSpPr>
        <p:spPr>
          <a:xfrm>
            <a:off x="5843016" y="3545654"/>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3016" y="3545654"/>
            <a:ext cx="45720" cy="863323"/>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44183" y="3682814"/>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F4B400"/>
                </a:solidFill>
                <a:latin typeface="Trebuchet MS"/>
              </a:rPr>
              <a:t>Why it changes everything</a:t>
            </a:r>
          </a:p>
          <a:p>
            <a:pPr algn="l">
              <a:lnSpc>
                <a:spcPct val="110000"/>
              </a:lnSpc>
              <a:spcBef>
                <a:spcPts val="0"/>
              </a:spcBef>
              <a:spcAft>
                <a:spcPts val="0"/>
              </a:spcAft>
            </a:pPr>
            <a:r>
              <a:rPr sz="1050" b="0" i="0">
                <a:solidFill>
                  <a:srgbClr val="14262E"/>
                </a:solidFill>
                <a:latin typeface="Calibri"/>
              </a:rPr>
              <a:t>It removes the guesswork for the learner AND the bias from the marker. It is the fastest route to both transparency and reliability at the same time.</a:t>
            </a:r>
          </a:p>
        </p:txBody>
      </p:sp>
      <p:sp>
        <p:nvSpPr>
          <p:cNvPr id="18" name="Rounded Rectangle 17"/>
          <p:cNvSpPr/>
          <p:nvPr/>
        </p:nvSpPr>
        <p:spPr>
          <a:xfrm>
            <a:off x="5843016" y="4518705"/>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43016" y="4518705"/>
            <a:ext cx="45720" cy="863323"/>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44183" y="4655865"/>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F4B400"/>
                </a:solidFill>
                <a:latin typeface="Trebuchet MS"/>
              </a:rPr>
              <a:t>The rule nobody follows</a:t>
            </a:r>
          </a:p>
          <a:p>
            <a:pPr algn="l">
              <a:lnSpc>
                <a:spcPct val="110000"/>
              </a:lnSpc>
              <a:spcBef>
                <a:spcPts val="0"/>
              </a:spcBef>
              <a:spcAft>
                <a:spcPts val="0"/>
              </a:spcAft>
            </a:pPr>
            <a:r>
              <a:rPr sz="1050" b="0" i="0">
                <a:solidFill>
                  <a:srgbClr val="14262E"/>
                </a:solidFill>
                <a:latin typeface="Calibri"/>
              </a:rPr>
              <a:t>Give the rubric OUT BEFORE the task — never after. The manual says this explicitly for performance and practical assessment.</a:t>
            </a:r>
          </a:p>
        </p:txBody>
      </p:sp>
      <p:sp>
        <p:nvSpPr>
          <p:cNvPr id="21" name="Rounded Rectangle 20"/>
          <p:cNvSpPr/>
          <p:nvPr/>
        </p:nvSpPr>
        <p:spPr>
          <a:xfrm>
            <a:off x="5843016" y="5491756"/>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43016" y="5491756"/>
            <a:ext cx="45720" cy="863323"/>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44183" y="5628916"/>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F4B400"/>
                </a:solidFill>
                <a:latin typeface="Trebuchet MS"/>
              </a:rPr>
              <a:t>A simple three-band template</a:t>
            </a:r>
          </a:p>
          <a:p>
            <a:pPr algn="l">
              <a:lnSpc>
                <a:spcPct val="110000"/>
              </a:lnSpc>
              <a:spcBef>
                <a:spcPts val="0"/>
              </a:spcBef>
              <a:spcAft>
                <a:spcPts val="0"/>
              </a:spcAft>
            </a:pPr>
            <a:r>
              <a:rPr sz="1050" b="0" i="0">
                <a:solidFill>
                  <a:srgbClr val="14262E"/>
                </a:solidFill>
                <a:latin typeface="Calibri"/>
              </a:rPr>
              <a:t>EXCELLENT (full marks)  ·  GOOD (most marks)  ·  DEVELOPING (some marks). Three bands is enough to start. Four criteria is plenty.</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Matching Strategy to Level</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same strategy, pitched differently at SHS 1, 2 and 3</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Same tool, different scaffolding. Pitching Form 1 work at Form 3 level is not rigour — it is a validity failure.</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20939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Strategy</a:t>
            </a:r>
          </a:p>
        </p:txBody>
      </p:sp>
      <p:sp>
        <p:nvSpPr>
          <p:cNvPr id="9" name="TextBox 8"/>
          <p:cNvSpPr txBox="1"/>
          <p:nvPr/>
        </p:nvSpPr>
        <p:spPr>
          <a:xfrm>
            <a:off x="3017520" y="1947672"/>
            <a:ext cx="2670048"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SHS 1 (Form 1)</a:t>
            </a:r>
          </a:p>
        </p:txBody>
      </p:sp>
      <p:sp>
        <p:nvSpPr>
          <p:cNvPr id="10" name="TextBox 9"/>
          <p:cNvSpPr txBox="1"/>
          <p:nvPr/>
        </p:nvSpPr>
        <p:spPr>
          <a:xfrm>
            <a:off x="5925312" y="1947672"/>
            <a:ext cx="2670048"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SHS 2 (Form 2)</a:t>
            </a:r>
          </a:p>
        </p:txBody>
      </p:sp>
      <p:sp>
        <p:nvSpPr>
          <p:cNvPr id="11" name="TextBox 10"/>
          <p:cNvSpPr txBox="1"/>
          <p:nvPr/>
        </p:nvSpPr>
        <p:spPr>
          <a:xfrm>
            <a:off x="8833104" y="1947672"/>
            <a:ext cx="2670048"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SHS 3 (Form 3)</a:t>
            </a:r>
          </a:p>
        </p:txBody>
      </p:sp>
      <p:sp>
        <p:nvSpPr>
          <p:cNvPr id="12" name="Rectangle 11"/>
          <p:cNvSpPr/>
          <p:nvPr/>
        </p:nvSpPr>
        <p:spPr>
          <a:xfrm>
            <a:off x="566928" y="2249424"/>
            <a:ext cx="11057839"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313432"/>
            <a:ext cx="2093976" cy="6858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Project work</a:t>
            </a:r>
          </a:p>
        </p:txBody>
      </p:sp>
      <p:sp>
        <p:nvSpPr>
          <p:cNvPr id="14" name="TextBox 13"/>
          <p:cNvSpPr txBox="1"/>
          <p:nvPr/>
        </p:nvSpPr>
        <p:spPr>
          <a:xfrm>
            <a:off x="3017520" y="231343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Short, tightly scaffolded, one clear deliverable. Heavy guidance.</a:t>
            </a:r>
          </a:p>
        </p:txBody>
      </p:sp>
      <p:sp>
        <p:nvSpPr>
          <p:cNvPr id="15" name="TextBox 14"/>
          <p:cNvSpPr txBox="1"/>
          <p:nvPr/>
        </p:nvSpPr>
        <p:spPr>
          <a:xfrm>
            <a:off x="5925312" y="231343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Multi-step with milestones. Learner plans more of the process.</a:t>
            </a:r>
          </a:p>
        </p:txBody>
      </p:sp>
      <p:sp>
        <p:nvSpPr>
          <p:cNvPr id="16" name="TextBox 15"/>
          <p:cNvSpPr txBox="1"/>
          <p:nvPr/>
        </p:nvSpPr>
        <p:spPr>
          <a:xfrm>
            <a:off x="8833104" y="231343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Extended and largely independent. Expects synthesis and original thinking.</a:t>
            </a:r>
          </a:p>
        </p:txBody>
      </p:sp>
      <p:sp>
        <p:nvSpPr>
          <p:cNvPr id="17" name="Rectangle 16"/>
          <p:cNvSpPr/>
          <p:nvPr/>
        </p:nvSpPr>
        <p:spPr>
          <a:xfrm>
            <a:off x="566928" y="3026664"/>
            <a:ext cx="11057839" cy="7772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90672"/>
            <a:ext cx="2093976" cy="6858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Debate</a:t>
            </a:r>
          </a:p>
        </p:txBody>
      </p:sp>
      <p:sp>
        <p:nvSpPr>
          <p:cNvPr id="19" name="TextBox 18"/>
          <p:cNvSpPr txBox="1"/>
          <p:nvPr/>
        </p:nvSpPr>
        <p:spPr>
          <a:xfrm>
            <a:off x="3017520" y="309067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Structured roles, given positions, short speaking time.</a:t>
            </a:r>
          </a:p>
        </p:txBody>
      </p:sp>
      <p:sp>
        <p:nvSpPr>
          <p:cNvPr id="20" name="TextBox 19"/>
          <p:cNvSpPr txBox="1"/>
          <p:nvPr/>
        </p:nvSpPr>
        <p:spPr>
          <a:xfrm>
            <a:off x="5925312" y="309067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Learners research their own evidence. Rebuttal expected.</a:t>
            </a:r>
          </a:p>
        </p:txBody>
      </p:sp>
      <p:sp>
        <p:nvSpPr>
          <p:cNvPr id="21" name="TextBox 20"/>
          <p:cNvSpPr txBox="1"/>
          <p:nvPr/>
        </p:nvSpPr>
        <p:spPr>
          <a:xfrm>
            <a:off x="8833104" y="309067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Full format, independent research, higher expectation of rebuttal quality.</a:t>
            </a:r>
          </a:p>
        </p:txBody>
      </p:sp>
      <p:sp>
        <p:nvSpPr>
          <p:cNvPr id="22" name="Rectangle 21"/>
          <p:cNvSpPr/>
          <p:nvPr/>
        </p:nvSpPr>
        <p:spPr>
          <a:xfrm>
            <a:off x="566928" y="3803904"/>
            <a:ext cx="11057839"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867912"/>
            <a:ext cx="2093976" cy="6858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Practical / performance</a:t>
            </a:r>
          </a:p>
        </p:txBody>
      </p:sp>
      <p:sp>
        <p:nvSpPr>
          <p:cNvPr id="24" name="TextBox 23"/>
          <p:cNvSpPr txBox="1"/>
          <p:nvPr/>
        </p:nvSpPr>
        <p:spPr>
          <a:xfrm>
            <a:off x="3017520" y="386791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Follow a modelled procedure step by step with close supervision.</a:t>
            </a:r>
          </a:p>
        </p:txBody>
      </p:sp>
      <p:sp>
        <p:nvSpPr>
          <p:cNvPr id="25" name="TextBox 24"/>
          <p:cNvSpPr txBox="1"/>
          <p:nvPr/>
        </p:nvSpPr>
        <p:spPr>
          <a:xfrm>
            <a:off x="5925312" y="386791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Carry out the procedure with less prompting; record results accurately.</a:t>
            </a:r>
          </a:p>
        </p:txBody>
      </p:sp>
      <p:sp>
        <p:nvSpPr>
          <p:cNvPr id="26" name="TextBox 25"/>
          <p:cNvSpPr txBox="1"/>
          <p:nvPr/>
        </p:nvSpPr>
        <p:spPr>
          <a:xfrm>
            <a:off x="8833104" y="386791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Design or adapt a procedure; analyse and evaluate outcomes.</a:t>
            </a:r>
          </a:p>
        </p:txBody>
      </p:sp>
      <p:sp>
        <p:nvSpPr>
          <p:cNvPr id="27" name="Rectangle 26"/>
          <p:cNvSpPr/>
          <p:nvPr/>
        </p:nvSpPr>
        <p:spPr>
          <a:xfrm>
            <a:off x="566928" y="4581144"/>
            <a:ext cx="11057839" cy="7772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645152"/>
            <a:ext cx="2093976" cy="6858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Portfolio</a:t>
            </a:r>
          </a:p>
        </p:txBody>
      </p:sp>
      <p:sp>
        <p:nvSpPr>
          <p:cNvPr id="29" name="TextBox 28"/>
          <p:cNvSpPr txBox="1"/>
          <p:nvPr/>
        </p:nvSpPr>
        <p:spPr>
          <a:xfrm>
            <a:off x="3017520" y="464515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Teacher-guided selection. Simple reflection prompts supplied.</a:t>
            </a:r>
          </a:p>
        </p:txBody>
      </p:sp>
      <p:sp>
        <p:nvSpPr>
          <p:cNvPr id="30" name="TextBox 29"/>
          <p:cNvSpPr txBox="1"/>
          <p:nvPr/>
        </p:nvSpPr>
        <p:spPr>
          <a:xfrm>
            <a:off x="5925312" y="464515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Learner selects with increasing independence. Reflection in more depth.</a:t>
            </a:r>
          </a:p>
        </p:txBody>
      </p:sp>
      <p:sp>
        <p:nvSpPr>
          <p:cNvPr id="31" name="TextBox 30"/>
          <p:cNvSpPr txBox="1"/>
          <p:nvPr/>
        </p:nvSpPr>
        <p:spPr>
          <a:xfrm>
            <a:off x="8833104" y="464515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Self-directed curation with critical reflection on growth.</a:t>
            </a:r>
          </a:p>
        </p:txBody>
      </p:sp>
      <p:sp>
        <p:nvSpPr>
          <p:cNvPr id="32" name="Rectangle 31"/>
          <p:cNvSpPr/>
          <p:nvPr/>
        </p:nvSpPr>
        <p:spPr>
          <a:xfrm>
            <a:off x="566928" y="5358383"/>
            <a:ext cx="11057839"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422392"/>
            <a:ext cx="2093976" cy="6858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DoK level to expect</a:t>
            </a:r>
          </a:p>
        </p:txBody>
      </p:sp>
      <p:sp>
        <p:nvSpPr>
          <p:cNvPr id="34" name="TextBox 33"/>
          <p:cNvSpPr txBox="1"/>
          <p:nvPr/>
        </p:nvSpPr>
        <p:spPr>
          <a:xfrm>
            <a:off x="3017520" y="542239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Mainly DoK 1–2, with guided DoK 3.</a:t>
            </a:r>
          </a:p>
        </p:txBody>
      </p:sp>
      <p:sp>
        <p:nvSpPr>
          <p:cNvPr id="35" name="TextBox 34"/>
          <p:cNvSpPr txBox="1"/>
          <p:nvPr/>
        </p:nvSpPr>
        <p:spPr>
          <a:xfrm>
            <a:off x="5925312" y="542239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DoK 2–3 regularly.</a:t>
            </a:r>
          </a:p>
        </p:txBody>
      </p:sp>
      <p:sp>
        <p:nvSpPr>
          <p:cNvPr id="36" name="TextBox 35"/>
          <p:cNvSpPr txBox="1"/>
          <p:nvPr/>
        </p:nvSpPr>
        <p:spPr>
          <a:xfrm>
            <a:off x="8833104" y="5422392"/>
            <a:ext cx="2670048" cy="6858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DoK 3–4, including extended tasks.</a:t>
            </a:r>
          </a:p>
        </p:txBody>
      </p:sp>
      <p:sp>
        <p:nvSpPr>
          <p:cNvPr id="37" name="TextBox 36"/>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Quick Wins — Three-Minute Tools You Can Use Tomorrow</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No budget. No printing. No extra marking load.</a:t>
            </a:r>
          </a:p>
        </p:txBody>
      </p:sp>
      <p:pic>
        <p:nvPicPr>
          <p:cNvPr id="6" name="Picture 5" descr="14_peer_assessment.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Learners assessing each other — with the rubric in hand.</a:t>
            </a:r>
          </a:p>
        </p:txBody>
      </p:sp>
      <p:sp>
        <p:nvSpPr>
          <p:cNvPr id="9" name="Rounded Rectangle 8"/>
          <p:cNvSpPr/>
          <p:nvPr/>
        </p:nvSpPr>
        <p:spPr>
          <a:xfrm>
            <a:off x="566928" y="1426464"/>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99684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F4B400"/>
                </a:solidFill>
                <a:latin typeface="Trebuchet MS"/>
              </a:rPr>
              <a:t>Exit card</a:t>
            </a:r>
          </a:p>
          <a:p>
            <a:pPr algn="l">
              <a:lnSpc>
                <a:spcPct val="110000"/>
              </a:lnSpc>
              <a:spcBef>
                <a:spcPts val="0"/>
              </a:spcBef>
              <a:spcAft>
                <a:spcPts val="0"/>
              </a:spcAft>
            </a:pPr>
            <a:r>
              <a:rPr sz="1000" b="0" i="0">
                <a:solidFill>
                  <a:srgbClr val="14262E"/>
                </a:solidFill>
                <a:latin typeface="Calibri"/>
              </a:rPr>
              <a:t>Last three minutes of the lesson: on a slip, “write one thing you learned today and one thing you are still confused about.” Collect at the door. You now know exactly where to start next lesson.</a:t>
            </a:r>
          </a:p>
        </p:txBody>
      </p:sp>
      <p:sp>
        <p:nvSpPr>
          <p:cNvPr id="12" name="Rounded Rectangle 11"/>
          <p:cNvSpPr/>
          <p:nvPr/>
        </p:nvSpPr>
        <p:spPr>
          <a:xfrm>
            <a:off x="566928" y="2533040"/>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533040"/>
            <a:ext cx="45720" cy="83200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670200"/>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F4B400"/>
                </a:solidFill>
                <a:latin typeface="Trebuchet MS"/>
              </a:rPr>
              <a:t>Entry ticket</a:t>
            </a:r>
          </a:p>
          <a:p>
            <a:pPr algn="l">
              <a:lnSpc>
                <a:spcPct val="110000"/>
              </a:lnSpc>
              <a:spcBef>
                <a:spcPts val="0"/>
              </a:spcBef>
              <a:spcAft>
                <a:spcPts val="0"/>
              </a:spcAft>
            </a:pPr>
            <a:r>
              <a:rPr sz="1000" b="0" i="0">
                <a:solidFill>
                  <a:srgbClr val="14262E"/>
                </a:solidFill>
                <a:latin typeface="Calibri"/>
              </a:rPr>
              <a:t>First three minutes: one question that shows what they already bring. Free diagnostic assessment, every single day.</a:t>
            </a:r>
          </a:p>
        </p:txBody>
      </p:sp>
      <p:sp>
        <p:nvSpPr>
          <p:cNvPr id="15" name="Rounded Rectangle 14"/>
          <p:cNvSpPr/>
          <p:nvPr/>
        </p:nvSpPr>
        <p:spPr>
          <a:xfrm>
            <a:off x="566928" y="3474770"/>
            <a:ext cx="5781751" cy="996848"/>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74770"/>
            <a:ext cx="45720" cy="99684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611930"/>
            <a:ext cx="5379415" cy="722528"/>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F4B400"/>
                </a:solidFill>
                <a:latin typeface="Trebuchet MS"/>
              </a:rPr>
              <a:t>Think-Pair-Share</a:t>
            </a:r>
          </a:p>
          <a:p>
            <a:pPr algn="l">
              <a:lnSpc>
                <a:spcPct val="110000"/>
              </a:lnSpc>
              <a:spcBef>
                <a:spcPts val="0"/>
              </a:spcBef>
              <a:spcAft>
                <a:spcPts val="0"/>
              </a:spcAft>
            </a:pPr>
            <a:r>
              <a:rPr sz="1000" b="0" i="0">
                <a:solidFill>
                  <a:srgbClr val="14262E"/>
                </a:solidFill>
                <a:latin typeface="Calibri"/>
              </a:rPr>
              <a:t>Think alone, then discuss with a partner, then share with the class. Three minutes of real thinking time means the quiet learners at the back have something to say when you ask.</a:t>
            </a:r>
          </a:p>
        </p:txBody>
      </p:sp>
      <p:sp>
        <p:nvSpPr>
          <p:cNvPr id="18" name="Rounded Rectangle 17"/>
          <p:cNvSpPr/>
          <p:nvPr/>
        </p:nvSpPr>
        <p:spPr>
          <a:xfrm>
            <a:off x="566928" y="458134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581347"/>
            <a:ext cx="45720" cy="83200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71850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F4B400"/>
                </a:solidFill>
                <a:latin typeface="Trebuchet MS"/>
              </a:rPr>
              <a:t>K-W-L chart</a:t>
            </a:r>
          </a:p>
          <a:p>
            <a:pPr algn="l">
              <a:lnSpc>
                <a:spcPct val="110000"/>
              </a:lnSpc>
              <a:spcBef>
                <a:spcPts val="0"/>
              </a:spcBef>
              <a:spcAft>
                <a:spcPts val="0"/>
              </a:spcAft>
            </a:pPr>
            <a:r>
              <a:rPr sz="1000" b="0" i="0">
                <a:solidFill>
                  <a:srgbClr val="14262E"/>
                </a:solidFill>
                <a:latin typeface="Calibri"/>
              </a:rPr>
              <a:t>Three columns: what I Know, what I Want to know, what I Learned. Makes thinking visible and makes the learner reflective.</a:t>
            </a:r>
          </a:p>
        </p:txBody>
      </p:sp>
      <p:sp>
        <p:nvSpPr>
          <p:cNvPr id="21" name="Rounded Rectangle 20"/>
          <p:cNvSpPr/>
          <p:nvPr/>
        </p:nvSpPr>
        <p:spPr>
          <a:xfrm>
            <a:off x="566928" y="5523077"/>
            <a:ext cx="5781751" cy="832002"/>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523077"/>
            <a:ext cx="45720" cy="83200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660237"/>
            <a:ext cx="5379415" cy="557682"/>
          </a:xfrm>
          <a:prstGeom prst="rect">
            <a:avLst/>
          </a:prstGeom>
          <a:noFill/>
        </p:spPr>
        <p:txBody>
          <a:bodyPr wrap="square" lIns="0" rIns="0" tIns="0" bIns="0">
            <a:spAutoFit/>
          </a:bodyPr>
          <a:lstStyle/>
          <a:p>
            <a:pPr algn="l">
              <a:lnSpc>
                <a:spcPct val="100000"/>
              </a:lnSpc>
              <a:spcBef>
                <a:spcPts val="0"/>
              </a:spcBef>
              <a:spcAft>
                <a:spcPts val="300"/>
              </a:spcAft>
            </a:pPr>
            <a:r>
              <a:rPr sz="1100" b="1" i="0">
                <a:solidFill>
                  <a:srgbClr val="F4B400"/>
                </a:solidFill>
                <a:latin typeface="Trebuchet MS"/>
              </a:rPr>
              <a:t>Self- and peer-assessment</a:t>
            </a:r>
          </a:p>
          <a:p>
            <a:pPr algn="l">
              <a:lnSpc>
                <a:spcPct val="110000"/>
              </a:lnSpc>
              <a:spcBef>
                <a:spcPts val="0"/>
              </a:spcBef>
              <a:spcAft>
                <a:spcPts val="0"/>
              </a:spcAft>
            </a:pPr>
            <a:r>
              <a:rPr sz="1000" b="0" i="0">
                <a:solidFill>
                  <a:srgbClr val="14262E"/>
                </a:solidFill>
                <a:latin typeface="Calibri"/>
              </a:rPr>
              <a:t>Learners check their own or each other's work AGAINST THE RUBRIC. Only works if they have the criteria in hand — otherwise it becomes a popularity contest.</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_workshop_groups.jpg"/>
          <p:cNvPicPr>
            <a:picLocks noChangeAspect="1"/>
          </p:cNvPicPr>
          <p:nvPr/>
        </p:nvPicPr>
        <p:blipFill>
          <a:blip r:embed="rId2"/>
          <a:srcRect l="20371" r="20371"/>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PRACTICAL WORKSHOP</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25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Design a Task &amp; Rubric</a:t>
            </a:r>
          </a:p>
          <a:p>
            <a:pPr algn="l">
              <a:lnSpc>
                <a:spcPct val="115000"/>
              </a:lnSpc>
              <a:spcBef>
                <a:spcPts val="0"/>
              </a:spcBef>
              <a:spcAft>
                <a:spcPts val="0"/>
              </a:spcAft>
            </a:pPr>
            <a:r>
              <a:rPr sz="1300" b="0" i="0">
                <a:solidFill>
                  <a:srgbClr val="C6DBD3"/>
                </a:solidFill>
                <a:latin typeface="Calibri"/>
              </a:rPr>
              <a:t>Something you will actually use — not something you plan to use.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Your Brief — Design a Task &amp; Rubric</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25 minutes · in groups of four to six · use a topic you teach this term</a:t>
            </a:r>
          </a:p>
        </p:txBody>
      </p:sp>
      <p:pic>
        <p:nvPicPr>
          <p:cNvPr id="6" name="Picture 5" descr="22_workshop_groups.jpg"/>
          <p:cNvPicPr>
            <a:picLocks noChangeAspect="1"/>
          </p:cNvPicPr>
          <p:nvPr/>
        </p:nvPicPr>
        <p:blipFill>
          <a:blip r:embed="rId2"/>
          <a:srcRect l="23529" r="23529"/>
          <a:stretch>
            <a:fillRect/>
          </a:stretch>
        </p:blipFill>
        <p:spPr>
          <a:xfrm>
            <a:off x="566928" y="1417320"/>
            <a:ext cx="3703320" cy="4663440"/>
          </a:xfrm>
          <a:prstGeom prst="rect">
            <a:avLst/>
          </a:prstGeom>
        </p:spPr>
      </p:pic>
      <p:sp>
        <p:nvSpPr>
          <p:cNvPr id="7" name="Rectangle 6"/>
          <p:cNvSpPr/>
          <p:nvPr/>
        </p:nvSpPr>
        <p:spPr>
          <a:xfrm>
            <a:off x="566928" y="1417320"/>
            <a:ext cx="3703320" cy="59436"/>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54296" y="1389888"/>
            <a:ext cx="1691640" cy="402336"/>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250" b="1" i="0">
                <a:solidFill>
                  <a:srgbClr val="074A35"/>
                </a:solidFill>
                <a:latin typeface="Trebuchet MS"/>
              </a:rPr>
              <a:t>25 MINUTES</a:t>
            </a:r>
          </a:p>
        </p:txBody>
      </p:sp>
      <p:sp>
        <p:nvSpPr>
          <p:cNvPr id="9" name="Rounded Rectangle 8"/>
          <p:cNvSpPr/>
          <p:nvPr/>
        </p:nvSpPr>
        <p:spPr>
          <a:xfrm>
            <a:off x="4654296" y="1920240"/>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54296" y="1920240"/>
            <a:ext cx="50292" cy="826617"/>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37176" y="2178100"/>
            <a:ext cx="310896" cy="31089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5A6B72"/>
                </a:solidFill>
                <a:latin typeface="Trebuchet MS"/>
              </a:rPr>
              <a:t>1</a:t>
            </a:r>
          </a:p>
        </p:txBody>
      </p:sp>
      <p:sp>
        <p:nvSpPr>
          <p:cNvPr id="12" name="TextBox 11"/>
          <p:cNvSpPr txBox="1"/>
          <p:nvPr/>
        </p:nvSpPr>
        <p:spPr>
          <a:xfrm>
            <a:off x="5276088" y="2011680"/>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F4B400"/>
                </a:solidFill>
                <a:latin typeface="Trebuchet MS"/>
              </a:rPr>
              <a:t>Work in groups</a:t>
            </a:r>
          </a:p>
          <a:p>
            <a:pPr algn="l">
              <a:lnSpc>
                <a:spcPct val="108000"/>
              </a:lnSpc>
              <a:spcBef>
                <a:spcPts val="0"/>
              </a:spcBef>
              <a:spcAft>
                <a:spcPts val="0"/>
              </a:spcAft>
            </a:pPr>
            <a:r>
              <a:rPr sz="1150" b="0" i="0">
                <a:solidFill>
                  <a:srgbClr val="14262E"/>
                </a:solidFill>
                <a:latin typeface="Calibri"/>
              </a:rPr>
              <a:t>Groups of four to six. If possible, group by subject or level so you can help each other. One person keeps time.</a:t>
            </a:r>
          </a:p>
        </p:txBody>
      </p:sp>
      <p:sp>
        <p:nvSpPr>
          <p:cNvPr id="13" name="Rounded Rectangle 12"/>
          <p:cNvSpPr/>
          <p:nvPr/>
        </p:nvSpPr>
        <p:spPr>
          <a:xfrm>
            <a:off x="4654296" y="2829153"/>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54296" y="2829153"/>
            <a:ext cx="50292" cy="826617"/>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37176" y="3087014"/>
            <a:ext cx="310896" cy="31089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5A6B72"/>
                </a:solidFill>
                <a:latin typeface="Trebuchet MS"/>
              </a:rPr>
              <a:t>2</a:t>
            </a:r>
          </a:p>
        </p:txBody>
      </p:sp>
      <p:sp>
        <p:nvSpPr>
          <p:cNvPr id="16" name="TextBox 15"/>
          <p:cNvSpPr txBox="1"/>
          <p:nvPr/>
        </p:nvSpPr>
        <p:spPr>
          <a:xfrm>
            <a:off x="5276088" y="2920593"/>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F4B400"/>
                </a:solidFill>
                <a:latin typeface="Trebuchet MS"/>
              </a:rPr>
              <a:t>Use a REAL topic</a:t>
            </a:r>
          </a:p>
          <a:p>
            <a:pPr algn="l">
              <a:lnSpc>
                <a:spcPct val="108000"/>
              </a:lnSpc>
              <a:spcBef>
                <a:spcPts val="0"/>
              </a:spcBef>
              <a:spcAft>
                <a:spcPts val="0"/>
              </a:spcAft>
            </a:pPr>
            <a:r>
              <a:rPr sz="1150" b="0" i="0">
                <a:solidFill>
                  <a:srgbClr val="14262E"/>
                </a:solidFill>
                <a:latin typeface="Calibri"/>
              </a:rPr>
              <a:t>Choose something you will actually teach in the next month. A real topic produces a real tool. An invented one produces a nice-looking document you will never use.</a:t>
            </a:r>
          </a:p>
        </p:txBody>
      </p:sp>
      <p:sp>
        <p:nvSpPr>
          <p:cNvPr id="17" name="Rounded Rectangle 16"/>
          <p:cNvSpPr/>
          <p:nvPr/>
        </p:nvSpPr>
        <p:spPr>
          <a:xfrm>
            <a:off x="4654296" y="3738067"/>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54296" y="3738067"/>
            <a:ext cx="50292" cy="826617"/>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37176" y="3995928"/>
            <a:ext cx="310896" cy="31089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5A6B72"/>
                </a:solidFill>
                <a:latin typeface="Trebuchet MS"/>
              </a:rPr>
              <a:t>3</a:t>
            </a:r>
          </a:p>
        </p:txBody>
      </p:sp>
      <p:sp>
        <p:nvSpPr>
          <p:cNvPr id="20" name="TextBox 19"/>
          <p:cNvSpPr txBox="1"/>
          <p:nvPr/>
        </p:nvSpPr>
        <p:spPr>
          <a:xfrm>
            <a:off x="5276088" y="3829507"/>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F4B400"/>
                </a:solidFill>
                <a:latin typeface="Trebuchet MS"/>
              </a:rPr>
              <a:t>Produce three things</a:t>
            </a:r>
          </a:p>
          <a:p>
            <a:pPr algn="l">
              <a:lnSpc>
                <a:spcPct val="108000"/>
              </a:lnSpc>
              <a:spcBef>
                <a:spcPts val="0"/>
              </a:spcBef>
              <a:spcAft>
                <a:spcPts val="0"/>
              </a:spcAft>
            </a:pPr>
            <a:r>
              <a:rPr sz="1150" b="0" i="0">
                <a:solidFill>
                  <a:srgbClr val="14262E"/>
                </a:solidFill>
                <a:latin typeface="Calibri"/>
              </a:rPr>
              <a:t>ONE learning outcome  ·  ONE assessment task  ·  ONE simple rubric. That is all. Not a scheme of work — one task.</a:t>
            </a:r>
          </a:p>
        </p:txBody>
      </p:sp>
      <p:sp>
        <p:nvSpPr>
          <p:cNvPr id="21" name="Rounded Rectangle 20"/>
          <p:cNvSpPr/>
          <p:nvPr/>
        </p:nvSpPr>
        <p:spPr>
          <a:xfrm>
            <a:off x="4654296" y="4646980"/>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54296" y="4646980"/>
            <a:ext cx="50292" cy="826617"/>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37176" y="4904841"/>
            <a:ext cx="310896" cy="31089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5A6B72"/>
                </a:solidFill>
                <a:latin typeface="Trebuchet MS"/>
              </a:rPr>
              <a:t>4</a:t>
            </a:r>
          </a:p>
        </p:txBody>
      </p:sp>
      <p:sp>
        <p:nvSpPr>
          <p:cNvPr id="24" name="TextBox 23"/>
          <p:cNvSpPr txBox="1"/>
          <p:nvPr/>
        </p:nvSpPr>
        <p:spPr>
          <a:xfrm>
            <a:off x="5276088" y="4738420"/>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F4B400"/>
                </a:solidFill>
                <a:latin typeface="Trebuchet MS"/>
              </a:rPr>
              <a:t>Put it on the paper</a:t>
            </a:r>
          </a:p>
          <a:p>
            <a:pPr algn="l">
              <a:lnSpc>
                <a:spcPct val="108000"/>
              </a:lnSpc>
              <a:spcBef>
                <a:spcPts val="0"/>
              </a:spcBef>
              <a:spcAft>
                <a:spcPts val="0"/>
              </a:spcAft>
            </a:pPr>
            <a:r>
              <a:rPr sz="1150" b="0" i="0">
                <a:solidFill>
                  <a:srgbClr val="14262E"/>
                </a:solidFill>
                <a:latin typeface="Calibri"/>
              </a:rPr>
              <a:t>Use the A3 sheet. Write large. This goes on the wall for the gallery walk at 2:00, so it must be readable from a distance.</a:t>
            </a:r>
          </a:p>
        </p:txBody>
      </p:sp>
      <p:sp>
        <p:nvSpPr>
          <p:cNvPr id="25" name="Rounded Rectangle 24"/>
          <p:cNvSpPr/>
          <p:nvPr/>
        </p:nvSpPr>
        <p:spPr>
          <a:xfrm>
            <a:off x="4654296" y="5555894"/>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54296" y="5555894"/>
            <a:ext cx="50292" cy="826617"/>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37176" y="5813755"/>
            <a:ext cx="310896" cy="310896"/>
          </a:xfrm>
          <a:prstGeom prst="ellipse">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5A6B72"/>
                </a:solidFill>
                <a:latin typeface="Trebuchet MS"/>
              </a:rPr>
              <a:t>5</a:t>
            </a:r>
          </a:p>
        </p:txBody>
      </p:sp>
      <p:sp>
        <p:nvSpPr>
          <p:cNvPr id="28" name="TextBox 27"/>
          <p:cNvSpPr txBox="1"/>
          <p:nvPr/>
        </p:nvSpPr>
        <p:spPr>
          <a:xfrm>
            <a:off x="5276088" y="5647334"/>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F4B400"/>
                </a:solidFill>
                <a:latin typeface="Trebuchet MS"/>
              </a:rPr>
              <a:t>Finish with the checklist</a:t>
            </a:r>
          </a:p>
          <a:p>
            <a:pPr algn="l">
              <a:lnSpc>
                <a:spcPct val="108000"/>
              </a:lnSpc>
              <a:spcBef>
                <a:spcPts val="0"/>
              </a:spcBef>
              <a:spcAft>
                <a:spcPts val="0"/>
              </a:spcAft>
            </a:pPr>
            <a:r>
              <a:rPr sz="1150" b="0" i="0">
                <a:solidFill>
                  <a:srgbClr val="14262E"/>
                </a:solidFill>
                <a:latin typeface="Calibri"/>
              </a:rPr>
              <a:t>At minute 20 you will check your work against the six-point quality checklist. Fix the easiest problem, then stop.</a:t>
            </a:r>
          </a:p>
        </p:txBody>
      </p:sp>
      <p:sp>
        <p:nvSpPr>
          <p:cNvPr id="29" name="TextBox 28"/>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Step 1 &amp; 2 — The Outcome and the Strategy</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Minutes 0–10 · do these before you think about the task</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Ten minutes on these two steps. Skipping them is why assessment tasks fail — the task is always easy once the outcome is clear.</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218541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Step</a:t>
            </a:r>
          </a:p>
        </p:txBody>
      </p:sp>
      <p:sp>
        <p:nvSpPr>
          <p:cNvPr id="9" name="TextBox 8"/>
          <p:cNvSpPr txBox="1"/>
          <p:nvPr/>
        </p:nvSpPr>
        <p:spPr>
          <a:xfrm>
            <a:off x="3108960" y="1947672"/>
            <a:ext cx="474573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to decide</a:t>
            </a:r>
          </a:p>
        </p:txBody>
      </p:sp>
      <p:sp>
        <p:nvSpPr>
          <p:cNvPr id="10" name="TextBox 9"/>
          <p:cNvSpPr txBox="1"/>
          <p:nvPr/>
        </p:nvSpPr>
        <p:spPr>
          <a:xfrm>
            <a:off x="8092440" y="1947672"/>
            <a:ext cx="341071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The test to apply</a:t>
            </a:r>
          </a:p>
        </p:txBody>
      </p:sp>
      <p:sp>
        <p:nvSpPr>
          <p:cNvPr id="11" name="Rectangle 10"/>
          <p:cNvSpPr/>
          <p:nvPr/>
        </p:nvSpPr>
        <p:spPr>
          <a:xfrm>
            <a:off x="566928" y="2249424"/>
            <a:ext cx="11057839"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1. Write the learning outcome</a:t>
            </a:r>
          </a:p>
        </p:txBody>
      </p:sp>
      <p:sp>
        <p:nvSpPr>
          <p:cNvPr id="13" name="TextBox 12"/>
          <p:cNvSpPr txBox="1"/>
          <p:nvPr/>
        </p:nvSpPr>
        <p:spPr>
          <a:xfrm>
            <a:off x="3108960" y="231343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ONE sentence. “By the end of this, the learner should be able to…” Use an ACTION VERB: explain, calculate, design, evaluate, demonstrate.</a:t>
            </a:r>
          </a:p>
        </p:txBody>
      </p:sp>
      <p:sp>
        <p:nvSpPr>
          <p:cNvPr id="14" name="TextBox 13"/>
          <p:cNvSpPr txBox="1"/>
          <p:nvPr/>
        </p:nvSpPr>
        <p:spPr>
          <a:xfrm>
            <a:off x="8092440" y="231343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I show someone else this sentence and would they know exactly what to teach and assess? If not, it is too vague.</a:t>
            </a:r>
          </a:p>
        </p:txBody>
      </p:sp>
      <p:sp>
        <p:nvSpPr>
          <p:cNvPr id="15" name="Rectangle 14"/>
          <p:cNvSpPr/>
          <p:nvPr/>
        </p:nvSpPr>
        <p:spPr>
          <a:xfrm>
            <a:off x="566928" y="3255264"/>
            <a:ext cx="11057839" cy="10058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1927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1b. Check the DoK level</a:t>
            </a:r>
          </a:p>
        </p:txBody>
      </p:sp>
      <p:sp>
        <p:nvSpPr>
          <p:cNvPr id="17" name="TextBox 16"/>
          <p:cNvSpPr txBox="1"/>
          <p:nvPr/>
        </p:nvSpPr>
        <p:spPr>
          <a:xfrm>
            <a:off x="3108960" y="331927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Is your verb at the right thinking level for your class? State = DoK 1. Explain = DoK 2. Analyse / justify = DoK 3. Design / evaluate = DoK 4.</a:t>
            </a:r>
          </a:p>
        </p:txBody>
      </p:sp>
      <p:sp>
        <p:nvSpPr>
          <p:cNvPr id="18" name="TextBox 17"/>
          <p:cNvSpPr txBox="1"/>
          <p:nvPr/>
        </p:nvSpPr>
        <p:spPr>
          <a:xfrm>
            <a:off x="8092440" y="331927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Does the thinking level match the standard in the curriculum for this level?</a:t>
            </a:r>
          </a:p>
        </p:txBody>
      </p:sp>
      <p:sp>
        <p:nvSpPr>
          <p:cNvPr id="19" name="Rectangle 18"/>
          <p:cNvSpPr/>
          <p:nvPr/>
        </p:nvSpPr>
        <p:spPr>
          <a:xfrm>
            <a:off x="566928" y="4261104"/>
            <a:ext cx="11057839"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2511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2. Choose the assessment strategy</a:t>
            </a:r>
          </a:p>
        </p:txBody>
      </p:sp>
      <p:sp>
        <p:nvSpPr>
          <p:cNvPr id="21" name="TextBox 20"/>
          <p:cNvSpPr txBox="1"/>
          <p:nvPr/>
        </p:nvSpPr>
        <p:spPr>
          <a:xfrm>
            <a:off x="3108960" y="432511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Which family? INFORMAL (observation, questioning) · WRITTEN (test, essay) · PERFORMANCE (project, practical, portfolio, debate).</a:t>
            </a:r>
          </a:p>
        </p:txBody>
      </p:sp>
      <p:sp>
        <p:nvSpPr>
          <p:cNvPr id="22" name="TextBox 21"/>
          <p:cNvSpPr txBox="1"/>
          <p:nvPr/>
        </p:nvSpPr>
        <p:spPr>
          <a:xfrm>
            <a:off x="8092440" y="432511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a learner who genuinely has this skill fail this task for a reason that has nothing to do with the skill?</a:t>
            </a:r>
          </a:p>
        </p:txBody>
      </p:sp>
      <p:sp>
        <p:nvSpPr>
          <p:cNvPr id="23" name="Rectangle 22"/>
          <p:cNvSpPr/>
          <p:nvPr/>
        </p:nvSpPr>
        <p:spPr>
          <a:xfrm>
            <a:off x="566928" y="5266944"/>
            <a:ext cx="11057839" cy="10058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3095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2b. Sanity-check the seven pillars</a:t>
            </a:r>
          </a:p>
        </p:txBody>
      </p:sp>
      <p:sp>
        <p:nvSpPr>
          <p:cNvPr id="25" name="TextBox 24"/>
          <p:cNvSpPr txBox="1"/>
          <p:nvPr/>
        </p:nvSpPr>
        <p:spPr>
          <a:xfrm>
            <a:off x="3108960" y="533095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VALID (measures the outcome) · RELIABLE (markable the same way twice) · PRACTICABLE (runnable in week eight with your class size).</a:t>
            </a:r>
          </a:p>
        </p:txBody>
      </p:sp>
      <p:sp>
        <p:nvSpPr>
          <p:cNvPr id="26" name="TextBox 25"/>
          <p:cNvSpPr txBox="1"/>
          <p:nvPr/>
        </p:nvSpPr>
        <p:spPr>
          <a:xfrm>
            <a:off x="8092440" y="533095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If any of the three fails, change the strategy now — not after you have built the task.</a:t>
            </a:r>
          </a:p>
        </p:txBody>
      </p:sp>
      <p:sp>
        <p:nvSpPr>
          <p:cNvPr id="27" name="TextBox 26"/>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Step 3 &amp; 4 — The Task and the Rubric</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Minutes 10–20 · build the task, then the marking criteria</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Ten minutes. Keep the rubric simple — three bands and four criteria. A simple rubric used consistently beats a detailed one abandoned in week three.</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2185415"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Step</a:t>
            </a:r>
          </a:p>
        </p:txBody>
      </p:sp>
      <p:sp>
        <p:nvSpPr>
          <p:cNvPr id="9" name="TextBox 8"/>
          <p:cNvSpPr txBox="1"/>
          <p:nvPr/>
        </p:nvSpPr>
        <p:spPr>
          <a:xfrm>
            <a:off x="3108960" y="1947672"/>
            <a:ext cx="474573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to decide</a:t>
            </a:r>
          </a:p>
        </p:txBody>
      </p:sp>
      <p:sp>
        <p:nvSpPr>
          <p:cNvPr id="10" name="TextBox 9"/>
          <p:cNvSpPr txBox="1"/>
          <p:nvPr/>
        </p:nvSpPr>
        <p:spPr>
          <a:xfrm>
            <a:off x="8092440" y="1947672"/>
            <a:ext cx="341071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The test to apply</a:t>
            </a:r>
          </a:p>
        </p:txBody>
      </p:sp>
      <p:sp>
        <p:nvSpPr>
          <p:cNvPr id="11" name="Rectangle 10"/>
          <p:cNvSpPr/>
          <p:nvPr/>
        </p:nvSpPr>
        <p:spPr>
          <a:xfrm>
            <a:off x="566928" y="2249424"/>
            <a:ext cx="11057839"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3. Write the task</a:t>
            </a:r>
          </a:p>
        </p:txBody>
      </p:sp>
      <p:sp>
        <p:nvSpPr>
          <p:cNvPr id="13" name="TextBox 12"/>
          <p:cNvSpPr txBox="1"/>
          <p:nvPr/>
        </p:nvSpPr>
        <p:spPr>
          <a:xfrm>
            <a:off x="3108960" y="231343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Exactly what the learner must do. Include the instructions you would give them, and what they must produce. One task — not a list of five.</a:t>
            </a:r>
          </a:p>
        </p:txBody>
      </p:sp>
      <p:sp>
        <p:nvSpPr>
          <p:cNvPr id="14" name="TextBox 13"/>
          <p:cNvSpPr txBox="1"/>
          <p:nvPr/>
        </p:nvSpPr>
        <p:spPr>
          <a:xfrm>
            <a:off x="8092440" y="231343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a learner who has the skill show it here? And would a learner who only memorised definitions be unable to fake it?</a:t>
            </a:r>
          </a:p>
        </p:txBody>
      </p:sp>
      <p:sp>
        <p:nvSpPr>
          <p:cNvPr id="15" name="Rectangle 14"/>
          <p:cNvSpPr/>
          <p:nvPr/>
        </p:nvSpPr>
        <p:spPr>
          <a:xfrm>
            <a:off x="566928" y="3255264"/>
            <a:ext cx="11057839" cy="10058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1927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3b. Consider your SEN learners</a:t>
            </a:r>
          </a:p>
        </p:txBody>
      </p:sp>
      <p:sp>
        <p:nvSpPr>
          <p:cNvPr id="17" name="TextBox 16"/>
          <p:cNvSpPr txBox="1"/>
          <p:nvPr/>
        </p:nvSpPr>
        <p:spPr>
          <a:xfrm>
            <a:off x="3108960" y="331927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What accommodations would this task need? Extra time, larger print, oral alternative, a written alternative to a performance.</a:t>
            </a:r>
          </a:p>
        </p:txBody>
      </p:sp>
      <p:sp>
        <p:nvSpPr>
          <p:cNvPr id="18" name="TextBox 17"/>
          <p:cNvSpPr txBox="1"/>
          <p:nvPr/>
        </p:nvSpPr>
        <p:spPr>
          <a:xfrm>
            <a:off x="8092440" y="331927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Have I decided this in advance — rather than improvising on the day and forgetting to record it?</a:t>
            </a:r>
          </a:p>
        </p:txBody>
      </p:sp>
      <p:sp>
        <p:nvSpPr>
          <p:cNvPr id="19" name="Rectangle 18"/>
          <p:cNvSpPr/>
          <p:nvPr/>
        </p:nvSpPr>
        <p:spPr>
          <a:xfrm>
            <a:off x="566928" y="4261104"/>
            <a:ext cx="11057839"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32511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4. Build the rubric</a:t>
            </a:r>
          </a:p>
        </p:txBody>
      </p:sp>
      <p:sp>
        <p:nvSpPr>
          <p:cNvPr id="21" name="TextBox 20"/>
          <p:cNvSpPr txBox="1"/>
          <p:nvPr/>
        </p:nvSpPr>
        <p:spPr>
          <a:xfrm>
            <a:off x="3108960" y="432511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THREE bands: Excellent / Good / Developing. FOUR criteria at most. Each cell says what the work must show to earn that band.</a:t>
            </a:r>
          </a:p>
        </p:txBody>
      </p:sp>
      <p:sp>
        <p:nvSpPr>
          <p:cNvPr id="22" name="TextBox 21"/>
          <p:cNvSpPr txBox="1"/>
          <p:nvPr/>
        </p:nvSpPr>
        <p:spPr>
          <a:xfrm>
            <a:off x="8092440" y="432511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a colleague pick this up and mark the same script the same way I would? That is reliability.</a:t>
            </a:r>
          </a:p>
        </p:txBody>
      </p:sp>
      <p:sp>
        <p:nvSpPr>
          <p:cNvPr id="23" name="Rectangle 22"/>
          <p:cNvSpPr/>
          <p:nvPr/>
        </p:nvSpPr>
        <p:spPr>
          <a:xfrm>
            <a:off x="566928" y="5266944"/>
            <a:ext cx="11057839" cy="1005840"/>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30952"/>
            <a:ext cx="2185415" cy="914400"/>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4b. Write the learner-facing version</a:t>
            </a:r>
          </a:p>
        </p:txBody>
      </p:sp>
      <p:sp>
        <p:nvSpPr>
          <p:cNvPr id="25" name="TextBox 24"/>
          <p:cNvSpPr txBox="1"/>
          <p:nvPr/>
        </p:nvSpPr>
        <p:spPr>
          <a:xfrm>
            <a:off x="3108960" y="5330952"/>
            <a:ext cx="4745736"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One or two sentences telling learners what “excellent” looks like. This is the part handed out BEFORE the task.</a:t>
            </a:r>
          </a:p>
        </p:txBody>
      </p:sp>
      <p:sp>
        <p:nvSpPr>
          <p:cNvPr id="26" name="TextBox 25"/>
          <p:cNvSpPr txBox="1"/>
          <p:nvPr/>
        </p:nvSpPr>
        <p:spPr>
          <a:xfrm>
            <a:off x="8092440" y="5330952"/>
            <a:ext cx="3410712" cy="914400"/>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Have I described the WORK, not the learner? “Clear argument with evidence” — not “very good student”.</a:t>
            </a:r>
          </a:p>
        </p:txBody>
      </p:sp>
      <p:sp>
        <p:nvSpPr>
          <p:cNvPr id="27" name="TextBox 26"/>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Quality Checklist — Before You Finish</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Minutes 20–25 · check your own work · fix the easiest problem · stop</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Six questions. Five minutes. This is the step that separates a nice-looking document from a usable tool.</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172821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Check</a:t>
            </a:r>
          </a:p>
        </p:txBody>
      </p:sp>
      <p:sp>
        <p:nvSpPr>
          <p:cNvPr id="9" name="TextBox 8"/>
          <p:cNvSpPr txBox="1"/>
          <p:nvPr/>
        </p:nvSpPr>
        <p:spPr>
          <a:xfrm>
            <a:off x="2651760" y="1947672"/>
            <a:ext cx="55686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Ask yourself</a:t>
            </a:r>
          </a:p>
        </p:txBody>
      </p:sp>
      <p:sp>
        <p:nvSpPr>
          <p:cNvPr id="10" name="TextBox 9"/>
          <p:cNvSpPr txBox="1"/>
          <p:nvPr/>
        </p:nvSpPr>
        <p:spPr>
          <a:xfrm>
            <a:off x="8458200" y="1947672"/>
            <a:ext cx="304495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If it fails</a:t>
            </a:r>
          </a:p>
        </p:txBody>
      </p:sp>
      <p:sp>
        <p:nvSpPr>
          <p:cNvPr id="11" name="Rectangle 10"/>
          <p:cNvSpPr/>
          <p:nvPr/>
        </p:nvSpPr>
        <p:spPr>
          <a:xfrm>
            <a:off x="566928" y="2249424"/>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Validity</a:t>
            </a:r>
          </a:p>
        </p:txBody>
      </p:sp>
      <p:sp>
        <p:nvSpPr>
          <p:cNvPr id="13" name="TextBox 12"/>
          <p:cNvSpPr txBox="1"/>
          <p:nvPr/>
        </p:nvSpPr>
        <p:spPr>
          <a:xfrm>
            <a:off x="2651760" y="2313432"/>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Does my task actually measure the learning outcome I wrote — or has it drifted into something easier to set?</a:t>
            </a:r>
          </a:p>
        </p:txBody>
      </p:sp>
      <p:sp>
        <p:nvSpPr>
          <p:cNvPr id="14" name="TextBox 13"/>
          <p:cNvSpPr txBox="1"/>
          <p:nvPr/>
        </p:nvSpPr>
        <p:spPr>
          <a:xfrm>
            <a:off x="8458200" y="2313432"/>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Change the task, not the outcome.</a:t>
            </a:r>
          </a:p>
        </p:txBody>
      </p:sp>
      <p:sp>
        <p:nvSpPr>
          <p:cNvPr id="15" name="Rectangle 14"/>
          <p:cNvSpPr/>
          <p:nvPr/>
        </p:nvSpPr>
        <p:spPr>
          <a:xfrm>
            <a:off x="566928" y="3008376"/>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72384"/>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Reliability</a:t>
            </a:r>
          </a:p>
        </p:txBody>
      </p:sp>
      <p:sp>
        <p:nvSpPr>
          <p:cNvPr id="17" name="TextBox 16"/>
          <p:cNvSpPr txBox="1"/>
          <p:nvPr/>
        </p:nvSpPr>
        <p:spPr>
          <a:xfrm>
            <a:off x="2651760" y="3072384"/>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a colleague mark this the same way I would, using only my rubric?</a:t>
            </a:r>
          </a:p>
        </p:txBody>
      </p:sp>
      <p:sp>
        <p:nvSpPr>
          <p:cNvPr id="18" name="TextBox 17"/>
          <p:cNvSpPr txBox="1"/>
          <p:nvPr/>
        </p:nvSpPr>
        <p:spPr>
          <a:xfrm>
            <a:off x="8458200" y="3072384"/>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Add specificity to the vague rubric cells.</a:t>
            </a:r>
          </a:p>
        </p:txBody>
      </p:sp>
      <p:sp>
        <p:nvSpPr>
          <p:cNvPr id="19" name="Rectangle 18"/>
          <p:cNvSpPr/>
          <p:nvPr/>
        </p:nvSpPr>
        <p:spPr>
          <a:xfrm>
            <a:off x="566928" y="3767328"/>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31336"/>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Fairness</a:t>
            </a:r>
          </a:p>
        </p:txBody>
      </p:sp>
      <p:sp>
        <p:nvSpPr>
          <p:cNvPr id="21" name="TextBox 20"/>
          <p:cNvSpPr txBox="1"/>
          <p:nvPr/>
        </p:nvSpPr>
        <p:spPr>
          <a:xfrm>
            <a:off x="2651760" y="3831336"/>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Does the task assume experiences or contexts some of my learners have not had?</a:t>
            </a:r>
          </a:p>
        </p:txBody>
      </p:sp>
      <p:sp>
        <p:nvSpPr>
          <p:cNvPr id="22" name="TextBox 21"/>
          <p:cNvSpPr txBox="1"/>
          <p:nvPr/>
        </p:nvSpPr>
        <p:spPr>
          <a:xfrm>
            <a:off x="8458200" y="3831336"/>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Re-context it to something familiar — the physics of a trotro, not of cricket.</a:t>
            </a:r>
          </a:p>
        </p:txBody>
      </p:sp>
      <p:sp>
        <p:nvSpPr>
          <p:cNvPr id="23" name="Rectangle 22"/>
          <p:cNvSpPr/>
          <p:nvPr/>
        </p:nvSpPr>
        <p:spPr>
          <a:xfrm>
            <a:off x="566928" y="4526280"/>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90288"/>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Inclusivity</a:t>
            </a:r>
          </a:p>
        </p:txBody>
      </p:sp>
      <p:sp>
        <p:nvSpPr>
          <p:cNvPr id="25" name="TextBox 24"/>
          <p:cNvSpPr txBox="1"/>
          <p:nvPr/>
        </p:nvSpPr>
        <p:spPr>
          <a:xfrm>
            <a:off x="2651760" y="4590288"/>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Who cannot access this task, and what have I put in place for them?</a:t>
            </a:r>
          </a:p>
        </p:txBody>
      </p:sp>
      <p:sp>
        <p:nvSpPr>
          <p:cNvPr id="26" name="TextBox 25"/>
          <p:cNvSpPr txBox="1"/>
          <p:nvPr/>
        </p:nvSpPr>
        <p:spPr>
          <a:xfrm>
            <a:off x="8458200" y="4590288"/>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Add an accommodation and write it down.</a:t>
            </a:r>
          </a:p>
        </p:txBody>
      </p:sp>
      <p:sp>
        <p:nvSpPr>
          <p:cNvPr id="27" name="Rectangle 26"/>
          <p:cNvSpPr/>
          <p:nvPr/>
        </p:nvSpPr>
        <p:spPr>
          <a:xfrm>
            <a:off x="566928" y="5285232"/>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349240"/>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Transparency</a:t>
            </a:r>
          </a:p>
        </p:txBody>
      </p:sp>
      <p:sp>
        <p:nvSpPr>
          <p:cNvPr id="29" name="TextBox 28"/>
          <p:cNvSpPr txBox="1"/>
          <p:nvPr/>
        </p:nvSpPr>
        <p:spPr>
          <a:xfrm>
            <a:off x="2651760" y="5349240"/>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Could I hand this rubric to learners BEFORE the task, and would it help them aim?</a:t>
            </a:r>
          </a:p>
        </p:txBody>
      </p:sp>
      <p:sp>
        <p:nvSpPr>
          <p:cNvPr id="30" name="TextBox 29"/>
          <p:cNvSpPr txBox="1"/>
          <p:nvPr/>
        </p:nvSpPr>
        <p:spPr>
          <a:xfrm>
            <a:off x="8458200" y="5349240"/>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Rewrite the language so a learner can understand it.</a:t>
            </a:r>
          </a:p>
        </p:txBody>
      </p:sp>
      <p:sp>
        <p:nvSpPr>
          <p:cNvPr id="31" name="Rectangle 30"/>
          <p:cNvSpPr/>
          <p:nvPr/>
        </p:nvSpPr>
        <p:spPr>
          <a:xfrm>
            <a:off x="566928" y="6044184"/>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108192"/>
            <a:ext cx="1728216" cy="667512"/>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Practicability</a:t>
            </a:r>
          </a:p>
        </p:txBody>
      </p:sp>
      <p:sp>
        <p:nvSpPr>
          <p:cNvPr id="33" name="TextBox 32"/>
          <p:cNvSpPr txBox="1"/>
          <p:nvPr/>
        </p:nvSpPr>
        <p:spPr>
          <a:xfrm>
            <a:off x="2651760" y="6108192"/>
            <a:ext cx="5568696"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Can I run this in week eight, mark it, AND give feedback — with my real class size?</a:t>
            </a:r>
          </a:p>
        </p:txBody>
      </p:sp>
      <p:sp>
        <p:nvSpPr>
          <p:cNvPr id="34" name="TextBox 33"/>
          <p:cNvSpPr txBox="1"/>
          <p:nvPr/>
        </p:nvSpPr>
        <p:spPr>
          <a:xfrm>
            <a:off x="8458200" y="6108192"/>
            <a:ext cx="3044952" cy="667512"/>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Scale it down. A smaller task you complete beats a grand one you abandon.</a:t>
            </a:r>
          </a:p>
        </p:txBody>
      </p:sp>
      <p:sp>
        <p:nvSpPr>
          <p:cNvPr id="35" name="TextBox 3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Gallery Walk — Read Each Other's Work</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10 minutes · walk, read, leave written feedback</a:t>
            </a:r>
          </a:p>
        </p:txBody>
      </p:sp>
      <p:pic>
        <p:nvPicPr>
          <p:cNvPr id="6" name="Picture 5" descr="19_gallery_walk.jpg"/>
          <p:cNvPicPr>
            <a:picLocks noChangeAspect="1"/>
          </p:cNvPicPr>
          <p:nvPr/>
        </p:nvPicPr>
        <p:blipFill>
          <a:blip r:embed="rId2"/>
          <a:srcRect l="23529" r="23529"/>
          <a:stretch>
            <a:fillRect/>
          </a:stretch>
        </p:blipFill>
        <p:spPr>
          <a:xfrm>
            <a:off x="566928" y="1417320"/>
            <a:ext cx="3703320" cy="4663440"/>
          </a:xfrm>
          <a:prstGeom prst="rect">
            <a:avLst/>
          </a:prstGeom>
        </p:spPr>
      </p:pic>
      <p:sp>
        <p:nvSpPr>
          <p:cNvPr id="7" name="Rectangle 6"/>
          <p:cNvSpPr/>
          <p:nvPr/>
        </p:nvSpPr>
        <p:spPr>
          <a:xfrm>
            <a:off x="566928" y="1417320"/>
            <a:ext cx="3703320" cy="594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54296" y="1389888"/>
            <a:ext cx="1691640" cy="402336"/>
          </a:xfrm>
          <a:prstGeom prst="roundRect">
            <a:avLst>
              <a:gd name="adj" fmla="val 40000"/>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250" b="1" i="0">
                <a:solidFill>
                  <a:srgbClr val="074A35"/>
                </a:solidFill>
                <a:latin typeface="Trebuchet MS"/>
              </a:rPr>
              <a:t>10 MINUTES</a:t>
            </a:r>
          </a:p>
        </p:txBody>
      </p:sp>
      <p:sp>
        <p:nvSpPr>
          <p:cNvPr id="9" name="Rounded Rectangle 8"/>
          <p:cNvSpPr/>
          <p:nvPr/>
        </p:nvSpPr>
        <p:spPr>
          <a:xfrm>
            <a:off x="4654296" y="1920240"/>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54296" y="1920240"/>
            <a:ext cx="50292" cy="826617"/>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37176" y="2178100"/>
            <a:ext cx="310896" cy="31089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FFFFFF"/>
                </a:solidFill>
                <a:latin typeface="Trebuchet MS"/>
              </a:rPr>
              <a:t>1</a:t>
            </a:r>
          </a:p>
        </p:txBody>
      </p:sp>
      <p:sp>
        <p:nvSpPr>
          <p:cNvPr id="12" name="TextBox 11"/>
          <p:cNvSpPr txBox="1"/>
          <p:nvPr/>
        </p:nvSpPr>
        <p:spPr>
          <a:xfrm>
            <a:off x="5276088" y="2011680"/>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C1440E"/>
                </a:solidFill>
                <a:latin typeface="Trebuchet MS"/>
              </a:rPr>
              <a:t>Stick your work on the wall</a:t>
            </a:r>
          </a:p>
          <a:p>
            <a:pPr algn="l">
              <a:lnSpc>
                <a:spcPct val="108000"/>
              </a:lnSpc>
              <a:spcBef>
                <a:spcPts val="0"/>
              </a:spcBef>
              <a:spcAft>
                <a:spcPts val="0"/>
              </a:spcAft>
            </a:pPr>
            <a:r>
              <a:rPr sz="1150" b="0" i="0">
                <a:solidFill>
                  <a:srgbClr val="14262E"/>
                </a:solidFill>
                <a:latin typeface="Calibri"/>
              </a:rPr>
              <a:t>One sheet per group. Write your subject and level at the top so people know the context.</a:t>
            </a:r>
          </a:p>
        </p:txBody>
      </p:sp>
      <p:sp>
        <p:nvSpPr>
          <p:cNvPr id="13" name="Rounded Rectangle 12"/>
          <p:cNvSpPr/>
          <p:nvPr/>
        </p:nvSpPr>
        <p:spPr>
          <a:xfrm>
            <a:off x="4654296" y="2829153"/>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654296" y="2829153"/>
            <a:ext cx="50292" cy="826617"/>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37176" y="3087014"/>
            <a:ext cx="310896" cy="31089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FFFFFF"/>
                </a:solidFill>
                <a:latin typeface="Trebuchet MS"/>
              </a:rPr>
              <a:t>2</a:t>
            </a:r>
          </a:p>
        </p:txBody>
      </p:sp>
      <p:sp>
        <p:nvSpPr>
          <p:cNvPr id="16" name="TextBox 15"/>
          <p:cNvSpPr txBox="1"/>
          <p:nvPr/>
        </p:nvSpPr>
        <p:spPr>
          <a:xfrm>
            <a:off x="5276088" y="2920593"/>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C1440E"/>
                </a:solidFill>
                <a:latin typeface="Trebuchet MS"/>
              </a:rPr>
              <a:t>Walk and read — 6 minutes</a:t>
            </a:r>
          </a:p>
          <a:p>
            <a:pPr algn="l">
              <a:lnSpc>
                <a:spcPct val="108000"/>
              </a:lnSpc>
              <a:spcBef>
                <a:spcPts val="0"/>
              </a:spcBef>
              <a:spcAft>
                <a:spcPts val="0"/>
              </a:spcAft>
            </a:pPr>
            <a:r>
              <a:rPr sz="1150" b="0" i="0">
                <a:solidFill>
                  <a:srgbClr val="14262E"/>
                </a:solidFill>
                <a:latin typeface="Calibri"/>
              </a:rPr>
              <a:t>Move around the room reading other groups' work. No talking for the first three minutes — just read. Then you may discuss quietly.</a:t>
            </a:r>
          </a:p>
        </p:txBody>
      </p:sp>
      <p:sp>
        <p:nvSpPr>
          <p:cNvPr id="17" name="Rounded Rectangle 16"/>
          <p:cNvSpPr/>
          <p:nvPr/>
        </p:nvSpPr>
        <p:spPr>
          <a:xfrm>
            <a:off x="4654296" y="3738067"/>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54296" y="3738067"/>
            <a:ext cx="50292" cy="826617"/>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37176" y="3995928"/>
            <a:ext cx="310896" cy="31089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FFFFFF"/>
                </a:solidFill>
                <a:latin typeface="Trebuchet MS"/>
              </a:rPr>
              <a:t>3</a:t>
            </a:r>
          </a:p>
        </p:txBody>
      </p:sp>
      <p:sp>
        <p:nvSpPr>
          <p:cNvPr id="20" name="TextBox 19"/>
          <p:cNvSpPr txBox="1"/>
          <p:nvPr/>
        </p:nvSpPr>
        <p:spPr>
          <a:xfrm>
            <a:off x="5276088" y="3829507"/>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C1440E"/>
                </a:solidFill>
                <a:latin typeface="Trebuchet MS"/>
              </a:rPr>
              <a:t>Leave feedback on sticky notes</a:t>
            </a:r>
          </a:p>
          <a:p>
            <a:pPr algn="l">
              <a:lnSpc>
                <a:spcPct val="108000"/>
              </a:lnSpc>
              <a:spcBef>
                <a:spcPts val="0"/>
              </a:spcBef>
              <a:spcAft>
                <a:spcPts val="0"/>
              </a:spcAft>
            </a:pPr>
            <a:r>
              <a:rPr sz="1150" b="0" i="0">
                <a:solidFill>
                  <a:srgbClr val="14262E"/>
                </a:solidFill>
                <a:latin typeface="Calibri"/>
              </a:rPr>
              <a:t>One note per sheet. Write ONE thing that would make this task better or fairer. Be specific and kind — “the rubric cell for Good is still vague”, not “needs work”.</a:t>
            </a:r>
          </a:p>
        </p:txBody>
      </p:sp>
      <p:sp>
        <p:nvSpPr>
          <p:cNvPr id="21" name="Rounded Rectangle 20"/>
          <p:cNvSpPr/>
          <p:nvPr/>
        </p:nvSpPr>
        <p:spPr>
          <a:xfrm>
            <a:off x="4654296" y="4646980"/>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54296" y="4646980"/>
            <a:ext cx="50292" cy="826617"/>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837176" y="4904841"/>
            <a:ext cx="310896" cy="31089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FFFFFF"/>
                </a:solidFill>
                <a:latin typeface="Trebuchet MS"/>
              </a:rPr>
              <a:t>4</a:t>
            </a:r>
          </a:p>
        </p:txBody>
      </p:sp>
      <p:sp>
        <p:nvSpPr>
          <p:cNvPr id="24" name="TextBox 23"/>
          <p:cNvSpPr txBox="1"/>
          <p:nvPr/>
        </p:nvSpPr>
        <p:spPr>
          <a:xfrm>
            <a:off x="5276088" y="4738420"/>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C1440E"/>
                </a:solidFill>
                <a:latin typeface="Trebuchet MS"/>
              </a:rPr>
              <a:t>Collect your own notes — 2 minutes</a:t>
            </a:r>
          </a:p>
          <a:p>
            <a:pPr algn="l">
              <a:lnSpc>
                <a:spcPct val="108000"/>
              </a:lnSpc>
              <a:spcBef>
                <a:spcPts val="0"/>
              </a:spcBef>
              <a:spcAft>
                <a:spcPts val="0"/>
              </a:spcAft>
            </a:pPr>
            <a:r>
              <a:rPr sz="1150" b="0" i="0">
                <a:solidFill>
                  <a:srgbClr val="14262E"/>
                </a:solidFill>
                <a:latin typeface="Calibri"/>
              </a:rPr>
              <a:t>Go back to your own sheet. Read the notes people left for you. You do not have to agree with them all — but read them.</a:t>
            </a:r>
          </a:p>
        </p:txBody>
      </p:sp>
      <p:sp>
        <p:nvSpPr>
          <p:cNvPr id="25" name="Rounded Rectangle 24"/>
          <p:cNvSpPr/>
          <p:nvPr/>
        </p:nvSpPr>
        <p:spPr>
          <a:xfrm>
            <a:off x="4654296" y="5555894"/>
            <a:ext cx="6970471" cy="826617"/>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54296" y="5555894"/>
            <a:ext cx="50292" cy="826617"/>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37176" y="5813755"/>
            <a:ext cx="310896" cy="31089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50" b="1" i="0">
                <a:solidFill>
                  <a:srgbClr val="FFFFFF"/>
                </a:solidFill>
                <a:latin typeface="Trebuchet MS"/>
              </a:rPr>
              <a:t>5</a:t>
            </a:r>
          </a:p>
        </p:txBody>
      </p:sp>
      <p:sp>
        <p:nvSpPr>
          <p:cNvPr id="28" name="TextBox 27"/>
          <p:cNvSpPr txBox="1"/>
          <p:nvPr/>
        </p:nvSpPr>
        <p:spPr>
          <a:xfrm>
            <a:off x="5276088" y="5647334"/>
            <a:ext cx="6129223" cy="643737"/>
          </a:xfrm>
          <a:prstGeom prst="rect">
            <a:avLst/>
          </a:prstGeom>
          <a:noFill/>
        </p:spPr>
        <p:txBody>
          <a:bodyPr wrap="square" lIns="0" rIns="0" tIns="0" bIns="0">
            <a:spAutoFit/>
          </a:bodyPr>
          <a:lstStyle/>
          <a:p>
            <a:pPr algn="l">
              <a:lnSpc>
                <a:spcPct val="102000"/>
              </a:lnSpc>
              <a:spcBef>
                <a:spcPts val="0"/>
              </a:spcBef>
              <a:spcAft>
                <a:spcPts val="300"/>
              </a:spcAft>
            </a:pPr>
            <a:r>
              <a:rPr sz="1250" b="1" i="0">
                <a:solidFill>
                  <a:srgbClr val="C1440E"/>
                </a:solidFill>
                <a:latin typeface="Trebuchet MS"/>
              </a:rPr>
              <a:t>Share-outs — 2 minutes</a:t>
            </a:r>
          </a:p>
          <a:p>
            <a:pPr algn="l">
              <a:lnSpc>
                <a:spcPct val="108000"/>
              </a:lnSpc>
              <a:spcBef>
                <a:spcPts val="0"/>
              </a:spcBef>
              <a:spcAft>
                <a:spcPts val="0"/>
              </a:spcAft>
            </a:pPr>
            <a:r>
              <a:rPr sz="1150" b="0" i="0">
                <a:solidFill>
                  <a:srgbClr val="14262E"/>
                </a:solidFill>
                <a:latin typeface="Calibri"/>
              </a:rPr>
              <a:t>We will hear from two or three groups at the front: what did you design, and what did the feedback make you reconsider?</a:t>
            </a:r>
          </a:p>
        </p:txBody>
      </p:sp>
      <p:sp>
        <p:nvSpPr>
          <p:cNvPr id="29" name="TextBox 28"/>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_records.jpg"/>
          <p:cNvPicPr>
            <a:picLocks noChangeAspect="1"/>
          </p:cNvPicPr>
          <p:nvPr/>
        </p:nvPicPr>
        <p:blipFill>
          <a:blip r:embed="rId2"/>
          <a:srcRect l="20371" r="20371"/>
          <a:stretch>
            <a:fillRect/>
          </a:stretch>
        </p:blipFill>
        <p:spPr>
          <a:xfrm>
            <a:off x="6095847" y="0"/>
            <a:ext cx="6095847" cy="6858000"/>
          </a:xfrm>
          <a:prstGeom prst="rect">
            <a:avLst/>
          </a:prstGeom>
        </p:spPr>
      </p:pic>
      <p:sp>
        <p:nvSpPr>
          <p:cNvPr id="3" name="Rectangle 2"/>
          <p:cNvSpPr/>
          <p:nvPr/>
        </p:nvSpPr>
        <p:spPr>
          <a:xfrm>
            <a:off x="0" y="0"/>
            <a:ext cx="6095847" cy="6858000"/>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8016" cy="6858000"/>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1691640"/>
            <a:ext cx="4614519" cy="2926080"/>
          </a:xfrm>
          <a:prstGeom prst="rect">
            <a:avLst/>
          </a:prstGeom>
          <a:noFill/>
        </p:spPr>
        <p:txBody>
          <a:bodyPr wrap="square" lIns="0" rIns="0" tIns="0" bIns="0">
            <a:spAutoFit/>
          </a:bodyPr>
          <a:lstStyle/>
          <a:p>
            <a:pPr algn="l">
              <a:lnSpc>
                <a:spcPct val="100000"/>
              </a:lnSpc>
              <a:spcBef>
                <a:spcPts val="0"/>
              </a:spcBef>
              <a:spcAft>
                <a:spcPts val="600"/>
              </a:spcAft>
            </a:pPr>
            <a:r>
              <a:rPr sz="1300" b="1" i="0">
                <a:solidFill>
                  <a:srgbClr val="F4B400"/>
                </a:solidFill>
                <a:latin typeface="Trebuchet MS"/>
              </a:rPr>
              <a:t>USING ASSESSMENT DATA</a:t>
            </a:r>
          </a:p>
        </p:txBody>
      </p:sp>
      <p:sp>
        <p:nvSpPr>
          <p:cNvPr id="6" name="Rounded Rectangle 5"/>
          <p:cNvSpPr/>
          <p:nvPr/>
        </p:nvSpPr>
        <p:spPr>
          <a:xfrm>
            <a:off x="886968" y="2084831"/>
            <a:ext cx="1188720" cy="365760"/>
          </a:xfrm>
          <a:prstGeom prst="roundRect">
            <a:avLst>
              <a:gd name="adj" fmla="val 40000"/>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00000"/>
              </a:lnSpc>
              <a:spcBef>
                <a:spcPts val="0"/>
              </a:spcBef>
              <a:spcAft>
                <a:spcPts val="0"/>
              </a:spcAft>
            </a:pPr>
            <a:r>
              <a:rPr sz="1100" b="1" i="0">
                <a:solidFill>
                  <a:srgbClr val="074A35"/>
                </a:solidFill>
                <a:latin typeface="Trebuchet MS"/>
              </a:rPr>
              <a:t>10 MINUTES</a:t>
            </a:r>
          </a:p>
        </p:txBody>
      </p:sp>
      <p:sp>
        <p:nvSpPr>
          <p:cNvPr id="7" name="TextBox 6"/>
          <p:cNvSpPr txBox="1"/>
          <p:nvPr/>
        </p:nvSpPr>
        <p:spPr>
          <a:xfrm>
            <a:off x="886968" y="2697480"/>
            <a:ext cx="4614519" cy="1828800"/>
          </a:xfrm>
          <a:prstGeom prst="rect">
            <a:avLst/>
          </a:prstGeom>
          <a:noFill/>
        </p:spPr>
        <p:txBody>
          <a:bodyPr wrap="square" lIns="0" rIns="0" tIns="0" bIns="0">
            <a:spAutoFit/>
          </a:bodyPr>
          <a:lstStyle/>
          <a:p>
            <a:pPr algn="l">
              <a:lnSpc>
                <a:spcPct val="103000"/>
              </a:lnSpc>
              <a:spcBef>
                <a:spcPts val="0"/>
              </a:spcBef>
              <a:spcAft>
                <a:spcPts val="1200"/>
              </a:spcAft>
            </a:pPr>
            <a:r>
              <a:rPr sz="3200" b="1" i="0">
                <a:solidFill>
                  <a:srgbClr val="FFFFFF"/>
                </a:solidFill>
                <a:latin typeface="Trebuchet MS"/>
              </a:rPr>
              <a:t>Feedback &amp; Records</a:t>
            </a:r>
          </a:p>
          <a:p>
            <a:pPr algn="l">
              <a:lnSpc>
                <a:spcPct val="115000"/>
              </a:lnSpc>
              <a:spcBef>
                <a:spcPts val="0"/>
              </a:spcBef>
              <a:spcAft>
                <a:spcPts val="0"/>
              </a:spcAft>
            </a:pPr>
            <a:r>
              <a:rPr sz="1300" b="0" i="0">
                <a:solidFill>
                  <a:srgbClr val="C6DBD3"/>
                </a:solidFill>
                <a:latin typeface="Calibri"/>
              </a:rPr>
              <a:t>Turning marks into learning — and into records you can defend.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Feedback — The Good Mechanic</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Why “good work, 7/10” is not feedback</a:t>
            </a:r>
          </a:p>
        </p:txBody>
      </p:sp>
      <p:pic>
        <p:nvPicPr>
          <p:cNvPr id="6" name="Picture 5" descr="12_feedback_mechanic.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Point at the exact part, and say what to do next.</a:t>
            </a:r>
          </a:p>
        </p:txBody>
      </p:sp>
      <p:sp>
        <p:nvSpPr>
          <p:cNvPr id="9" name="Rounded Rectangle 8"/>
          <p:cNvSpPr/>
          <p:nvPr/>
        </p:nvSpPr>
        <p:spPr>
          <a:xfrm>
            <a:off x="566928" y="1426464"/>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9794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C1440E"/>
                </a:solidFill>
                <a:latin typeface="Trebuchet MS"/>
              </a:rPr>
              <a:t>The useless mechanic</a:t>
            </a:r>
          </a:p>
          <a:p>
            <a:pPr algn="l">
              <a:lnSpc>
                <a:spcPct val="110000"/>
              </a:lnSpc>
              <a:spcBef>
                <a:spcPts val="0"/>
              </a:spcBef>
              <a:spcAft>
                <a:spcPts val="0"/>
              </a:spcAft>
            </a:pPr>
            <a:r>
              <a:rPr sz="1050" b="0" i="0">
                <a:solidFill>
                  <a:srgbClr val="14262E"/>
                </a:solidFill>
                <a:latin typeface="Calibri"/>
              </a:rPr>
              <a:t>Says “the car is bad” and takes your money. You leave knowing nothing, and the car is no better.</a:t>
            </a:r>
          </a:p>
        </p:txBody>
      </p:sp>
      <p:sp>
        <p:nvSpPr>
          <p:cNvPr id="12" name="Rounded Rectangle 11"/>
          <p:cNvSpPr/>
          <p:nvPr/>
        </p:nvSpPr>
        <p:spPr>
          <a:xfrm>
            <a:off x="566928" y="2434132"/>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434132"/>
            <a:ext cx="45720" cy="89794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71292"/>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C1440E"/>
                </a:solidFill>
                <a:latin typeface="Trebuchet MS"/>
              </a:rPr>
              <a:t>The good mechanic</a:t>
            </a:r>
          </a:p>
          <a:p>
            <a:pPr algn="l">
              <a:lnSpc>
                <a:spcPct val="110000"/>
              </a:lnSpc>
              <a:spcBef>
                <a:spcPts val="0"/>
              </a:spcBef>
              <a:spcAft>
                <a:spcPts val="0"/>
              </a:spcAft>
            </a:pPr>
            <a:r>
              <a:rPr sz="1050" b="0" i="0">
                <a:solidFill>
                  <a:srgbClr val="14262E"/>
                </a:solidFill>
                <a:latin typeface="Calibri"/>
              </a:rPr>
              <a:t>Opens the bonnet, points at ONE exact part and says: “This hose is cracked. Replace it and the overheating stops.” You now know what to do next.</a:t>
            </a:r>
          </a:p>
        </p:txBody>
      </p:sp>
      <p:sp>
        <p:nvSpPr>
          <p:cNvPr id="15" name="Rounded Rectangle 14"/>
          <p:cNvSpPr/>
          <p:nvPr/>
        </p:nvSpPr>
        <p:spPr>
          <a:xfrm>
            <a:off x="566928" y="3441801"/>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41801"/>
            <a:ext cx="45720" cy="89794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578961"/>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C1440E"/>
                </a:solidFill>
                <a:latin typeface="Trebuchet MS"/>
              </a:rPr>
              <a:t>Plain English</a:t>
            </a:r>
          </a:p>
          <a:p>
            <a:pPr algn="l">
              <a:lnSpc>
                <a:spcPct val="110000"/>
              </a:lnSpc>
              <a:spcBef>
                <a:spcPts val="0"/>
              </a:spcBef>
              <a:spcAft>
                <a:spcPts val="0"/>
              </a:spcAft>
            </a:pPr>
            <a:r>
              <a:rPr sz="1050" b="0" i="0">
                <a:solidFill>
                  <a:srgbClr val="14262E"/>
                </a:solidFill>
                <a:latin typeface="Calibri"/>
              </a:rPr>
              <a:t>Feedback is information that helps a learner close the gap between where they are and where they need to be.</a:t>
            </a:r>
          </a:p>
        </p:txBody>
      </p:sp>
      <p:sp>
        <p:nvSpPr>
          <p:cNvPr id="18" name="Rounded Rectangle 17"/>
          <p:cNvSpPr/>
          <p:nvPr/>
        </p:nvSpPr>
        <p:spPr>
          <a:xfrm>
            <a:off x="566928" y="4449470"/>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49470"/>
            <a:ext cx="45720" cy="89794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586630"/>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C1440E"/>
                </a:solidFill>
                <a:latin typeface="Trebuchet MS"/>
              </a:rPr>
              <a:t>What it is NOT</a:t>
            </a:r>
          </a:p>
          <a:p>
            <a:pPr algn="l">
              <a:lnSpc>
                <a:spcPct val="110000"/>
              </a:lnSpc>
              <a:spcBef>
                <a:spcPts val="0"/>
              </a:spcBef>
              <a:spcAft>
                <a:spcPts val="0"/>
              </a:spcAft>
            </a:pPr>
            <a:r>
              <a:rPr sz="1050" b="0" i="0">
                <a:solidFill>
                  <a:srgbClr val="14262E"/>
                </a:solidFill>
                <a:latin typeface="Calibri"/>
              </a:rPr>
              <a:t>It is not a score. It is not praise. “Good work, 7/10” tells a learner nothing about what to do differently. A mark is a verdict; feedback is a map.</a:t>
            </a:r>
          </a:p>
        </p:txBody>
      </p:sp>
      <p:sp>
        <p:nvSpPr>
          <p:cNvPr id="21" name="Rounded Rectangle 20"/>
          <p:cNvSpPr/>
          <p:nvPr/>
        </p:nvSpPr>
        <p:spPr>
          <a:xfrm>
            <a:off x="566928" y="5457139"/>
            <a:ext cx="5781751" cy="89794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457139"/>
            <a:ext cx="45720" cy="89794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594299"/>
            <a:ext cx="5379415" cy="623620"/>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C1440E"/>
                </a:solidFill>
                <a:latin typeface="Trebuchet MS"/>
              </a:rPr>
              <a:t>The rule teachers break</a:t>
            </a:r>
          </a:p>
          <a:p>
            <a:pPr algn="l">
              <a:lnSpc>
                <a:spcPct val="110000"/>
              </a:lnSpc>
              <a:spcBef>
                <a:spcPts val="0"/>
              </a:spcBef>
              <a:spcAft>
                <a:spcPts val="0"/>
              </a:spcAft>
            </a:pPr>
            <a:r>
              <a:rPr sz="1050" b="0" i="0">
                <a:solidFill>
                  <a:srgbClr val="14262E"/>
                </a:solidFill>
                <a:latin typeface="Calibri"/>
              </a:rPr>
              <a:t>Feedback without TIME TO ACT ON IT is decoration. If you hand back corrections and immediately move to the next topic, the feedback dies in the exercise book.</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Records — What to Keep, and Why</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Because the 30% is now on a transcript that follows the learner</a:t>
            </a:r>
          </a:p>
        </p:txBody>
      </p:sp>
      <p:sp>
        <p:nvSpPr>
          <p:cNvPr id="6" name="TextBox 5"/>
          <p:cNvSpPr txBox="1"/>
          <p:nvPr/>
        </p:nvSpPr>
        <p:spPr>
          <a:xfrm>
            <a:off x="566928" y="1389888"/>
            <a:ext cx="11057839" cy="384048"/>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Six things. If you can produce all six for any learner, your 30% is defensible.</a:t>
            </a:r>
          </a:p>
        </p:txBody>
      </p:sp>
      <p:sp>
        <p:nvSpPr>
          <p:cNvPr id="7" name="Rectangle 6"/>
          <p:cNvSpPr/>
          <p:nvPr/>
        </p:nvSpPr>
        <p:spPr>
          <a:xfrm>
            <a:off x="566928" y="1865376"/>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47672"/>
            <a:ext cx="23225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to keep</a:t>
            </a:r>
          </a:p>
        </p:txBody>
      </p:sp>
      <p:sp>
        <p:nvSpPr>
          <p:cNvPr id="9" name="TextBox 8"/>
          <p:cNvSpPr txBox="1"/>
          <p:nvPr/>
        </p:nvSpPr>
        <p:spPr>
          <a:xfrm>
            <a:off x="3246120" y="1947672"/>
            <a:ext cx="460857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Why it matters</a:t>
            </a:r>
          </a:p>
        </p:txBody>
      </p:sp>
      <p:sp>
        <p:nvSpPr>
          <p:cNvPr id="10" name="TextBox 9"/>
          <p:cNvSpPr txBox="1"/>
          <p:nvPr/>
        </p:nvSpPr>
        <p:spPr>
          <a:xfrm>
            <a:off x="8092440" y="1947672"/>
            <a:ext cx="341071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How to keep it manageable</a:t>
            </a:r>
          </a:p>
        </p:txBody>
      </p:sp>
      <p:sp>
        <p:nvSpPr>
          <p:cNvPr id="11" name="Rectangle 10"/>
          <p:cNvSpPr/>
          <p:nvPr/>
        </p:nvSpPr>
        <p:spPr>
          <a:xfrm>
            <a:off x="566928" y="2249424"/>
            <a:ext cx="11057839"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313432"/>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The assessment task itself</a:t>
            </a:r>
          </a:p>
        </p:txBody>
      </p:sp>
      <p:sp>
        <p:nvSpPr>
          <p:cNvPr id="13" name="TextBox 12"/>
          <p:cNvSpPr txBox="1"/>
          <p:nvPr/>
        </p:nvSpPr>
        <p:spPr>
          <a:xfrm>
            <a:off x="3246120" y="2313432"/>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You cannot defend a mark without showing what was asked. Keep a copy of the paper or task sheet, not just the marks.</a:t>
            </a:r>
          </a:p>
        </p:txBody>
      </p:sp>
      <p:sp>
        <p:nvSpPr>
          <p:cNvPr id="14" name="TextBox 13"/>
          <p:cNvSpPr txBox="1"/>
          <p:nvPr/>
        </p:nvSpPr>
        <p:spPr>
          <a:xfrm>
            <a:off x="8092440" y="2313432"/>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One folder per class per term. Digital photo of the task sheet if you prefer.</a:t>
            </a:r>
          </a:p>
        </p:txBody>
      </p:sp>
      <p:sp>
        <p:nvSpPr>
          <p:cNvPr id="15" name="Rectangle 14"/>
          <p:cNvSpPr/>
          <p:nvPr/>
        </p:nvSpPr>
        <p:spPr>
          <a:xfrm>
            <a:off x="566928" y="2999232"/>
            <a:ext cx="11057839" cy="749808"/>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63239"/>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The rubric or marking scheme</a:t>
            </a:r>
          </a:p>
        </p:txBody>
      </p:sp>
      <p:sp>
        <p:nvSpPr>
          <p:cNvPr id="17" name="TextBox 16"/>
          <p:cNvSpPr txBox="1"/>
          <p:nvPr/>
        </p:nvSpPr>
        <p:spPr>
          <a:xfrm>
            <a:off x="3246120" y="3063239"/>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This is your evidence that marking was consistent — the reliability pillar made auditable.</a:t>
            </a:r>
          </a:p>
        </p:txBody>
      </p:sp>
      <p:sp>
        <p:nvSpPr>
          <p:cNvPr id="18" name="TextBox 17"/>
          <p:cNvSpPr txBox="1"/>
          <p:nvPr/>
        </p:nvSpPr>
        <p:spPr>
          <a:xfrm>
            <a:off x="8092440" y="3063239"/>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Keep the actual rubric, including any changes you made after marking started.</a:t>
            </a:r>
          </a:p>
        </p:txBody>
      </p:sp>
      <p:sp>
        <p:nvSpPr>
          <p:cNvPr id="19" name="Rectangle 18"/>
          <p:cNvSpPr/>
          <p:nvPr/>
        </p:nvSpPr>
        <p:spPr>
          <a:xfrm>
            <a:off x="566928" y="3749039"/>
            <a:ext cx="11057839"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13048"/>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Marks, with a date</a:t>
            </a:r>
          </a:p>
        </p:txBody>
      </p:sp>
      <p:sp>
        <p:nvSpPr>
          <p:cNvPr id="21" name="TextBox 20"/>
          <p:cNvSpPr txBox="1"/>
          <p:nvPr/>
        </p:nvSpPr>
        <p:spPr>
          <a:xfrm>
            <a:off x="3246120" y="3813048"/>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Marks without dates cannot show progress over the term, and cannot be audited.</a:t>
            </a:r>
          </a:p>
        </p:txBody>
      </p:sp>
      <p:sp>
        <p:nvSpPr>
          <p:cNvPr id="22" name="TextBox 21"/>
          <p:cNvSpPr txBox="1"/>
          <p:nvPr/>
        </p:nvSpPr>
        <p:spPr>
          <a:xfrm>
            <a:off x="8092440" y="3813048"/>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 single clean mark book, updated after each assessment — not reconstructed at the end.</a:t>
            </a:r>
          </a:p>
        </p:txBody>
      </p:sp>
      <p:sp>
        <p:nvSpPr>
          <p:cNvPr id="23" name="Rectangle 22"/>
          <p:cNvSpPr/>
          <p:nvPr/>
        </p:nvSpPr>
        <p:spPr>
          <a:xfrm>
            <a:off x="566928" y="4498848"/>
            <a:ext cx="11057839" cy="749808"/>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62856"/>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Evidence of a sample of learner work</a:t>
            </a:r>
          </a:p>
        </p:txBody>
      </p:sp>
      <p:sp>
        <p:nvSpPr>
          <p:cNvPr id="25" name="TextBox 24"/>
          <p:cNvSpPr txBox="1"/>
          <p:nvPr/>
        </p:nvSpPr>
        <p:spPr>
          <a:xfrm>
            <a:off x="3246120" y="4562856"/>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For any mark that could be questioned, you need at least a sample of the actual work.</a:t>
            </a:r>
          </a:p>
        </p:txBody>
      </p:sp>
      <p:sp>
        <p:nvSpPr>
          <p:cNvPr id="26" name="TextBox 25"/>
          <p:cNvSpPr txBox="1"/>
          <p:nvPr/>
        </p:nvSpPr>
        <p:spPr>
          <a:xfrm>
            <a:off x="8092440" y="4562856"/>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Keep the scripts for the assessments that feed the 30%, or a representative sample.</a:t>
            </a:r>
          </a:p>
        </p:txBody>
      </p:sp>
      <p:sp>
        <p:nvSpPr>
          <p:cNvPr id="27" name="Rectangle 26"/>
          <p:cNvSpPr/>
          <p:nvPr/>
        </p:nvSpPr>
        <p:spPr>
          <a:xfrm>
            <a:off x="566928" y="5248656"/>
            <a:ext cx="11057839"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312664"/>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SEN accommodations provided</a:t>
            </a:r>
          </a:p>
        </p:txBody>
      </p:sp>
      <p:sp>
        <p:nvSpPr>
          <p:cNvPr id="29" name="TextBox 28"/>
          <p:cNvSpPr txBox="1"/>
          <p:nvPr/>
        </p:nvSpPr>
        <p:spPr>
          <a:xfrm>
            <a:off x="3246120" y="5312664"/>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Required by the framework — and needed to explain a mark later if it is questioned.</a:t>
            </a:r>
          </a:p>
        </p:txBody>
      </p:sp>
      <p:sp>
        <p:nvSpPr>
          <p:cNvPr id="30" name="TextBox 29"/>
          <p:cNvSpPr txBox="1"/>
          <p:nvPr/>
        </p:nvSpPr>
        <p:spPr>
          <a:xfrm>
            <a:off x="8092440" y="5312664"/>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 short note in the record against the learner's name: what was provided, and when.</a:t>
            </a:r>
          </a:p>
        </p:txBody>
      </p:sp>
      <p:sp>
        <p:nvSpPr>
          <p:cNvPr id="31" name="Rectangle 30"/>
          <p:cNvSpPr/>
          <p:nvPr/>
        </p:nvSpPr>
        <p:spPr>
          <a:xfrm>
            <a:off x="566928" y="5998464"/>
            <a:ext cx="11057839" cy="749808"/>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062472"/>
            <a:ext cx="2322576" cy="658368"/>
          </a:xfrm>
          <a:prstGeom prst="rect">
            <a:avLst/>
          </a:prstGeom>
          <a:noFill/>
        </p:spPr>
        <p:txBody>
          <a:bodyPr wrap="square" lIns="0" rIns="0" tIns="0" bIns="0">
            <a:spAutoFit/>
          </a:bodyPr>
          <a:lstStyle/>
          <a:p>
            <a:pPr algn="l">
              <a:lnSpc>
                <a:spcPct val="100000"/>
              </a:lnSpc>
              <a:spcBef>
                <a:spcPts val="0"/>
              </a:spcBef>
              <a:spcAft>
                <a:spcPts val="0"/>
              </a:spcAft>
            </a:pPr>
            <a:r>
              <a:rPr sz="1100" b="1" i="0">
                <a:solidFill>
                  <a:srgbClr val="14262E"/>
                </a:solidFill>
                <a:latin typeface="Calibri"/>
              </a:rPr>
              <a:t>Feedback given</a:t>
            </a:r>
          </a:p>
        </p:txBody>
      </p:sp>
      <p:sp>
        <p:nvSpPr>
          <p:cNvPr id="33" name="TextBox 32"/>
          <p:cNvSpPr txBox="1"/>
          <p:nvPr/>
        </p:nvSpPr>
        <p:spPr>
          <a:xfrm>
            <a:off x="3246120" y="6062472"/>
            <a:ext cx="4608576"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The manual requires that results feed back into learning. Evidence that they did.</a:t>
            </a:r>
          </a:p>
        </p:txBody>
      </p:sp>
      <p:sp>
        <p:nvSpPr>
          <p:cNvPr id="34" name="TextBox 33"/>
          <p:cNvSpPr txBox="1"/>
          <p:nvPr/>
        </p:nvSpPr>
        <p:spPr>
          <a:xfrm>
            <a:off x="8092440" y="6062472"/>
            <a:ext cx="3410712" cy="658368"/>
          </a:xfrm>
          <a:prstGeom prst="rect">
            <a:avLst/>
          </a:prstGeom>
          <a:noFill/>
        </p:spPr>
        <p:txBody>
          <a:bodyPr wrap="square" lIns="0" rIns="0" tIns="0" bIns="0">
            <a:spAutoFit/>
          </a:bodyPr>
          <a:lstStyle/>
          <a:p>
            <a:pPr algn="l">
              <a:lnSpc>
                <a:spcPct val="100000"/>
              </a:lnSpc>
              <a:spcBef>
                <a:spcPts val="0"/>
              </a:spcBef>
              <a:spcAft>
                <a:spcPts val="0"/>
              </a:spcAft>
            </a:pPr>
            <a:r>
              <a:rPr sz="1100" b="0" i="0">
                <a:solidFill>
                  <a:srgbClr val="14262E"/>
                </a:solidFill>
                <a:latin typeface="Calibri"/>
              </a:rPr>
              <a:t>A note of the date feedback was returned is usually enough.</a:t>
            </a:r>
          </a:p>
        </p:txBody>
      </p:sp>
      <p:sp>
        <p:nvSpPr>
          <p:cNvPr id="35" name="TextBox 3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From Data to Action — The Whole Point</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Assessment that does not change anything was just data collection</a:t>
            </a:r>
          </a:p>
        </p:txBody>
      </p:sp>
      <p:pic>
        <p:nvPicPr>
          <p:cNvPr id="6" name="Picture 5" descr="07_feedback_loop.jpg"/>
          <p:cNvPicPr>
            <a:picLocks noChangeAspect="1"/>
          </p:cNvPicPr>
          <p:nvPr/>
        </p:nvPicPr>
        <p:blipFill>
          <a:blip r:embed="rId2"/>
          <a:srcRect t="2336" b="2336"/>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From mark book to next lesson plan.</a:t>
            </a:r>
          </a:p>
        </p:txBody>
      </p:sp>
      <p:sp>
        <p:nvSpPr>
          <p:cNvPr id="9" name="Rounded Rectangle 8"/>
          <p:cNvSpPr/>
          <p:nvPr/>
        </p:nvSpPr>
        <p:spPr>
          <a:xfrm>
            <a:off x="566928" y="1426464"/>
            <a:ext cx="5781751" cy="99190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99190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717583"/>
          </a:xfrm>
          <a:prstGeom prst="rect">
            <a:avLst/>
          </a:prstGeom>
          <a:noFill/>
        </p:spPr>
        <p:txBody>
          <a:bodyPr wrap="square" lIns="0" rIns="0" tIns="0" bIns="0">
            <a:spAutoFit/>
          </a:bodyPr>
          <a:lstStyle/>
          <a:p>
            <a:pPr algn="l">
              <a:lnSpc>
                <a:spcPct val="100000"/>
              </a:lnSpc>
              <a:spcBef>
                <a:spcPts val="0"/>
              </a:spcBef>
              <a:spcAft>
                <a:spcPts val="300"/>
              </a:spcAft>
            </a:pPr>
            <a:r>
              <a:rPr sz="1050" b="1" i="0">
                <a:solidFill>
                  <a:srgbClr val="0B6E4F"/>
                </a:solidFill>
                <a:latin typeface="Trebuchet MS"/>
              </a:rPr>
              <a:t>Look for the pattern, not the person</a:t>
            </a:r>
          </a:p>
          <a:p>
            <a:pPr algn="l">
              <a:lnSpc>
                <a:spcPct val="110000"/>
              </a:lnSpc>
              <a:spcBef>
                <a:spcPts val="0"/>
              </a:spcBef>
              <a:spcAft>
                <a:spcPts val="0"/>
              </a:spcAft>
            </a:pPr>
            <a:r>
              <a:rPr sz="950" b="0" i="0">
                <a:solidFill>
                  <a:srgbClr val="14262E"/>
                </a:solidFill>
                <a:latin typeface="Calibri"/>
              </a:rPr>
              <a:t>Do not just record 45 individual scores. Ask: which questions did the class fail together? Eighteen learners failing the same question is one teaching problem, not eighteen learning problems.</a:t>
            </a:r>
          </a:p>
        </p:txBody>
      </p:sp>
      <p:sp>
        <p:nvSpPr>
          <p:cNvPr id="12" name="Rounded Rectangle 11"/>
          <p:cNvSpPr/>
          <p:nvPr/>
        </p:nvSpPr>
        <p:spPr>
          <a:xfrm>
            <a:off x="566928" y="2528095"/>
            <a:ext cx="5781751" cy="83529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528095"/>
            <a:ext cx="45720" cy="835299"/>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665255"/>
            <a:ext cx="5379415" cy="560979"/>
          </a:xfrm>
          <a:prstGeom prst="rect">
            <a:avLst/>
          </a:prstGeom>
          <a:noFill/>
        </p:spPr>
        <p:txBody>
          <a:bodyPr wrap="square" lIns="0" rIns="0" tIns="0" bIns="0">
            <a:spAutoFit/>
          </a:bodyPr>
          <a:lstStyle/>
          <a:p>
            <a:pPr algn="l">
              <a:lnSpc>
                <a:spcPct val="100000"/>
              </a:lnSpc>
              <a:spcBef>
                <a:spcPts val="0"/>
              </a:spcBef>
              <a:spcAft>
                <a:spcPts val="300"/>
              </a:spcAft>
            </a:pPr>
            <a:r>
              <a:rPr sz="1050" b="1" i="0">
                <a:solidFill>
                  <a:srgbClr val="0B6E4F"/>
                </a:solidFill>
                <a:latin typeface="Trebuchet MS"/>
              </a:rPr>
              <a:t>The three responses to a pattern</a:t>
            </a:r>
          </a:p>
          <a:p>
            <a:pPr algn="l">
              <a:lnSpc>
                <a:spcPct val="110000"/>
              </a:lnSpc>
              <a:spcBef>
                <a:spcPts val="0"/>
              </a:spcBef>
              <a:spcAft>
                <a:spcPts val="0"/>
              </a:spcAft>
            </a:pPr>
            <a:r>
              <a:rPr sz="950" b="0" i="0">
                <a:solidFill>
                  <a:srgbClr val="14262E"/>
                </a:solidFill>
                <a:latin typeface="Calibri"/>
              </a:rPr>
              <a:t>RE-TEACH the whole class if most failed ·  REGROUP and target support if a few failed ·  MOVE ON if everyone passed. Decide deliberately, not by habit.</a:t>
            </a:r>
          </a:p>
        </p:txBody>
      </p:sp>
      <p:sp>
        <p:nvSpPr>
          <p:cNvPr id="15" name="Rounded Rectangle 14"/>
          <p:cNvSpPr/>
          <p:nvPr/>
        </p:nvSpPr>
        <p:spPr>
          <a:xfrm>
            <a:off x="566928" y="3473122"/>
            <a:ext cx="5781751" cy="83529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473122"/>
            <a:ext cx="45720" cy="835299"/>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610282"/>
            <a:ext cx="5379415" cy="560979"/>
          </a:xfrm>
          <a:prstGeom prst="rect">
            <a:avLst/>
          </a:prstGeom>
          <a:noFill/>
        </p:spPr>
        <p:txBody>
          <a:bodyPr wrap="square" lIns="0" rIns="0" tIns="0" bIns="0">
            <a:spAutoFit/>
          </a:bodyPr>
          <a:lstStyle/>
          <a:p>
            <a:pPr algn="l">
              <a:lnSpc>
                <a:spcPct val="100000"/>
              </a:lnSpc>
              <a:spcBef>
                <a:spcPts val="0"/>
              </a:spcBef>
              <a:spcAft>
                <a:spcPts val="300"/>
              </a:spcAft>
            </a:pPr>
            <a:r>
              <a:rPr sz="1050" b="1" i="0">
                <a:solidFill>
                  <a:srgbClr val="0B6E4F"/>
                </a:solidFill>
                <a:latin typeface="Trebuchet MS"/>
              </a:rPr>
              <a:t>Close the loop in the next lesson</a:t>
            </a:r>
          </a:p>
          <a:p>
            <a:pPr algn="l">
              <a:lnSpc>
                <a:spcPct val="110000"/>
              </a:lnSpc>
              <a:spcBef>
                <a:spcPts val="0"/>
              </a:spcBef>
              <a:spcAft>
                <a:spcPts val="0"/>
              </a:spcAft>
            </a:pPr>
            <a:r>
              <a:rPr sz="950" b="0" i="0">
                <a:solidFill>
                  <a:srgbClr val="14262E"/>
                </a:solidFill>
                <a:latin typeface="Calibri"/>
              </a:rPr>
              <a:t>The gap between the assessment and the response should be days, not weeks. Feedback that arrives three weeks later is history, not feedback.</a:t>
            </a:r>
          </a:p>
        </p:txBody>
      </p:sp>
      <p:sp>
        <p:nvSpPr>
          <p:cNvPr id="18" name="Rounded Rectangle 17"/>
          <p:cNvSpPr/>
          <p:nvPr/>
        </p:nvSpPr>
        <p:spPr>
          <a:xfrm>
            <a:off x="566928" y="4418149"/>
            <a:ext cx="5781751" cy="835299"/>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418149"/>
            <a:ext cx="45720" cy="835299"/>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555309"/>
            <a:ext cx="5379415" cy="560979"/>
          </a:xfrm>
          <a:prstGeom prst="rect">
            <a:avLst/>
          </a:prstGeom>
          <a:noFill/>
        </p:spPr>
        <p:txBody>
          <a:bodyPr wrap="square" lIns="0" rIns="0" tIns="0" bIns="0">
            <a:spAutoFit/>
          </a:bodyPr>
          <a:lstStyle/>
          <a:p>
            <a:pPr algn="l">
              <a:lnSpc>
                <a:spcPct val="100000"/>
              </a:lnSpc>
              <a:spcBef>
                <a:spcPts val="0"/>
              </a:spcBef>
              <a:spcAft>
                <a:spcPts val="300"/>
              </a:spcAft>
            </a:pPr>
            <a:r>
              <a:rPr sz="1050" b="1" i="0">
                <a:solidFill>
                  <a:srgbClr val="0B6E4F"/>
                </a:solidFill>
                <a:latin typeface="Trebuchet MS"/>
              </a:rPr>
              <a:t>Use it for your own planning</a:t>
            </a:r>
          </a:p>
          <a:p>
            <a:pPr algn="l">
              <a:lnSpc>
                <a:spcPct val="110000"/>
              </a:lnSpc>
              <a:spcBef>
                <a:spcPts val="0"/>
              </a:spcBef>
              <a:spcAft>
                <a:spcPts val="0"/>
              </a:spcAft>
            </a:pPr>
            <a:r>
              <a:rPr sz="950" b="0" i="0">
                <a:solidFill>
                  <a:srgbClr val="14262E"/>
                </a:solidFill>
                <a:latin typeface="Calibri"/>
              </a:rPr>
              <a:t>The manual is explicit: assessment information should modify teaching and learning strategies. Your next week's lesson plan should be visibly shaped by last week's assessment.</a:t>
            </a:r>
          </a:p>
        </p:txBody>
      </p:sp>
      <p:sp>
        <p:nvSpPr>
          <p:cNvPr id="21" name="Rounded Rectangle 20"/>
          <p:cNvSpPr/>
          <p:nvPr/>
        </p:nvSpPr>
        <p:spPr>
          <a:xfrm>
            <a:off x="566928" y="5363176"/>
            <a:ext cx="5781751" cy="99190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363176"/>
            <a:ext cx="45720" cy="99190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500336"/>
            <a:ext cx="5379415" cy="717583"/>
          </a:xfrm>
          <a:prstGeom prst="rect">
            <a:avLst/>
          </a:prstGeom>
          <a:noFill/>
        </p:spPr>
        <p:txBody>
          <a:bodyPr wrap="square" lIns="0" rIns="0" tIns="0" bIns="0">
            <a:spAutoFit/>
          </a:bodyPr>
          <a:lstStyle/>
          <a:p>
            <a:pPr algn="l">
              <a:lnSpc>
                <a:spcPct val="100000"/>
              </a:lnSpc>
              <a:spcBef>
                <a:spcPts val="0"/>
              </a:spcBef>
              <a:spcAft>
                <a:spcPts val="300"/>
              </a:spcAft>
            </a:pPr>
            <a:r>
              <a:rPr sz="1050" b="1" i="0">
                <a:solidFill>
                  <a:srgbClr val="0B6E4F"/>
                </a:solidFill>
                <a:latin typeface="Trebuchet MS"/>
              </a:rPr>
              <a:t>Make it visible to learners</a:t>
            </a:r>
          </a:p>
          <a:p>
            <a:pPr algn="l">
              <a:lnSpc>
                <a:spcPct val="110000"/>
              </a:lnSpc>
              <a:spcBef>
                <a:spcPts val="0"/>
              </a:spcBef>
              <a:spcAft>
                <a:spcPts val="0"/>
              </a:spcAft>
            </a:pPr>
            <a:r>
              <a:rPr sz="950" b="0" i="0">
                <a:solidFill>
                  <a:srgbClr val="14262E"/>
                </a:solidFill>
                <a:latin typeface="Calibri"/>
              </a:rPr>
              <a:t>Tell them what you noticed and what you are changing. 'I can see we all struggled with this — we will do it a different way today.' That single sentence turns assessment from judgement into teaching.</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Common Challenges &amp; Practical Solutions</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The five things you are all thinking about — with honest answers</a:t>
            </a:r>
          </a:p>
        </p:txBody>
      </p:sp>
      <p:sp>
        <p:nvSpPr>
          <p:cNvPr id="6" name="TextBox 5"/>
          <p:cNvSpPr txBox="1"/>
          <p:nvPr/>
        </p:nvSpPr>
        <p:spPr>
          <a:xfrm>
            <a:off x="566928" y="1389888"/>
            <a:ext cx="11057839" cy="365760"/>
          </a:xfrm>
          <a:prstGeom prst="rect">
            <a:avLst/>
          </a:prstGeom>
          <a:noFill/>
        </p:spPr>
        <p:txBody>
          <a:bodyPr wrap="square" lIns="0" rIns="0" tIns="0" bIns="0">
            <a:spAutoFit/>
          </a:bodyPr>
          <a:lstStyle/>
          <a:p>
            <a:pPr algn="l">
              <a:lnSpc>
                <a:spcPct val="110000"/>
              </a:lnSpc>
              <a:spcBef>
                <a:spcPts val="0"/>
              </a:spcBef>
              <a:spcAft>
                <a:spcPts val="0"/>
              </a:spcAft>
            </a:pPr>
            <a:r>
              <a:rPr sz="1200" b="0" i="1">
                <a:solidFill>
                  <a:srgbClr val="5A6B72"/>
                </a:solidFill>
                <a:latin typeface="Calibri"/>
              </a:rPr>
              <a:t>These are the real constraints — not excuses. Every answer below is something you can start this term without extra budget.</a:t>
            </a:r>
          </a:p>
        </p:txBody>
      </p:sp>
      <p:sp>
        <p:nvSpPr>
          <p:cNvPr id="7" name="Rectangle 6"/>
          <p:cNvSpPr/>
          <p:nvPr/>
        </p:nvSpPr>
        <p:spPr>
          <a:xfrm>
            <a:off x="566928" y="1847088"/>
            <a:ext cx="11057839" cy="384048"/>
          </a:xfrm>
          <a:prstGeom prst="rect">
            <a:avLst/>
          </a:prstGeom>
          <a:solidFill>
            <a:srgbClr val="074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29384"/>
            <a:ext cx="282549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The challenge</a:t>
            </a:r>
          </a:p>
        </p:txBody>
      </p:sp>
      <p:sp>
        <p:nvSpPr>
          <p:cNvPr id="9" name="TextBox 8"/>
          <p:cNvSpPr txBox="1"/>
          <p:nvPr/>
        </p:nvSpPr>
        <p:spPr>
          <a:xfrm>
            <a:off x="3749040" y="1929384"/>
            <a:ext cx="3374136"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it looks like in school</a:t>
            </a:r>
          </a:p>
        </p:txBody>
      </p:sp>
      <p:sp>
        <p:nvSpPr>
          <p:cNvPr id="10" name="TextBox 9"/>
          <p:cNvSpPr txBox="1"/>
          <p:nvPr/>
        </p:nvSpPr>
        <p:spPr>
          <a:xfrm>
            <a:off x="7360920" y="1929384"/>
            <a:ext cx="4142232" cy="292607"/>
          </a:xfrm>
          <a:prstGeom prst="rect">
            <a:avLst/>
          </a:prstGeom>
          <a:noFill/>
        </p:spPr>
        <p:txBody>
          <a:bodyPr wrap="square" lIns="0" rIns="0" tIns="0" bIns="0">
            <a:spAutoFit/>
          </a:bodyPr>
          <a:lstStyle/>
          <a:p>
            <a:pPr algn="l">
              <a:lnSpc>
                <a:spcPct val="100000"/>
              </a:lnSpc>
              <a:spcBef>
                <a:spcPts val="0"/>
              </a:spcBef>
              <a:spcAft>
                <a:spcPts val="0"/>
              </a:spcAft>
            </a:pPr>
            <a:r>
              <a:rPr sz="1150" b="1" i="0">
                <a:solidFill>
                  <a:srgbClr val="FFFFFF"/>
                </a:solidFill>
                <a:latin typeface="Trebuchet MS"/>
              </a:rPr>
              <a:t>What actually works</a:t>
            </a:r>
          </a:p>
        </p:txBody>
      </p:sp>
      <p:sp>
        <p:nvSpPr>
          <p:cNvPr id="11" name="Rectangle 10"/>
          <p:cNvSpPr/>
          <p:nvPr/>
        </p:nvSpPr>
        <p:spPr>
          <a:xfrm>
            <a:off x="566928" y="2231136"/>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95144"/>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“My class is too large to assess properly.”</a:t>
            </a:r>
          </a:p>
        </p:txBody>
      </p:sp>
      <p:sp>
        <p:nvSpPr>
          <p:cNvPr id="13" name="TextBox 12"/>
          <p:cNvSpPr txBox="1"/>
          <p:nvPr/>
        </p:nvSpPr>
        <p:spPr>
          <a:xfrm>
            <a:off x="3749040" y="2295144"/>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60 learners, one teacher, no time. Individual oral assessment is impossible.</a:t>
            </a:r>
          </a:p>
        </p:txBody>
      </p:sp>
      <p:sp>
        <p:nvSpPr>
          <p:cNvPr id="14" name="TextBox 13"/>
          <p:cNvSpPr txBox="1"/>
          <p:nvPr/>
        </p:nvSpPr>
        <p:spPr>
          <a:xfrm>
            <a:off x="7360920" y="2295144"/>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Do not assess everyone individually. Use methods that scale: whole-class response, exit cards collected at the door, peer assessment with a rubric, group projects with individual accountability. Sample deeply rather than test everyone shallowly.</a:t>
            </a:r>
          </a:p>
        </p:txBody>
      </p:sp>
      <p:sp>
        <p:nvSpPr>
          <p:cNvPr id="15" name="Rectangle 14"/>
          <p:cNvSpPr/>
          <p:nvPr/>
        </p:nvSpPr>
        <p:spPr>
          <a:xfrm>
            <a:off x="566928" y="2990088"/>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054096"/>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“There is not enough time in the term.”</a:t>
            </a:r>
          </a:p>
        </p:txBody>
      </p:sp>
      <p:sp>
        <p:nvSpPr>
          <p:cNvPr id="17" name="TextBox 16"/>
          <p:cNvSpPr txBox="1"/>
          <p:nvPr/>
        </p:nvSpPr>
        <p:spPr>
          <a:xfrm>
            <a:off x="3749040" y="3054096"/>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The syllabus is crowded. Assessment feels like an addition on top of teaching.</a:t>
            </a:r>
          </a:p>
        </p:txBody>
      </p:sp>
      <p:sp>
        <p:nvSpPr>
          <p:cNvPr id="18" name="TextBox 17"/>
          <p:cNvSpPr txBox="1"/>
          <p:nvPr/>
        </p:nvSpPr>
        <p:spPr>
          <a:xfrm>
            <a:off x="7360920" y="3054096"/>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Assessment IS teaching, not an addition. Three minutes of exit cards replaces an hour of re-teaching material the class already knew. Start small — one exit card a week, not a full new system.</a:t>
            </a:r>
          </a:p>
        </p:txBody>
      </p:sp>
      <p:sp>
        <p:nvSpPr>
          <p:cNvPr id="19" name="Rectangle 18"/>
          <p:cNvSpPr/>
          <p:nvPr/>
        </p:nvSpPr>
        <p:spPr>
          <a:xfrm>
            <a:off x="566928" y="3749039"/>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13048"/>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“Marking already takes my evenings.”</a:t>
            </a:r>
          </a:p>
        </p:txBody>
      </p:sp>
      <p:sp>
        <p:nvSpPr>
          <p:cNvPr id="21" name="TextBox 20"/>
          <p:cNvSpPr txBox="1"/>
          <p:nvPr/>
        </p:nvSpPr>
        <p:spPr>
          <a:xfrm>
            <a:off x="3749040" y="3813048"/>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Every script marked in full detail, late at night, then filed.</a:t>
            </a:r>
          </a:p>
        </p:txBody>
      </p:sp>
      <p:sp>
        <p:nvSpPr>
          <p:cNvPr id="22" name="TextBox 21"/>
          <p:cNvSpPr txBox="1"/>
          <p:nvPr/>
        </p:nvSpPr>
        <p:spPr>
          <a:xfrm>
            <a:off x="7360920" y="3813048"/>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Mark the drafts formatively and the final version summatively. Use rubrics so marking is a judgement against criteria, not a rewrite. And remember: feedback needs time for learners to act on it more than it needs length.</a:t>
            </a:r>
          </a:p>
        </p:txBody>
      </p:sp>
      <p:sp>
        <p:nvSpPr>
          <p:cNvPr id="23" name="Rectangle 22"/>
          <p:cNvSpPr/>
          <p:nvPr/>
        </p:nvSpPr>
        <p:spPr>
          <a:xfrm>
            <a:off x="566928" y="4507992"/>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572000"/>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“I was never trained to design rubrics.”</a:t>
            </a:r>
          </a:p>
        </p:txBody>
      </p:sp>
      <p:sp>
        <p:nvSpPr>
          <p:cNvPr id="25" name="TextBox 24"/>
          <p:cNvSpPr txBox="1"/>
          <p:nvPr/>
        </p:nvSpPr>
        <p:spPr>
          <a:xfrm>
            <a:off x="3749040" y="4572000"/>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Rubrics feel like something other people know how to do.</a:t>
            </a:r>
          </a:p>
        </p:txBody>
      </p:sp>
      <p:sp>
        <p:nvSpPr>
          <p:cNvPr id="26" name="TextBox 25"/>
          <p:cNvSpPr txBox="1"/>
          <p:nvPr/>
        </p:nvSpPr>
        <p:spPr>
          <a:xfrm>
            <a:off x="7360920" y="4572000"/>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You do not have to start from a blank page. The NaCCA manual's Appendix C has worked exemplars and rubrics for portfolios, projects, debates, practicals, questioning and more. Adapt one.</a:t>
            </a:r>
          </a:p>
        </p:txBody>
      </p:sp>
      <p:sp>
        <p:nvSpPr>
          <p:cNvPr id="27" name="Rectangle 26"/>
          <p:cNvSpPr/>
          <p:nvPr/>
        </p:nvSpPr>
        <p:spPr>
          <a:xfrm>
            <a:off x="566928" y="5266944"/>
            <a:ext cx="11057839" cy="758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330952"/>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“The learners only care about marks.”</a:t>
            </a:r>
          </a:p>
        </p:txBody>
      </p:sp>
      <p:sp>
        <p:nvSpPr>
          <p:cNvPr id="29" name="TextBox 28"/>
          <p:cNvSpPr txBox="1"/>
          <p:nvPr/>
        </p:nvSpPr>
        <p:spPr>
          <a:xfrm>
            <a:off x="3749040" y="5330952"/>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Learners skip the comments and look at the score.</a:t>
            </a:r>
          </a:p>
        </p:txBody>
      </p:sp>
      <p:sp>
        <p:nvSpPr>
          <p:cNvPr id="30" name="TextBox 29"/>
          <p:cNvSpPr txBox="1"/>
          <p:nvPr/>
        </p:nvSpPr>
        <p:spPr>
          <a:xfrm>
            <a:off x="7360920" y="5330952"/>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That is learned behaviour, and it is rational — marks are what they have always been rewarded for. Change it by giving them time to act on feedback and by grading a draft formatively. When feedback visibly improves their next mark, they start reading it.</a:t>
            </a:r>
          </a:p>
        </p:txBody>
      </p:sp>
      <p:sp>
        <p:nvSpPr>
          <p:cNvPr id="31" name="Rectangle 30"/>
          <p:cNvSpPr/>
          <p:nvPr/>
        </p:nvSpPr>
        <p:spPr>
          <a:xfrm>
            <a:off x="566928" y="6025896"/>
            <a:ext cx="11057839" cy="758952"/>
          </a:xfrm>
          <a:prstGeom prst="rect">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6089904"/>
            <a:ext cx="2825496" cy="667512"/>
          </a:xfrm>
          <a:prstGeom prst="rect">
            <a:avLst/>
          </a:prstGeom>
          <a:noFill/>
        </p:spPr>
        <p:txBody>
          <a:bodyPr wrap="square" lIns="0" rIns="0" tIns="0" bIns="0">
            <a:spAutoFit/>
          </a:bodyPr>
          <a:lstStyle/>
          <a:p>
            <a:pPr algn="l">
              <a:lnSpc>
                <a:spcPct val="100000"/>
              </a:lnSpc>
              <a:spcBef>
                <a:spcPts val="0"/>
              </a:spcBef>
              <a:spcAft>
                <a:spcPts val="0"/>
              </a:spcAft>
            </a:pPr>
            <a:r>
              <a:rPr sz="1000" b="1" i="0">
                <a:solidFill>
                  <a:srgbClr val="14262E"/>
                </a:solidFill>
                <a:latin typeface="Calibri"/>
              </a:rPr>
              <a:t>“What about learners who will not engage?”</a:t>
            </a:r>
          </a:p>
        </p:txBody>
      </p:sp>
      <p:sp>
        <p:nvSpPr>
          <p:cNvPr id="33" name="TextBox 32"/>
          <p:cNvSpPr txBox="1"/>
          <p:nvPr/>
        </p:nvSpPr>
        <p:spPr>
          <a:xfrm>
            <a:off x="3749040" y="6089904"/>
            <a:ext cx="3374136"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Some learners will not speak in a debate, will not participate in peer assessment.</a:t>
            </a:r>
          </a:p>
        </p:txBody>
      </p:sp>
      <p:sp>
        <p:nvSpPr>
          <p:cNvPr id="34" name="TextBox 33"/>
          <p:cNvSpPr txBox="1"/>
          <p:nvPr/>
        </p:nvSpPr>
        <p:spPr>
          <a:xfrm>
            <a:off x="7360920" y="6089904"/>
            <a:ext cx="4142232" cy="667512"/>
          </a:xfrm>
          <a:prstGeom prst="rect">
            <a:avLst/>
          </a:prstGeom>
          <a:noFill/>
        </p:spPr>
        <p:txBody>
          <a:bodyPr wrap="square" lIns="0" rIns="0" tIns="0" bIns="0">
            <a:spAutoFit/>
          </a:bodyPr>
          <a:lstStyle/>
          <a:p>
            <a:pPr algn="l">
              <a:lnSpc>
                <a:spcPct val="100000"/>
              </a:lnSpc>
              <a:spcBef>
                <a:spcPts val="0"/>
              </a:spcBef>
              <a:spcAft>
                <a:spcPts val="0"/>
              </a:spcAft>
            </a:pPr>
            <a:r>
              <a:rPr sz="1000" b="0" i="0">
                <a:solidFill>
                  <a:srgbClr val="14262E"/>
                </a:solidFill>
                <a:latin typeface="Calibri"/>
              </a:rPr>
              <a:t>Offer alternative formats rather than excuses. A written alternative to a debate still assesses the reasoning. And check your own task first — often the barrier is the format, not the learner.</a:t>
            </a:r>
          </a:p>
        </p:txBody>
      </p:sp>
      <p:sp>
        <p:nvSpPr>
          <p:cNvPr id="35" name="TextBox 34"/>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457200"/>
            <a:ext cx="68580" cy="475488"/>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68096" y="402336"/>
            <a:ext cx="10856671" cy="603504"/>
          </a:xfrm>
          <a:prstGeom prst="rect">
            <a:avLst/>
          </a:prstGeom>
          <a:noFill/>
        </p:spPr>
        <p:txBody>
          <a:bodyPr wrap="square" lIns="0" rIns="0" tIns="0" bIns="0">
            <a:spAutoFit/>
          </a:bodyPr>
          <a:lstStyle/>
          <a:p>
            <a:pPr algn="l">
              <a:lnSpc>
                <a:spcPct val="100000"/>
              </a:lnSpc>
              <a:spcBef>
                <a:spcPts val="0"/>
              </a:spcBef>
              <a:spcAft>
                <a:spcPts val="0"/>
              </a:spcAft>
            </a:pPr>
            <a:r>
              <a:rPr sz="2700" b="1" i="0">
                <a:solidFill>
                  <a:srgbClr val="14262E"/>
                </a:solidFill>
                <a:latin typeface="Trebuchet MS"/>
              </a:rPr>
              <a:t>Action Planning — One Commitment Each</a:t>
            </a:r>
          </a:p>
        </p:txBody>
      </p:sp>
      <p:sp>
        <p:nvSpPr>
          <p:cNvPr id="5" name="TextBox 4"/>
          <p:cNvSpPr txBox="1"/>
          <p:nvPr/>
        </p:nvSpPr>
        <p:spPr>
          <a:xfrm>
            <a:off x="768096" y="1005840"/>
            <a:ext cx="10856671" cy="292608"/>
          </a:xfrm>
          <a:prstGeom prst="rect">
            <a:avLst/>
          </a:prstGeom>
          <a:noFill/>
        </p:spPr>
        <p:txBody>
          <a:bodyPr wrap="square" lIns="0" rIns="0" tIns="0" bIns="0">
            <a:spAutoFit/>
          </a:bodyPr>
          <a:lstStyle/>
          <a:p>
            <a:pPr algn="l">
              <a:lnSpc>
                <a:spcPct val="100000"/>
              </a:lnSpc>
              <a:spcBef>
                <a:spcPts val="0"/>
              </a:spcBef>
              <a:spcAft>
                <a:spcPts val="0"/>
              </a:spcAft>
            </a:pPr>
            <a:r>
              <a:rPr sz="1300" b="0" i="1">
                <a:solidFill>
                  <a:srgbClr val="5A6B72"/>
                </a:solidFill>
                <a:latin typeface="Calibri"/>
              </a:rPr>
              <a:t>Five minutes · write it down · say it to the person beside you</a:t>
            </a:r>
          </a:p>
        </p:txBody>
      </p:sp>
      <p:pic>
        <p:nvPicPr>
          <p:cNvPr id="6" name="Picture 5" descr="20_action_plan.jpg"/>
          <p:cNvPicPr>
            <a:picLocks noChangeAspect="1"/>
          </p:cNvPicPr>
          <p:nvPr/>
        </p:nvPicPr>
        <p:blipFill>
          <a:blip r:embed="rId2"/>
          <a:srcRect l="15033" r="15033"/>
          <a:stretch>
            <a:fillRect/>
          </a:stretch>
        </p:blipFill>
        <p:spPr>
          <a:xfrm>
            <a:off x="6732727" y="1417320"/>
            <a:ext cx="4892040" cy="4663440"/>
          </a:xfrm>
          <a:prstGeom prst="rect">
            <a:avLst/>
          </a:prstGeom>
        </p:spPr>
      </p:pic>
      <p:sp>
        <p:nvSpPr>
          <p:cNvPr id="7" name="Rectangle 6"/>
          <p:cNvSpPr/>
          <p:nvPr/>
        </p:nvSpPr>
        <p:spPr>
          <a:xfrm>
            <a:off x="6732727" y="1417320"/>
            <a:ext cx="4892040" cy="5943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2727" y="6144768"/>
            <a:ext cx="4892040" cy="365760"/>
          </a:xfrm>
          <a:prstGeom prst="rect">
            <a:avLst/>
          </a:prstGeom>
          <a:noFill/>
        </p:spPr>
        <p:txBody>
          <a:bodyPr wrap="square" lIns="0" rIns="0" tIns="0" bIns="0">
            <a:spAutoFit/>
          </a:bodyPr>
          <a:lstStyle/>
          <a:p>
            <a:pPr algn="ctr">
              <a:lnSpc>
                <a:spcPct val="105000"/>
              </a:lnSpc>
              <a:spcBef>
                <a:spcPts val="0"/>
              </a:spcBef>
              <a:spcAft>
                <a:spcPts val="0"/>
              </a:spcAft>
            </a:pPr>
            <a:r>
              <a:rPr sz="1050" b="0" i="1">
                <a:solidFill>
                  <a:srgbClr val="5A6B72"/>
                </a:solidFill>
                <a:latin typeface="Calibri"/>
              </a:rPr>
              <a:t>Not the ideal system. The realistic next step.</a:t>
            </a:r>
          </a:p>
        </p:txBody>
      </p:sp>
      <p:sp>
        <p:nvSpPr>
          <p:cNvPr id="9" name="Rounded Rectangle 8"/>
          <p:cNvSpPr/>
          <p:nvPr/>
        </p:nvSpPr>
        <p:spPr>
          <a:xfrm>
            <a:off x="566928" y="1426464"/>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426464"/>
            <a:ext cx="45720" cy="86332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563624"/>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0B6E4F"/>
                </a:solidFill>
                <a:latin typeface="Trebuchet MS"/>
              </a:rPr>
              <a:t>Pick ONE thing — not five</a:t>
            </a:r>
          </a:p>
          <a:p>
            <a:pPr algn="l">
              <a:lnSpc>
                <a:spcPct val="110000"/>
              </a:lnSpc>
              <a:spcBef>
                <a:spcPts val="0"/>
              </a:spcBef>
              <a:spcAft>
                <a:spcPts val="0"/>
              </a:spcAft>
            </a:pPr>
            <a:r>
              <a:rPr sz="1050" b="0" i="0">
                <a:solidFill>
                  <a:srgbClr val="14262E"/>
                </a:solidFill>
                <a:latin typeface="Calibri"/>
              </a:rPr>
              <a:t>Choose the single change you will actually make. Not the ideal system — the realistic next step.</a:t>
            </a:r>
          </a:p>
        </p:txBody>
      </p:sp>
      <p:sp>
        <p:nvSpPr>
          <p:cNvPr id="12" name="Rounded Rectangle 11"/>
          <p:cNvSpPr/>
          <p:nvPr/>
        </p:nvSpPr>
        <p:spPr>
          <a:xfrm>
            <a:off x="566928" y="2399515"/>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2399515"/>
            <a:ext cx="45720" cy="86332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536675"/>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0B6E4F"/>
                </a:solidFill>
                <a:latin typeface="Trebuchet MS"/>
              </a:rPr>
              <a:t>Write it specifically</a:t>
            </a:r>
          </a:p>
          <a:p>
            <a:pPr algn="l">
              <a:lnSpc>
                <a:spcPct val="110000"/>
              </a:lnSpc>
              <a:spcBef>
                <a:spcPts val="0"/>
              </a:spcBef>
              <a:spcAft>
                <a:spcPts val="0"/>
              </a:spcAft>
            </a:pPr>
            <a:r>
              <a:rPr sz="1050" b="0" i="0">
                <a:solidFill>
                  <a:srgbClr val="14262E"/>
                </a:solidFill>
                <a:latin typeface="Calibri"/>
              </a:rPr>
              <a:t>Weak: “I will use more formative assessment.” Strong: “I will use an exit card at the end of every double period with Form 2 Science, starting Monday.”</a:t>
            </a:r>
          </a:p>
        </p:txBody>
      </p:sp>
      <p:sp>
        <p:nvSpPr>
          <p:cNvPr id="15" name="Rounded Rectangle 14"/>
          <p:cNvSpPr/>
          <p:nvPr/>
        </p:nvSpPr>
        <p:spPr>
          <a:xfrm>
            <a:off x="566928" y="3372566"/>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372566"/>
            <a:ext cx="45720" cy="86332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509726"/>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0B6E4F"/>
                </a:solidFill>
                <a:latin typeface="Trebuchet MS"/>
              </a:rPr>
              <a:t>Name the first step and the date</a:t>
            </a:r>
          </a:p>
          <a:p>
            <a:pPr algn="l">
              <a:lnSpc>
                <a:spcPct val="110000"/>
              </a:lnSpc>
              <a:spcBef>
                <a:spcPts val="0"/>
              </a:spcBef>
              <a:spcAft>
                <a:spcPts val="0"/>
              </a:spcAft>
            </a:pPr>
            <a:r>
              <a:rPr sz="1050" b="0" i="0">
                <a:solidFill>
                  <a:srgbClr val="14262E"/>
                </a:solidFill>
                <a:latin typeface="Calibri"/>
              </a:rPr>
              <a:t>What is the very first action? When will it happen? “Print the slips this weekend, use them Monday period 3.”</a:t>
            </a:r>
          </a:p>
        </p:txBody>
      </p:sp>
      <p:sp>
        <p:nvSpPr>
          <p:cNvPr id="18" name="Rounded Rectangle 17"/>
          <p:cNvSpPr/>
          <p:nvPr/>
        </p:nvSpPr>
        <p:spPr>
          <a:xfrm>
            <a:off x="566928" y="4345617"/>
            <a:ext cx="5781751" cy="863323"/>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4345617"/>
            <a:ext cx="45720" cy="863323"/>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4482777"/>
            <a:ext cx="5379415" cy="589003"/>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0B6E4F"/>
                </a:solidFill>
                <a:latin typeface="Trebuchet MS"/>
              </a:rPr>
              <a:t>Say it out loud to your neighbour</a:t>
            </a:r>
          </a:p>
          <a:p>
            <a:pPr algn="l">
              <a:lnSpc>
                <a:spcPct val="110000"/>
              </a:lnSpc>
              <a:spcBef>
                <a:spcPts val="0"/>
              </a:spcBef>
              <a:spcAft>
                <a:spcPts val="0"/>
              </a:spcAft>
            </a:pPr>
            <a:r>
              <a:rPr sz="1050" b="0" i="0">
                <a:solidFill>
                  <a:srgbClr val="14262E"/>
                </a:solidFill>
                <a:latin typeface="Calibri"/>
              </a:rPr>
              <a:t>Thirty seconds each. Spoken commitment to a peer is much more likely to happen than a private resolution.</a:t>
            </a:r>
          </a:p>
        </p:txBody>
      </p:sp>
      <p:sp>
        <p:nvSpPr>
          <p:cNvPr id="21" name="Rounded Rectangle 20"/>
          <p:cNvSpPr/>
          <p:nvPr/>
        </p:nvSpPr>
        <p:spPr>
          <a:xfrm>
            <a:off x="566928" y="5318668"/>
            <a:ext cx="5781751" cy="1036411"/>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318668"/>
            <a:ext cx="45720" cy="1036411"/>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5455828"/>
            <a:ext cx="5379415" cy="762091"/>
          </a:xfrm>
          <a:prstGeom prst="rect">
            <a:avLst/>
          </a:prstGeom>
          <a:noFill/>
        </p:spPr>
        <p:txBody>
          <a:bodyPr wrap="square" lIns="0" rIns="0" tIns="0" bIns="0">
            <a:spAutoFit/>
          </a:bodyPr>
          <a:lstStyle/>
          <a:p>
            <a:pPr algn="l">
              <a:lnSpc>
                <a:spcPct val="100000"/>
              </a:lnSpc>
              <a:spcBef>
                <a:spcPts val="0"/>
              </a:spcBef>
              <a:spcAft>
                <a:spcPts val="300"/>
              </a:spcAft>
            </a:pPr>
            <a:r>
              <a:rPr sz="1150" b="1" i="0">
                <a:solidFill>
                  <a:srgbClr val="0B6E4F"/>
                </a:solidFill>
                <a:latin typeface="Trebuchet MS"/>
              </a:rPr>
              <a:t>Choose from today's toolkit</a:t>
            </a:r>
          </a:p>
          <a:p>
            <a:pPr algn="l">
              <a:lnSpc>
                <a:spcPct val="110000"/>
              </a:lnSpc>
              <a:spcBef>
                <a:spcPts val="0"/>
              </a:spcBef>
              <a:spcAft>
                <a:spcPts val="0"/>
              </a:spcAft>
            </a:pPr>
            <a:r>
              <a:rPr sz="1050" b="0" i="0">
                <a:solidFill>
                  <a:srgbClr val="14262E"/>
                </a:solidFill>
                <a:latin typeface="Calibri"/>
              </a:rPr>
              <a:t>An exit card  ·  a rubric written BEFORE the task  ·  giving back one end-of-term paper for group correction  ·  a peer-assessment cycle with the rubric  ·  checking your record book is complete.</a:t>
            </a:r>
          </a:p>
        </p:txBody>
      </p:sp>
      <p:sp>
        <p:nvSpPr>
          <p:cNvPr id="24" name="TextBox 23"/>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9AA8AE"/>
                </a:solidFill>
                <a:latin typeface="Calibri"/>
              </a:rPr>
              <a:t>Effective Assessment Practices  ·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hero_classroom.jpg"/>
          <p:cNvPicPr>
            <a:picLocks noChangeAspect="1"/>
          </p:cNvPicPr>
          <p:nvPr/>
        </p:nvPicPr>
        <p:blipFill>
          <a:blip r:embed="rId2"/>
          <a:srcRect l="1279" r="1279"/>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74A35">
              <a:alpha val="8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18872"/>
          </a:xfrm>
          <a:prstGeom prst="rect">
            <a:avLst/>
          </a:prstGeom>
          <a:solidFill>
            <a:srgbClr val="F4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4088" y="1188720"/>
            <a:ext cx="10783519" cy="4480560"/>
          </a:xfrm>
          <a:prstGeom prst="rect">
            <a:avLst/>
          </a:prstGeom>
          <a:noFill/>
        </p:spPr>
        <p:txBody>
          <a:bodyPr wrap="square" lIns="0" rIns="0" tIns="0" bIns="0">
            <a:spAutoFit/>
          </a:bodyPr>
          <a:lstStyle/>
          <a:p>
            <a:pPr algn="l">
              <a:lnSpc>
                <a:spcPct val="100000"/>
              </a:lnSpc>
              <a:spcBef>
                <a:spcPts val="0"/>
              </a:spcBef>
              <a:spcAft>
                <a:spcPts val="1800"/>
              </a:spcAft>
            </a:pPr>
            <a:r>
              <a:rPr sz="4000" b="1" i="0">
                <a:solidFill>
                  <a:srgbClr val="FFFFFF"/>
                </a:solidFill>
                <a:latin typeface="Trebuchet MS"/>
              </a:rPr>
              <a:t>Thank You</a:t>
            </a:r>
          </a:p>
          <a:p>
            <a:pPr algn="l">
              <a:lnSpc>
                <a:spcPct val="116000"/>
              </a:lnSpc>
              <a:spcBef>
                <a:spcPts val="0"/>
              </a:spcBef>
              <a:spcAft>
                <a:spcPts val="1000"/>
              </a:spcAft>
            </a:pPr>
            <a:r>
              <a:rPr sz="1500" b="0" i="0">
                <a:solidFill>
                  <a:srgbClr val="D8E8E1"/>
                </a:solidFill>
                <a:latin typeface="Calibri"/>
              </a:rPr>
              <a:t>This morning we wrote one word each for assessment. Most of them were about being judged.</a:t>
            </a:r>
          </a:p>
          <a:p>
            <a:pPr algn="l">
              <a:lnSpc>
                <a:spcPct val="116000"/>
              </a:lnSpc>
              <a:spcBef>
                <a:spcPts val="0"/>
              </a:spcBef>
              <a:spcAft>
                <a:spcPts val="2000"/>
              </a:spcAft>
            </a:pPr>
            <a:r>
              <a:rPr sz="1500" b="0" i="0">
                <a:solidFill>
                  <a:srgbClr val="D8E8E1"/>
                </a:solidFill>
                <a:latin typeface="Calibri"/>
              </a:rPr>
              <a:t>Everything we did today was about moving those words — from judgement toward learning.</a:t>
            </a:r>
          </a:p>
          <a:p>
            <a:pPr algn="l">
              <a:lnSpc>
                <a:spcPct val="100000"/>
              </a:lnSpc>
              <a:spcBef>
                <a:spcPts val="0"/>
              </a:spcBef>
              <a:spcAft>
                <a:spcPts val="1800"/>
              </a:spcAft>
            </a:pPr>
            <a:r>
              <a:rPr sz="1900" b="1" i="0">
                <a:solidFill>
                  <a:srgbClr val="F4B400"/>
                </a:solidFill>
                <a:latin typeface="Trebuchet MS"/>
              </a:rPr>
              <a:t>Taste the soup. Serve the meal. Know which one you are doing, and why.</a:t>
            </a:r>
          </a:p>
          <a:p>
            <a:pPr algn="l">
              <a:lnSpc>
                <a:spcPct val="115000"/>
              </a:lnSpc>
              <a:spcBef>
                <a:spcPts val="0"/>
              </a:spcBef>
              <a:spcAft>
                <a:spcPts val="0"/>
              </a:spcAft>
            </a:pPr>
            <a:r>
              <a:rPr sz="1300" b="0" i="0">
                <a:solidFill>
                  <a:srgbClr val="C6DBD3"/>
                </a:solidFill>
                <a:latin typeface="Calibri"/>
              </a:rPr>
              <a:t>Your handouts have every term, every principle and every strategy we covered. The NaCCA manual is free online, and Appendix C has ready-made rubrics you can adapt tonight.</a:t>
            </a:r>
          </a:p>
        </p:txBody>
      </p:sp>
      <p:sp>
        <p:nvSpPr>
          <p:cNvPr id="6" name="TextBox 5"/>
          <p:cNvSpPr txBox="1"/>
          <p:nvPr/>
        </p:nvSpPr>
        <p:spPr>
          <a:xfrm>
            <a:off x="9430207" y="6437376"/>
            <a:ext cx="2194560" cy="256032"/>
          </a:xfrm>
          <a:prstGeom prst="rect">
            <a:avLst/>
          </a:prstGeom>
          <a:noFill/>
        </p:spPr>
        <p:txBody>
          <a:bodyPr wrap="square" lIns="0" rIns="0" tIns="0" bIns="0">
            <a:spAutoFit/>
          </a:bodyPr>
          <a:lstStyle/>
          <a:p>
            <a:pPr algn="r">
              <a:lnSpc>
                <a:spcPct val="100000"/>
              </a:lnSpc>
              <a:spcBef>
                <a:spcPts val="0"/>
              </a:spcBef>
              <a:spcAft>
                <a:spcPts val="0"/>
              </a:spcAft>
            </a:pPr>
            <a:r>
              <a:rPr sz="900" b="0" i="0">
                <a:solidFill>
                  <a:srgbClr val="B9CFC7"/>
                </a:solidFill>
                <a:latin typeface="Calibri"/>
              </a:rPr>
              <a:t>Effective Assessment Practices  ·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