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OPENING (2 min)</a:t>
            </a:r>
          </a:p>
          <a:p/>
          <a:p>
            <a:r>
              <a:t>Good morning, colleagues. Thank you for coming.</a:t>
            </a:r>
          </a:p>
          <a:p/>
          <a:p>
            <a:r>
              <a:t>Let me start with a promise: over the next session I am not going to bury you under big words. Every technical term we meet, I will give you two things — the plain meaning, and a picture from a classroom like ours.</a:t>
            </a:r>
          </a:p>
          <a:p/>
          <a:p>
            <a:r>
              <a:t>This workshop is built on the Teacher Assessment Manual and Toolkit produced by NaCCA under the Ministry of Education. It is the document that guides how we are expected to assess learners under the new SHS curriculum — so this is not our own invention. It is the standard we are working to.</a:t>
            </a:r>
          </a:p>
          <a:p/>
          <a:p>
            <a:r>
              <a:t>By the time we finish, my hope is that assessment stops feeling like paperwork, and starts feeling like something you already do — just done more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(1 min)</a:t>
            </a:r>
          </a:p>
          <a:p/>
          <a:p>
            <a:r>
              <a:t>Ask the room: 'How many of us were taught how to assess, versus how many of us were just told to assess?' Let hands go up. This normalises the gap and buys you goodwill.</a:t>
            </a:r>
          </a:p>
          <a:p/>
          <a:p>
            <a:r>
              <a:t>Then make the key point at the bottom of the slide: assessment is not an add-on. A teacher who assesses well does LESS wasted work, because they know exactly what to re-teach instead of re-teaching everything.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(4 min)</a:t>
            </a:r>
          </a:p>
          <a:p/>
          <a:p>
            <a:r>
              <a:t>Most teachers hear 'assessment' and think 'exams and marking'. That is only one small part of it. In this section we reset the definition, then meet the three acronyms that confuse everybody — AfL, AaL and AoL.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DEFINITION (3 min)</a:t>
            </a:r>
          </a:p>
          <a:p/>
          <a:p>
            <a:r>
              <a:t>Read the plain version aloud. Then ask the room to name one thing they did last week that was assessment but NOT a test. Collect two or three answers.</a:t>
            </a:r>
          </a:p>
          <a:p/>
          <a:p>
            <a:r>
              <a:t>KEY POINT to land: assessment is not a document, it is a DECISION-MAKING process. If you gathered information and changed nothing, you collected data but you did not really assess.</a:t>
            </a:r>
          </a:p>
          <a:p/>
          <a:p>
            <a:r>
              <a:t>Note the careful wording in the official definition — the goal is not to rank learners, but to decide 'the degree to which' they have achieved a standard. That phrase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SISTERS (4 min)</a:t>
            </a:r>
          </a:p>
          <a:p/>
          <a:p>
            <a:r>
              <a:t>This table is your anchor for the rest of the workshop. Refer back to it constantly.</a:t>
            </a:r>
          </a:p>
          <a:p/>
          <a:p>
            <a:r>
              <a:t>Say it this way: 'For' and 'as' are both about improving. 'Of' is about reporting.</a:t>
            </a:r>
          </a:p>
          <a:p/>
          <a:p>
            <a:r>
              <a:t>A simple test to give teachers — ask: 'Who is going to change what they do as a result of this information?' If the answer is the teacher, it is AfL. If it is the learner, it is AaL. If nobody changes anything and it just gets recorded, it is AoL.</a:t>
            </a:r>
          </a:p>
          <a:p/>
          <a:p>
            <a:r>
              <a:t>Important: AaL is the one we forget. We tell them their marks, but we never teach them to check themselves. That is the skill that carries them into university and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(6 min)</a:t>
            </a:r>
          </a:p>
          <a:p/>
          <a:p>
            <a:r>
              <a:t>This is the section that makes everything click. Ghanaian teachers remember this metaphor. Use it all the way through.</a:t>
            </a:r>
          </a:p>
          <a:p/>
          <a:p>
            <a:r>
              <a:t>FORMATIVE = you taste the soup while it is still on the fire.</a:t>
            </a:r>
          </a:p>
          <a:p>
            <a:r>
              <a:t>SUMMATIVE = you serve the meal at the table.</a:t>
            </a:r>
          </a:p>
          <a:p/>
          <a:p>
            <a:r>
              <a:t>Hold this image up for the rest of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SOUP (3 min)</a:t>
            </a:r>
          </a:p>
          <a:p/>
          <a:p>
            <a:r>
              <a:t>Ask the room: 'Does anybody here wait until the food is served at the table before they first taste it?' Wait for laughter and shaking heads. Of course not.</a:t>
            </a:r>
          </a:p>
          <a:p/>
          <a:p>
            <a:r>
              <a:t>Then the turn: 'So why do we do exactly that with our learners? Why do we find out what they misunderstood in the end-of-term exam, when it is too late to fix it?'</a:t>
            </a:r>
          </a:p>
          <a:p/>
          <a:p>
            <a:r>
              <a:t>KEY POINT: the cook who tastes is not being nosy. The cook who tastes is doing the professional thing. Tasting is not an interruption to cooking — it IS cooking.</a:t>
            </a:r>
          </a:p>
          <a:p/>
          <a:p>
            <a:r>
              <a:t>The manual's words: formative assessment 'enables teachers to modify or improve teaching and learning'. Notice the word IMPROVE. Not PROVE.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MEAL (3 min)</a:t>
            </a:r>
          </a:p>
          <a:p/>
          <a:p>
            <a:r>
              <a:t>Summative assessment is not the enemy. It has a real and necessary job: selection, certification and placement. University admissions and employers need a final verdict. The manual says it provides 'a summary of the learner's overall achievement for selection, certification and placement purposes.'</a:t>
            </a:r>
          </a:p>
          <a:p/>
          <a:p>
            <a:r>
              <a:t>The point is not that summative is bad. The point is that summative ALONE is a poor diet. If you only ever serve meals and never taste, you will keep serving the same mistakes.</a:t>
            </a:r>
          </a:p>
          <a:p/>
          <a:p>
            <a:r>
              <a:t>Examples to name: end-of-term exams, WASSCE, end-of-programme exams, term papers, industrial attachment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(3 min)</a:t>
            </a:r>
          </a:p>
          <a:p/>
          <a:p>
            <a:r>
              <a:t>Walk down the rows. The 'What it sounds like' row is the one that lands with teachers — read both sentences out loud in the two different tones of voice.</a:t>
            </a:r>
          </a:p>
          <a:p/>
          <a:p>
            <a:r>
              <a:t>Ask: 'Which of these two voices do our learners hear most from us?' Be honest that for many of us, it is the second voice far more often than the first.</a:t>
            </a:r>
          </a:p>
          <a:p/>
          <a:p>
            <a:r>
              <a:t>Reassure: this is not about working harder. It is about redistributing the same effort.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RULE (4 min)</a:t>
            </a:r>
          </a:p>
          <a:p/>
          <a:p>
            <a:r>
              <a:t>This is the highest-value slide in the deck. Many teachers believe formative and summative are two separate systems that compete for time. They are not.</a:t>
            </a:r>
          </a:p>
          <a:p/>
          <a:p>
            <a:r>
              <a:t>The manual has a whole section on this (3.5.3 and 3.5.4). Read the second example in section 3.5.3 aloud if you have the manual open: 'instead of scoring a summative test, the teacher gives back the test to learners to discuss in groups to find answers to the questions that were wrongly answered.'</a:t>
            </a:r>
          </a:p>
          <a:p/>
          <a:p>
            <a:r>
              <a:t>PRACTICAL ASK: challenge every teacher to pick ONE end-of-term paper this year and give it back for group correction instead of just recording the marks. One paper. That is the commitment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(4 min)</a:t>
            </a:r>
          </a:p>
          <a:p/>
          <a:p>
            <a:r>
              <a:t>Diagnostic assessment is the one everybody skips, because it happens before the topic when you are already behind schedule. And it is probably the one that saves the most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 (4 min)</a:t>
            </a:r>
          </a:p>
          <a:p/>
          <a:p>
            <a:r>
              <a:t>Ask: 'Who has ever started a new topic, taught it beautifully, set a test — and discovered the whole class had the wrong foundation from last term?' Every hand goes up. That is the cost of skipping diagnostic assessment.</a:t>
            </a:r>
          </a:p>
          <a:p/>
          <a:p>
            <a:r>
              <a:t>KEY LINE: 'You cannot build on a foundation you have not checked.'</a:t>
            </a:r>
          </a:p>
          <a:p/>
          <a:p>
            <a:r>
              <a:t>Emphasise the timing — the manual says to use it 'prior or at the beginning of the teaching and learning process' and even 'before they come to class'.</a:t>
            </a:r>
          </a:p>
          <a:p/>
          <a:p>
            <a:r>
              <a:t>Reassure on workload: this does not need to be a formal test. An entry ticket with one question takes three minutes and tells you where to pitch the lesson.</a:t>
            </a:r>
          </a:p>
          <a:p/>
          <a:p>
            <a:r>
              <a:t>Mention that diagnostic assessment also identifies learners with diverse needs, which feeds directly into differentiated assessment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DIFFERENTIATED ASSESSMENT (4 min)</a:t>
            </a:r>
          </a:p>
          <a:p/>
          <a:p>
            <a:r>
              <a:t>This is where teachers most often go wrong, and where learners get short-changed. Many teachers believe differentiation means giving the 'weak ones' easier work — which quietly lowers the standard and widens the gap.</a:t>
            </a:r>
          </a:p>
          <a:p/>
          <a:p>
            <a:r>
              <a:t>DRIVE THIS HOME: 'Differentiate the route, not the destination.' If the learning outcome says the learner must analyse data, then eventually they must analyse data — no matter how we help them get there.</a:t>
            </a:r>
          </a:p>
          <a:p/>
          <a:p>
            <a:r>
              <a:t>Walk through the six levers on the slide. Ask teachers which one they already do naturally, and which one they have never tried.</a:t>
            </a:r>
          </a:p>
          <a:p/>
          <a:p>
            <a:r>
              <a:t>Connect back: the manual places this alongside GESI, SEL and SEN. Differentiation is not an add-on for special cases; it is the normal professional response to a real classroom, where thirty learners are never at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(10 min)</a:t>
            </a:r>
          </a:p>
          <a:p/>
          <a:p>
            <a:r>
              <a:t>Section 2 of the manual lists seven principles of effective assessment. This is the part people skim — and it is the part that explains why some assessments work and others do not.</a:t>
            </a:r>
          </a:p>
          <a:p/>
          <a:p>
            <a:r>
              <a:t>Frame it as seven pillars holding up a roof. If one is missing, the building leans. You do not need all seven perfect; you need all seven present.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PILLARS (2 min overview)</a:t>
            </a:r>
          </a:p>
          <a:p/>
          <a:p>
            <a:r>
              <a:t>Read all seven quickly to give the shape of the section — do not dwell yet, each one gets its own slide next.</a:t>
            </a:r>
          </a:p>
          <a:p/>
          <a:p>
            <a:r>
              <a:t>Ask the room to guess which pillar is most often broken in real practice. Common answers: transparency and practicability. Both are true — we keep the criteria secret and then design assessments nobody has time to mark.</a:t>
            </a:r>
          </a:p>
          <a:p/>
          <a:p>
            <a:r>
              <a:t>Promise: 'By the end of the next ten minutes you will recognise which of these you already do well, and which one is quietly costing your learners marks.'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VALIDITY (3 min)</a:t>
            </a:r>
          </a:p>
          <a:p/>
          <a:p>
            <a:r>
              <a:t>THE TRAP: validity fails silently. An invalid test still produces marks, still fills the mark book, still looks professional. Nobody complains. But the numbers do not mean what everyone thinks they mean.</a:t>
            </a:r>
          </a:p>
          <a:p/>
          <a:p>
            <a:r>
              <a:t>THE CLEAREST TEST: compare your learning outcome to your questions. If the outcome says 'analyse' and your questions say 'state', you have an invalid assessment. Ask teachers to silently do this check on the last test they set. Most will find at least one problem.</a:t>
            </a:r>
          </a:p>
          <a:p/>
          <a:p>
            <a:r>
              <a:t>THE FIX — and this is the highest-value practical tip in this section: build a TABLE OF SPECIFICATION. A simple grid mapping each question to a topic and a thinking level. The manual asks teachers to 'create a learning and assessment plan (i.e. table of test specification)'. Without it, we all default to recall questions, because recall questions are the easiest to write. The grid forces balance.</a:t>
            </a:r>
          </a:p>
          <a:p/>
          <a:p>
            <a:r>
              <a:t>Also mention the other validity requirements from the manual: clearly state the purpose of the assessment, define the performance criteria up front, and score against those criteria to avoid bias and stereotyping.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(3 min)</a:t>
            </a:r>
          </a:p>
          <a:p/>
          <a:p>
            <a:r>
              <a:t>OPEN WITH THE MANUAL'S OWN WARNING — it is blunt and it stings: the 'connoisseur' approach to assessment — that is, 'I know it when I see it but I cannot put it into words' — is NOT acceptable. Read that line out loud. It is a direct challenge to the way many of us mark.</a:t>
            </a:r>
          </a:p>
          <a:p/>
          <a:p>
            <a:r>
              <a:t>WHY IT MATTERS PRACTICALLY: unreliable marking is unfair in a way learners can feel but not prove. A learner in your class and a learner in the class next door are compared as if they were marked the same way. If they were not, the comparison is fiction.</a:t>
            </a:r>
          </a:p>
          <a:p/>
          <a:p>
            <a:r>
              <a:t>THE MOST POWERFUL HABIT on this slide: give your rubric or marking scheme OUT BEFORE the task, not after. The manual says this explicitly for performance and practical assessment.</a:t>
            </a:r>
          </a:p>
          <a:p/>
          <a:p>
            <a:r>
              <a:t>CHEAP RELIABILITY HACK to offer teachers: swap a set of scripts with a colleague in the same subject and mark each other's sample. The manual recommends having another teacher review the work. You will be shocked how differently two people read the same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AND ETHICS (3 min)</a:t>
            </a:r>
          </a:p>
          <a:p/>
          <a:p>
            <a:r>
              <a:t>START WITH THE CRICKET EXAMPLE. It is memorable and it is exactly the failure mode the manual warns against — 'culturally biased or discriminatory content, unfamiliar words, questioning or examples'.</a:t>
            </a:r>
          </a:p>
          <a:p/>
          <a:p>
            <a:r>
              <a:t>THEN ASK THE HARD QUESTION: 'How many of us have set questions using examples from books written far from here, about things our learners have never seen?' Let that sit. The fix is not easier questions — it is LOCAL, FAMILIAR CONTEXTS for the same rigour. That is what the trotro example shows.</a:t>
            </a:r>
          </a:p>
          <a:p/>
          <a:p>
            <a:r>
              <a:t>THE SECOND BIG IDEA on this slide: do not assess what you have not taught. The manual lists this under fairness, and it is the single most common fairness complaint learners make.</a:t>
            </a:r>
          </a:p>
          <a:p/>
          <a:p>
            <a:r>
              <a:t>Also cover the logistics side, which teachers forget counts as fairness: communicate the date, time, venue and format in advance, and give clear instructions about what is expected.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(3 min)</a:t>
            </a:r>
          </a:p>
          <a:p/>
          <a:p>
            <a:r>
              <a:t>THE KILLER LINE: 'Assessment should not be a guessing game where the teacher is the only person who knows the answer.'</a:t>
            </a:r>
          </a:p>
          <a:p/>
          <a:p>
            <a:r>
              <a:t>THE MOST COMMON OFFENCE: hiding the rubric until after the marking, usually to 'stop them cheating'. Point out that a learner who aims perfectly at a published rubric is not cheating. They are learning. That is exactly what we want.</a:t>
            </a:r>
          </a:p>
          <a:p/>
          <a:p>
            <a:r>
              <a:t>THE REDRESS POINT is the one nobody expects. The manual requires you to 'provide an opportunity for learners to seek review and redress'. Ask: 'If a learner in this school disputes a mark, what actually happens? Is there a route?' In many schools there is none. That is a gap worth naming.</a:t>
            </a:r>
          </a:p>
          <a:p/>
          <a:p>
            <a:r>
              <a:t>LINK BACK: transparency and validity are partners. Learners cannot demonstrate a learning outcome they were never told about.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INCLUSIVITY (4 min)</a:t>
            </a:r>
          </a:p>
          <a:p/>
          <a:p>
            <a:r>
              <a:t>THE KEY REFRAME: 'When a learner with low vision fails your test, you have not discovered that they do not know the work. You have discovered that they cannot see your paper. Those are completely different findings, and only one of them is about learning.'</a:t>
            </a:r>
          </a:p>
          <a:p/>
          <a:p>
            <a:r>
              <a:t>DECODE THE THREE ACRONYMS — teachers see these letters constantly and rarely have them explained:</a:t>
            </a:r>
          </a:p>
          <a:p>
            <a:r>
              <a:t>  · GESI — Gender Equality and Social Inclusion. No learner disadvantaged by gender, disability, poverty or background.</a:t>
            </a:r>
          </a:p>
          <a:p>
            <a:r>
              <a:t>  · SEL — Socio-Emotional Learning. The learner's feelings, confidence and relationships matter and are assessed, not just their marks.</a:t>
            </a:r>
          </a:p>
          <a:p>
            <a:r>
              <a:t>  · SEN — Special Educational Needs. Learners needing specific support.</a:t>
            </a:r>
          </a:p>
          <a:p/>
          <a:p>
            <a:r>
              <a:t>THE MANUAL'S PRACTICAL TOOLS to name out loud: braille, oral translation, text-to-speech and other AI supports, sign language interpretation, assistive technology, extra time, alternative formats.</a:t>
            </a:r>
          </a:p>
          <a:p/>
          <a:p>
            <a:r>
              <a:t>A WARNING WORTH GIVING: build fairness into your RUBRIC. If you are assessing science understanding, do not dock marks for handwriting or grammar. The manual specifically says to develop rubrics that consider grammar, vocabulary, handwriting and presentation — decide deliberately, do not do it by accident.</a:t>
            </a:r>
          </a:p>
          <a:p/>
          <a:p>
            <a:r>
              <a:t>Mention the manual points teachers to the inclusivity section of the NPLAF (page 32) for further reading.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PRACTICABILITY (3 min)</a:t>
            </a:r>
          </a:p>
          <a:p/>
          <a:p>
            <a:r>
              <a:t>OPEN WITH THE HONEST OBSERVATION: 'We have all designed a beautiful assessment in January that we quietly stopped running by March.' This slide is about why that happens — and it is not a character flaw. It is a design flaw.</a:t>
            </a:r>
          </a:p>
          <a:p/>
          <a:p>
            <a:r>
              <a:t>THE THREE QUESTIONS on the slide are the whole test. Walk through them for a real example. A 20-item test: markable in one evening, feedback possible. A one-hour-per-learner oral: mathematically impossible.</a:t>
            </a:r>
          </a:p>
          <a:p/>
          <a:p>
            <a:r>
              <a:t>THE POINT TEACHERS MISS: set, mark AND give feedback. Many assessments are practicable to administer but NOT practicable to give feedback on. Since feedback is where the learning actually happens, an assessment you cannot give feedback on has already failed.</a:t>
            </a:r>
          </a:p>
          <a:p/>
          <a:p>
            <a:r>
              <a:t>VALIDATE THEIR REALITY: yes, class sizes are large and time is short. That is exactly why practicability is written into the national framework as a PRINCIPLE, not an excuse. The framework expects you to choose assessment methods that fit your actual conditions.</a:t>
            </a:r>
          </a:p>
          <a:p/>
          <a:p>
            <a:r>
              <a:t>PRACTICAL TIP: for large classes, use assessment strategies that scale — whole-class response, peer assessment with a rubric, exit cards, group projects with individual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UTILITY (3 min)</a:t>
            </a:r>
          </a:p>
          <a:p/>
          <a:p>
            <a:r>
              <a:t>THIS IS THE SLIDE THAT TIES THE WHOLE SEVEN TOGETHER. You can satisfy validity, reliability, fairness, transparency, inclusivity and practicability — and still produce an assessment that nobody uses. That is the most common failure of all, because it is invisible.</a:t>
            </a:r>
          </a:p>
          <a:p/>
          <a:p>
            <a:r>
              <a:t>THE TEST TO OFFER: 'Name one thing you changed last term because of an assessment result.' Give people a moment. Ask two or three to answer out loud. The answers show what utility looks like in practice.</a:t>
            </a:r>
          </a:p>
          <a:p/>
          <a:p>
            <a:r>
              <a:t>LINK BACK to the soup: a cook who tastes the soup and then does nothing about it has wasted the taste. Tasting without adjusting is not cooking. Assessing without acting is not assessment.</a:t>
            </a:r>
          </a:p>
          <a:p/>
          <a:p>
            <a:r>
              <a:t>CLOSE THE SECTION: 'Seven pillars. Validity, reliability, fairness, transparency, inclusivity, practicability, utility. You will not get all seven perfect every week. But when an assessment disappoints you, come back to this list — the answer is almost always hiding in one of the seven.'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(8 min)</a:t>
            </a:r>
          </a:p>
          <a:p/>
          <a:p>
            <a:r>
              <a:t>This is the section teachers came for. Slow down here. This is the reference part of the workshop — the part they will photograph or write down.</a:t>
            </a:r>
          </a:p>
          <a:p/>
          <a:p>
            <a:r>
              <a:t>Note: the full Jargon Buster booklet contains every term. On the slides we cover the ones that cause the most trouble and the ones used most often.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(3 min)</a:t>
            </a:r>
          </a:p>
          <a:p/>
          <a:p>
            <a:r>
              <a:t>THE ANALOGY TO STRESS: 'Add enough salt' is not a recipe. 'One teaspoon' is a recipe. Most of our instructions to learners are the first kind — and then we are surprised when thirty learners produce thirty different things.</a:t>
            </a:r>
          </a:p>
          <a:p/>
          <a:p>
            <a:r>
              <a:t>THE DOUBLE BENEFIT: a rubric improves BOTH transparency and reliability simultaneously. It tells the learner where to aim, and it stops two markers giving wildly different scores to the same script. It is the best-value document in this whole workshop.</a:t>
            </a:r>
          </a:p>
          <a:p/>
          <a:p>
            <a:r>
              <a:t>THE RULE TO REPEAT: handout BEFORE the task. A rubric revealed after marking is not transparency. It is a post-mortem.</a:t>
            </a:r>
          </a:p>
          <a:p/>
          <a:p>
            <a:r>
              <a:t>PRACTICAL OFFER: if teachers have never built a rubric, the manual contains exemplar rubrics in Appendix C — including for project-based assessment. There is no need to start from a blank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OF KNOWLEDGE (4 min)</a:t>
            </a:r>
          </a:p>
          <a:p/>
          <a:p>
            <a:r>
              <a:t>THE BIGGEST MISCONCEPTION, and the reason this slide exists: teachers think a question is DoK 4 because it uses big words or long sentences. It does not. DoK measures the TYPE of thinking required.</a:t>
            </a:r>
          </a:p>
          <a:p/>
          <a:p>
            <a:r>
              <a:t>SAY THIS CLEARLY: 'A long question with big vocabulary that asks you to remember something is still DoK 1. A short, simple question that asks you to judge a real situation and defend your judgement can be DoK 3.'</a:t>
            </a:r>
          </a:p>
          <a:p/>
          <a:p>
            <a:r>
              <a:t>WALK UP THE STAIRCASE using the climate change example on the slide — it is drawn directly from the ministry's own curriculum resource, so teachers will meet it again.</a:t>
            </a:r>
          </a:p>
          <a:p/>
          <a:p>
            <a:r>
              <a:t>WHY IT MATTERS FOR VALIDITY: if your learning outcome is at DoK 3 ('analyse', 'evaluate') and your test questions are all at DoK 1 ('state', 'list', 'define'), your assessment is invalid — no matter how well marked. The manual uses Depth of Knowledge levels throughout the curriculum's key assessment tasks.</a:t>
            </a:r>
          </a:p>
          <a:p/>
          <a:p>
            <a:r>
              <a:t>PRACTICAL EXERCISE, if time allows: ask teachers to take one question from their last test and label it. Most will find their whole paper sits at DoK 1 and 2. That is a diagnosis, not a criticism — and it is easy to fix with a table of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JARGON BUSTER (4 min)</a:t>
            </a:r>
          </a:p>
          <a:p/>
          <a:p>
            <a:r>
              <a:t>Do NOT read this table line by line — it is a reference slide. Pick the three or four that you know your staff find hardest, and dwell on those.</a:t>
            </a:r>
          </a:p>
          <a:p/>
          <a:p>
            <a:r>
              <a:t>RECOMMENDED EMPHASES:</a:t>
            </a:r>
          </a:p>
          <a:p>
            <a:r>
              <a:t>  · 'Metacognition' — nobody ever explains it. It simply means thinking about your own thinking: knowing how you learn and where you get stuck. It is the heart of Assessment as Learning.</a:t>
            </a:r>
          </a:p>
          <a:p>
            <a:r>
              <a:t>  · 'Learning analytics' — sounds like software, but the example shows it is just careful attention to patterns in your mark book. You can do it with a pen and a class list.</a:t>
            </a:r>
          </a:p>
          <a:p>
            <a:r>
              <a:t>  · 'Portfolio' — the misconception is that a portfolio is a folder of everything. It is a curated selection WITH reflection. The reflection is where the learning is.</a:t>
            </a:r>
          </a:p>
          <a:p>
            <a:r>
              <a:t>  · 'e-Assessment' — teachers assume it means a computer lab. It does not. A WhatsApp voice note is e-assessment.</a:t>
            </a:r>
          </a:p>
          <a:p/>
          <a:p>
            <a:r>
              <a:t>POINT TO THE HANDOUT: 'Every term we cover is in the Jargon Buster booklet with the same two columns — a plain meaning and a classroom picture. Take it with you.'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6 (6 min)</a:t>
            </a:r>
          </a:p>
          <a:p/>
          <a:p>
            <a:r>
              <a:t>Every assessment in this workshop exists to produce one thing: feedback that changes what the learner does next. This is the payoff section.</a:t>
            </a:r>
          </a:p>
          <a:p/>
          <a:p>
            <a:r>
              <a:t>It is also the section where teachers realise they are doing more work than they need to, for less effect than they want.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(4 min)</a:t>
            </a:r>
          </a:p>
          <a:p/>
          <a:p>
            <a:r>
              <a:t>THE MECHANIC ANALOGY is the heart of this slide. Everyone has met both mechanics. Ask the room which one they would return to, and why. Then make the turn: 'Which mechanic are we to our learners?'</a:t>
            </a:r>
          </a:p>
          <a:p/>
          <a:p>
            <a:r>
              <a:t>THE HARD TRUTH: most of what we call feedback is a number plus a word. 'Good work, 7/10' gives the learner a verdict, not a next step. The learner knows they got 7. They do not know what to do to get 9.</a:t>
            </a:r>
          </a:p>
          <a:p/>
          <a:p>
            <a:r>
              <a:t>THE MOST ACTIONABLE RULE — and the one teachers find genuinely relieving: feedback needs TIME. Ten minutes at the start of the next lesson for learners to read and act on your corrections is worth more than two hours of extra marking. Without that time, all your careful marking is decoration.</a:t>
            </a:r>
          </a:p>
          <a:p/>
          <a:p>
            <a:r>
              <a:t>THE MANUAL'S TERMS to use: 'constructive feedback' — it points to the next step, not just the fault. And note the manual's instruction that learners must be 'guided to develop how to use or respond to feedback to improve learning'. Using feedback is itself a skill we have to teach.</a:t>
            </a:r>
          </a:p>
          <a:p/>
          <a:p>
            <a:r>
              <a:t>SELF-CHECK TO OFFER: 'When you hand back a marked script, does the learner do anything with it other than look at the score?'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THREE-MINUTE TOOLS (4 min)</a:t>
            </a:r>
          </a:p>
          <a:p/>
          <a:p>
            <a:r>
              <a:t>THIS IS THE 'TAKE IT HOME' SLIDE. Its job is to prove that formative assessment is not extra work. Every tool here costs three minutes and no money.</a:t>
            </a:r>
          </a:p>
          <a:p/>
          <a:p>
            <a:r>
              <a:t>PICK ONE AND COMMIT THE ROOM. Do not ask them to adopt all five. Ask each teacher to choose ONE tool to try in their very next lesson and, if possible, tell the person next to them which one they chose. Public commitment increases follow-through dramatically.</a:t>
            </a:r>
          </a:p>
          <a:p/>
          <a:p>
            <a:r>
              <a:t>WHY EXIT CARDS ARE THE BEST STARTING POINT: they take three minutes, they need only scrap paper, they work with 60 learners, and they tell you precisely where to begin tomorrow. If you only ever adopt one thing from today, adopt the exit card.</a:t>
            </a:r>
          </a:p>
          <a:p/>
          <a:p>
            <a:r>
              <a:t>THE PEER-ASSESSMENT WARNING is worth saying: peer assessment fails when learners do not have the rubric. The manual is clear that learners should assess 'against specified criteria'. Give them the criteria, and train them to be specific and kind.</a:t>
            </a:r>
          </a:p>
          <a:p/>
          <a:p>
            <a:r>
              <a:t>NOTE ON THE MANUAL: it lists Think-Pair-Share, exit cards, K-W-L and peer assessment among the curriculum's formative strategies — these are not extra inventions.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7 (5 min)</a:t>
            </a:r>
          </a:p>
          <a:p/>
          <a:p>
            <a:r>
              <a:t>Everything so far has been about principles and individual strategies. This section is about putting them together into a plan for a term — so assessment stops being improvised and starts being designed.</a:t>
            </a:r>
          </a:p>
          <a:p/>
          <a:p>
            <a:r>
              <a:t>This is the difference between a teacher who assesses and a teacher who plans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SIX-PHASE PLAN (4 min)</a:t>
            </a:r>
          </a:p>
          <a:p/>
          <a:p>
            <a:r>
              <a:t>This is the manual's own assessment plan model, translated into plain words. Walk through the phases in order — they are sequential for a reason.</a:t>
            </a:r>
          </a:p>
          <a:p/>
          <a:p>
            <a:r>
              <a:t>THE CRITICAL INSIGHT: Phase 4 (rubrics) comes BEFORE the learners start. Many teachers write the rubric while marking, which means the standard drifts as they go — this is the single biggest cause of unreliable marking. Decide the standard first, then mark against it.</a:t>
            </a:r>
          </a:p>
          <a:p/>
          <a:p>
            <a:r>
              <a:t>PHASE 5 IS THE ONE THAT PROTECTS YOU. Notice how often teachers accidentally schedule three projects, two practicals and a test in the same fortnight. Sequencing assessment across the term is a professional skill, not a luxury. Show the term calendar and ask: 'Where are our pressure points?'</a:t>
            </a:r>
          </a:p>
          <a:p/>
          <a:p>
            <a:r>
              <a:t>PHASE 6 IS THE ONE WE SKIP. If there is no planned time for feedback, there will be no feedback — only marks.</a:t>
            </a:r>
          </a:p>
          <a:p/>
          <a:p>
            <a:r>
              <a:t>PRACTICAL ASK: 'Before you leave today, take ONE topic you will teach in the next month and write its Phase 1 learning outcome on a piece of paper. That is the beginning of a real assessment plan.'</a:t>
            </a:r>
          </a:p>
          <a:p/>
          <a:p>
            <a:r>
              <a:t>A note of realism: the manual also says to be ready to adapt. A plan is a map, not a straitjacket.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70/30 SPLIT (3 min)</a:t>
            </a:r>
          </a:p>
          <a:p/>
          <a:p>
            <a:r>
              <a:t>THIS IS THE SLIDE THAT CHANGES BEHAVIOUR. Principles are persuasive; accountability is compelling.</a:t>
            </a:r>
          </a:p>
          <a:p/>
          <a:p>
            <a:r>
              <a:t>THE HISTORY, briefly: for years, continuing assessment marks were often treated casually — generous scoring, lost record books, reconstructed marks at the end of term. The reform means the 30% is now recorded on a school-based transcript with greater transparency and quality assurance.</a:t>
            </a:r>
          </a:p>
          <a:p/>
          <a:p>
            <a:r>
              <a:t>THE CONSEQUENCE, stated plainly: 'If a learner's transcript is questioned and your 30% cannot be defended, it is the learner who loses a place — and your school whose credibility is damaged.'</a:t>
            </a:r>
          </a:p>
          <a:p/>
          <a:p>
            <a:r>
              <a:t>THE SOLUTION is not more paperwork. It is the simple disciplines from today: a rubric written BEFORE the task, applied consistently, kept on record, and the same across all classes teaching the same subject.</a:t>
            </a:r>
          </a:p>
          <a:p/>
          <a:p>
            <a:r>
              <a:t>ASK THE SCHOOL-LEVEL QUESTION: 'Do all of us teaching the same subject at the same level use the same criteria? Could we produce the evidence if NaSIA asked?' This is the moment to raise consistency as a departmental issue, not just an individual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8 (3 min)</a:t>
            </a:r>
          </a:p>
          <a:p/>
          <a:p>
            <a:r>
              <a:t>Keep this section short and practical. The single goal is to break the assumption that e-assessment requires a computer lab, reliable power and school-wide Wi-Fi.</a:t>
            </a:r>
          </a:p>
          <a:p/>
          <a:p>
            <a:r>
              <a:t>If your school has those things, wonderful. If it does not, you can still do e-assessment tomorrow.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e-ASSESSMENT (3 min)</a:t>
            </a:r>
          </a:p>
          <a:p/>
          <a:p>
            <a:r>
              <a:t>LEAD WITH THE MYTH-BUSTER: most teachers hear 'e-assessment' and switch off, thinking of computer labs and unreliable internet. The manual's definition is simply 'the use of information technology and digital tools to assess learners' achievement'. A phone is technology.</a:t>
            </a:r>
          </a:p>
          <a:p/>
          <a:p>
            <a:r>
              <a:t>THE MOST PRACTICAL IDEA ON THIS SLIDE is the WhatsApp voice note. A learner records sixty seconds explaining a concept. You listen while walking home. You hear their actual reasoning — which a written answer often hides — and you can respond with a voice note in thirty seconds. That is genuinely powerful formative assessment with tools every learner already has.</a:t>
            </a:r>
          </a:p>
          <a:p/>
          <a:p>
            <a:r>
              <a:t>THE QUALITY-OF-LIFE POINT: automatic marking. A Google Form quiz marks itself and can email the learner their score instantly. For large classes, this returns hours of your week.</a:t>
            </a:r>
          </a:p>
          <a:p/>
          <a:p>
            <a:r>
              <a:t>THE MANUAL'S EXAMPLES to name if asked: online quizzes and tests, digital portfolios, simulations and virtual labs, discussion boards and blogs, e-open-book assessments, multimedia projects, learning analytics, digital rubrics.</a:t>
            </a:r>
          </a:p>
          <a:p/>
          <a:p>
            <a:r>
              <a:t>DO NOT SKIP THE CAUTIONS. The manual is explicit that teachers must make provision for learners with SEN who may need extra support with the platform, and must ensure integrity, security and ethical use — to prevent cheating and cyberbullying. Say both out loud; they are the questions a thoughtful staff will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(3 min)</a:t>
            </a:r>
          </a:p>
          <a:p/>
          <a:p>
            <a:r>
              <a:t>This is the emotional and intellectual landing point. Slow right down.</a:t>
            </a:r>
          </a:p>
          <a:p/>
          <a:p>
            <a:r>
              <a:t>DELIVER THE THREE BEATS CLEARLY:</a:t>
            </a:r>
          </a:p>
          <a:p>
            <a:r>
              <a:t>  BEFORE — diagnostic — you check what they bring.</a:t>
            </a:r>
          </a:p>
          <a:p>
            <a:r>
              <a:t>  WHILE — formative — you taste the soup.</a:t>
            </a:r>
          </a:p>
          <a:p>
            <a:r>
              <a:t>  AT THE END — summative — you serve the meal.</a:t>
            </a:r>
          </a:p>
          <a:p>
            <a:r>
              <a:t>  THROUGHOUT — the seven pillars hold up the roof.</a:t>
            </a:r>
          </a:p>
          <a:p/>
          <a:p>
            <a:r>
              <a:t>THEN THE TWO SENTENCES. These are the whole workshop compressed:</a:t>
            </a:r>
          </a:p>
          <a:p>
            <a:r>
              <a:t>  1. The learner must know what 'good' looks like. (transparency — the rubric before the task)</a:t>
            </a:r>
          </a:p>
          <a:p>
            <a:r>
              <a:t>  2. The learner must have time to get there. (feedback with time to act on it)</a:t>
            </a:r>
          </a:p>
          <a:p/>
          <a:p>
            <a:r>
              <a:t>If a teacher leaves today remembering only those two sentences, the workshop has succeeded.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AND DISCUSSION (3-5 min)</a:t>
            </a:r>
          </a:p>
          <a:p/>
          <a:p>
            <a:r>
              <a:t>Do NOT end by summarising the whole workshop again — you have just done that. End with a COMMITMENT and a CONVERSATION.</a:t>
            </a:r>
          </a:p>
          <a:p/>
          <a:p>
            <a:r>
              <a:t>Read the three take-homes slowly. Then ask each teacher to turn to the person beside them and say which ONE of the three they will actually do. Ninety seconds only. Spoken commitment to a peer dramatically increases follow-through compared with a general exhortation from the front.</a:t>
            </a:r>
          </a:p>
          <a:p/>
          <a:p>
            <a:r>
              <a:t>THEN OPEN THE ROOM. Good questions to invite:</a:t>
            </a:r>
          </a:p>
          <a:p>
            <a:r>
              <a:t>  · Which of the seven pillars do you think our school breaks most often?</a:t>
            </a:r>
          </a:p>
          <a:p>
            <a:r>
              <a:t>  · Do all of us teaching the same subject use the same criteria? Should we?</a:t>
            </a:r>
          </a:p>
          <a:p>
            <a:r>
              <a:t>  · What would it take for us to share rubrics as a department?</a:t>
            </a:r>
          </a:p>
          <a:p>
            <a:r>
              <a:t>  · Is there a learner in your class who is being assessed on their eyes, their ears or their handwriting rather than their learning?</a:t>
            </a:r>
          </a:p>
          <a:p/>
          <a:p>
            <a:r>
              <a:t>CLOSE WITH ENCOURAGEMENT, NOT GUILT. The message is: 'You are already assessing every day. Today was about doing it deliberately, so it costs you less and gives your learners more.'</a:t>
            </a:r>
          </a:p>
          <a:p/>
          <a:p>
            <a:r>
              <a:t>Point to the two handouts — the Jargon Buster booklet and the PDF of these slides — and remind them the exemplars and rubrics live in Appendix C of the NaCCA Teacher Assessment Manual and Toolkit, which is available on the NaCCA curriculum resources portal.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4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74A35">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691640"/>
            <a:ext cx="10783519" cy="3108960"/>
          </a:xfrm>
          <a:prstGeom prst="rect">
            <a:avLst/>
          </a:prstGeom>
          <a:noFill/>
        </p:spPr>
        <p:txBody>
          <a:bodyPr wrap="square" lIns="0" rIns="0" tIns="0" bIns="0">
            <a:spAutoFit/>
          </a:bodyPr>
          <a:lstStyle/>
          <a:p>
            <a:pPr algn="l">
              <a:lnSpc>
                <a:spcPct val="100000"/>
              </a:lnSpc>
              <a:spcBef>
                <a:spcPts val="0"/>
              </a:spcBef>
              <a:spcAft>
                <a:spcPts val="1000"/>
              </a:spcAft>
            </a:pPr>
            <a:r>
              <a:rPr sz="5000" b="1" i="0">
                <a:solidFill>
                  <a:srgbClr val="FFFFFF"/>
                </a:solidFill>
                <a:latin typeface="Trebuchet MS"/>
              </a:rPr>
              <a:t>Effective Assessment Practices</a:t>
            </a:r>
          </a:p>
          <a:p>
            <a:pPr algn="l">
              <a:lnSpc>
                <a:spcPct val="100000"/>
              </a:lnSpc>
              <a:spcBef>
                <a:spcPts val="0"/>
              </a:spcBef>
              <a:spcAft>
                <a:spcPts val="2000"/>
              </a:spcAft>
            </a:pPr>
            <a:r>
              <a:rPr sz="2100" b="0" i="0">
                <a:solidFill>
                  <a:srgbClr val="F4B400"/>
                </a:solidFill>
                <a:latin typeface="Trebuchet MS"/>
              </a:rPr>
              <a:t>Plain words. Everyday classrooms. Real Ghanaian schools.</a:t>
            </a:r>
          </a:p>
          <a:p>
            <a:pPr algn="l">
              <a:lnSpc>
                <a:spcPct val="115000"/>
              </a:lnSpc>
              <a:spcBef>
                <a:spcPts val="0"/>
              </a:spcBef>
              <a:spcAft>
                <a:spcPts val="0"/>
              </a:spcAft>
            </a:pPr>
            <a:r>
              <a:rPr sz="1400" b="0" i="0">
                <a:solidFill>
                  <a:srgbClr val="D8E8E1"/>
                </a:solidFill>
                <a:latin typeface="Calibri"/>
              </a:rPr>
              <a:t>A practical workshop for Senior High School teachers — every technical term explained in plain English, with a classroom picture you already know.</a:t>
            </a:r>
          </a:p>
        </p:txBody>
      </p:sp>
      <p:sp>
        <p:nvSpPr>
          <p:cNvPr id="7" name="TextBox 6"/>
          <p:cNvSpPr txBox="1"/>
          <p:nvPr/>
        </p:nvSpPr>
        <p:spPr>
          <a:xfrm>
            <a:off x="704088" y="5897880"/>
            <a:ext cx="10783519" cy="594360"/>
          </a:xfrm>
          <a:prstGeom prst="rect">
            <a:avLst/>
          </a:prstGeom>
          <a:noFill/>
        </p:spPr>
        <p:txBody>
          <a:bodyPr wrap="square" lIns="0" rIns="0" tIns="0" bIns="0">
            <a:spAutoFit/>
          </a:bodyPr>
          <a:lstStyle/>
          <a:p>
            <a:pPr algn="l">
              <a:lnSpc>
                <a:spcPct val="100000"/>
              </a:lnSpc>
              <a:spcBef>
                <a:spcPts val="0"/>
              </a:spcBef>
              <a:spcAft>
                <a:spcPts val="200"/>
              </a:spcAft>
            </a:pPr>
            <a:r>
              <a:rPr sz="1500" b="1" i="0">
                <a:solidFill>
                  <a:srgbClr val="FFFFFF"/>
                </a:solidFill>
                <a:latin typeface="Trebuchet MS"/>
              </a:rPr>
              <a:t>KATON 2026</a:t>
            </a:r>
          </a:p>
          <a:p>
            <a:pPr algn="l">
              <a:lnSpc>
                <a:spcPct val="100000"/>
              </a:lnSpc>
              <a:spcBef>
                <a:spcPts val="0"/>
              </a:spcBef>
              <a:spcAft>
                <a:spcPts val="0"/>
              </a:spcAft>
            </a:pPr>
            <a:r>
              <a:rPr sz="1050" b="0" i="0">
                <a:solidFill>
                  <a:srgbClr val="C6DBD3"/>
                </a:solidFill>
                <a:latin typeface="Calibri"/>
              </a:rPr>
              <a:t>Based on the Teacher Assessment Manual and Toolkit — NaCCA, Ministry of Education, Republic of Ghana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Three Promises for Today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What you should be able to do before you leave this room</a:t>
            </a:r>
          </a:p>
        </p:txBody>
      </p:sp>
      <p:sp>
        <p:nvSpPr>
          <p:cNvPr id="6" name="Rounded Rectangle 5"/>
          <p:cNvSpPr/>
          <p:nvPr/>
        </p:nvSpPr>
        <p:spPr>
          <a:xfrm>
            <a:off x="56692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63040"/>
            <a:ext cx="352044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47088"/>
            <a:ext cx="566928" cy="566928"/>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1</a:t>
            </a:r>
          </a:p>
        </p:txBody>
      </p:sp>
      <p:sp>
        <p:nvSpPr>
          <p:cNvPr id="9" name="TextBox 8"/>
          <p:cNvSpPr txBox="1"/>
          <p:nvPr/>
        </p:nvSpPr>
        <p:spPr>
          <a:xfrm>
            <a:off x="85953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You will not be drowned in jargon</a:t>
            </a:r>
          </a:p>
          <a:p>
            <a:pPr algn="l">
              <a:lnSpc>
                <a:spcPct val="110000"/>
              </a:lnSpc>
              <a:spcBef>
                <a:spcPts val="0"/>
              </a:spcBef>
              <a:spcAft>
                <a:spcPts val="0"/>
              </a:spcAft>
            </a:pPr>
            <a:r>
              <a:rPr sz="1150" b="0" i="0">
                <a:solidFill>
                  <a:srgbClr val="5A6B72"/>
                </a:solidFill>
                <a:latin typeface="Calibri"/>
              </a:rPr>
              <a:t>Every technical term gets a plain-English meaning — one sentence, no showing off.</a:t>
            </a:r>
          </a:p>
        </p:txBody>
      </p:sp>
      <p:sp>
        <p:nvSpPr>
          <p:cNvPr id="10" name="Rounded Rectangle 9"/>
          <p:cNvSpPr/>
          <p:nvPr/>
        </p:nvSpPr>
        <p:spPr>
          <a:xfrm>
            <a:off x="436168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1688" y="1463040"/>
            <a:ext cx="3520440" cy="685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54296" y="1847088"/>
            <a:ext cx="566928" cy="566928"/>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2</a:t>
            </a:r>
          </a:p>
        </p:txBody>
      </p:sp>
      <p:sp>
        <p:nvSpPr>
          <p:cNvPr id="13" name="TextBox 12"/>
          <p:cNvSpPr txBox="1"/>
          <p:nvPr/>
        </p:nvSpPr>
        <p:spPr>
          <a:xfrm>
            <a:off x="465429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Every idea comes with a classroom picture</a:t>
            </a:r>
          </a:p>
          <a:p>
            <a:pPr algn="l">
              <a:lnSpc>
                <a:spcPct val="110000"/>
              </a:lnSpc>
              <a:spcBef>
                <a:spcPts val="0"/>
              </a:spcBef>
              <a:spcAft>
                <a:spcPts val="0"/>
              </a:spcAft>
            </a:pPr>
            <a:r>
              <a:rPr sz="1150" b="0" i="0">
                <a:solidFill>
                  <a:srgbClr val="5A6B72"/>
                </a:solidFill>
                <a:latin typeface="Calibri"/>
              </a:rPr>
              <a:t>A Ghanaian SHS situation you will recognise, so the term sticks.</a:t>
            </a:r>
          </a:p>
        </p:txBody>
      </p:sp>
      <p:sp>
        <p:nvSpPr>
          <p:cNvPr id="14" name="Rounded Rectangle 13"/>
          <p:cNvSpPr/>
          <p:nvPr/>
        </p:nvSpPr>
        <p:spPr>
          <a:xfrm>
            <a:off x="8156448" y="1463040"/>
            <a:ext cx="3520440" cy="2240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1463040"/>
            <a:ext cx="3520440" cy="685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49056" y="1847088"/>
            <a:ext cx="566928" cy="566928"/>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200" b="1" i="0">
                <a:solidFill>
                  <a:srgbClr val="FFFFFF"/>
                </a:solidFill>
                <a:latin typeface="Trebuchet MS"/>
              </a:rPr>
              <a:t>3</a:t>
            </a:r>
          </a:p>
        </p:txBody>
      </p:sp>
      <p:sp>
        <p:nvSpPr>
          <p:cNvPr id="17" name="TextBox 16"/>
          <p:cNvSpPr txBox="1"/>
          <p:nvPr/>
        </p:nvSpPr>
        <p:spPr>
          <a:xfrm>
            <a:off x="8449056" y="2560320"/>
            <a:ext cx="2935224" cy="914400"/>
          </a:xfrm>
          <a:prstGeom prst="rect">
            <a:avLst/>
          </a:prstGeom>
          <a:noFill/>
        </p:spPr>
        <p:txBody>
          <a:bodyPr wrap="square" lIns="0" rIns="0" tIns="0" bIns="0">
            <a:spAutoFit/>
          </a:bodyPr>
          <a:lstStyle/>
          <a:p>
            <a:pPr algn="l">
              <a:lnSpc>
                <a:spcPct val="105000"/>
              </a:lnSpc>
              <a:spcBef>
                <a:spcPts val="0"/>
              </a:spcBef>
              <a:spcAft>
                <a:spcPts val="600"/>
              </a:spcAft>
            </a:pPr>
            <a:r>
              <a:rPr sz="1400" b="1" i="0">
                <a:solidFill>
                  <a:srgbClr val="14262E"/>
                </a:solidFill>
                <a:latin typeface="Trebuchet MS"/>
              </a:rPr>
              <a:t>You leave with something to use on Monday</a:t>
            </a:r>
          </a:p>
          <a:p>
            <a:pPr algn="l">
              <a:lnSpc>
                <a:spcPct val="110000"/>
              </a:lnSpc>
              <a:spcBef>
                <a:spcPts val="0"/>
              </a:spcBef>
              <a:spcAft>
                <a:spcPts val="0"/>
              </a:spcAft>
            </a:pPr>
            <a:r>
              <a:rPr sz="1150" b="0" i="0">
                <a:solidFill>
                  <a:srgbClr val="5A6B72"/>
                </a:solidFill>
                <a:latin typeface="Calibri"/>
              </a:rPr>
              <a:t>Three-minute tools you can try in your very next lesson, no budget required.</a:t>
            </a:r>
          </a:p>
        </p:txBody>
      </p:sp>
      <p:sp>
        <p:nvSpPr>
          <p:cNvPr id="18" name="TextBox 17"/>
          <p:cNvSpPr txBox="1"/>
          <p:nvPr/>
        </p:nvSpPr>
        <p:spPr>
          <a:xfrm>
            <a:off x="566928" y="3931920"/>
            <a:ext cx="11057839" cy="713232"/>
          </a:xfrm>
          <a:prstGeom prst="rect">
            <a:avLst/>
          </a:prstGeom>
          <a:noFill/>
        </p:spPr>
        <p:txBody>
          <a:bodyPr wrap="square" lIns="0" rIns="0" tIns="0" bIns="0">
            <a:spAutoFit/>
          </a:bodyPr>
          <a:lstStyle/>
          <a:p>
            <a:pPr algn="l">
              <a:lnSpc>
                <a:spcPct val="115000"/>
              </a:lnSpc>
              <a:spcBef>
                <a:spcPts val="0"/>
              </a:spcBef>
              <a:spcAft>
                <a:spcPts val="600"/>
              </a:spcAft>
            </a:pPr>
            <a:r>
              <a:rPr sz="1250" b="1" i="0">
                <a:solidFill>
                  <a:srgbClr val="0B6E4F"/>
                </a:solidFill>
                <a:latin typeface="Calibri"/>
              </a:rPr>
              <a:t>A word before we start:  </a:t>
            </a:r>
            <a:r>
              <a:rPr sz="1250" b="0" i="0">
                <a:solidFill>
                  <a:srgbClr val="14262E"/>
                </a:solidFill>
                <a:latin typeface="Calibri"/>
              </a:rPr>
              <a:t>assessment is not extra work added on top of teaching. It is the thing that tells you whether your teaching landed. When it is done well, it actually </a:t>
            </a:r>
            <a:r>
              <a:rPr sz="1250" b="1" i="1">
                <a:solidFill>
                  <a:srgbClr val="14262E"/>
                </a:solidFill>
                <a:latin typeface="Calibri"/>
              </a:rPr>
              <a:t>reduces</a:t>
            </a:r>
            <a:r>
              <a:rPr sz="1250" b="0" i="0">
                <a:solidFill>
                  <a:srgbClr val="14262E"/>
                </a:solidFill>
                <a:latin typeface="Calibri"/>
              </a:rPr>
              <a:t> your work — because you stop guessing what to re-teach.</a:t>
            </a:r>
          </a:p>
        </p:txBody>
      </p:sp>
      <p:sp>
        <p:nvSpPr>
          <p:cNvPr id="19" name="TextBox 18"/>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25639" r="25639"/>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1</a:t>
            </a:r>
          </a:p>
          <a:p>
            <a:pPr algn="l">
              <a:lnSpc>
                <a:spcPct val="103000"/>
              </a:lnSpc>
              <a:spcBef>
                <a:spcPts val="0"/>
              </a:spcBef>
              <a:spcAft>
                <a:spcPts val="1200"/>
              </a:spcAft>
            </a:pPr>
            <a:r>
              <a:rPr sz="3400" b="1" i="0">
                <a:solidFill>
                  <a:srgbClr val="FFFFFF"/>
                </a:solidFill>
                <a:latin typeface="Trebuchet MS"/>
              </a:rPr>
              <a:t>What Assessment
Really Means</a:t>
            </a:r>
          </a:p>
          <a:p>
            <a:pPr algn="l">
              <a:lnSpc>
                <a:spcPct val="115000"/>
              </a:lnSpc>
              <a:spcBef>
                <a:spcPts val="0"/>
              </a:spcBef>
              <a:spcAft>
                <a:spcPts val="0"/>
              </a:spcAft>
            </a:pPr>
            <a:r>
              <a:rPr sz="1300" b="0" i="0">
                <a:solidFill>
                  <a:srgbClr val="C6DBD3"/>
                </a:solidFill>
                <a:latin typeface="Calibri"/>
              </a:rPr>
              <a:t>Before we can do it well, we need to agree on what it actually 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 The Plain Meaning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important definition of the day</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Finding out what a learner knows and can do, and how far they have travelled towards the goal you set. It is gathering information about a learner in order to make a decision about their learning.</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It is not only the end-of-term paper. It is the question you asked in the middle of the lesson and the blank faces that answered it. It is the exercise book you marked at 9pm. It is watching a group argue over a titration and realising they have misunderstood the indicator. Every one of those is assessment — and every one of them changed what you did next.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0" i="0">
                <a:solidFill>
                  <a:srgbClr val="14262E"/>
                </a:solidFill>
                <a:latin typeface="Calibri"/>
              </a:rPr>
              <a:t>The official wording says the same thing:  </a:t>
            </a:r>
            <a:r>
              <a:rPr sz="1150" b="0" i="1">
                <a:solidFill>
                  <a:srgbClr val="5A6B72"/>
                </a:solidFill>
                <a:latin typeface="Calibri"/>
              </a:rPr>
              <a:t>“the process of collecting information on the learner to help in deciding the degree to which the learner has achieved the expected learning outcomes/standards.”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Three Sisters: AfL, AaL and AoL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These three acronyms cause the most confusion — here they are side by side</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AfL and AaL together make up what the manual calls FORMATIVE assessment. AoL is SUMMATIVE.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Acronym</a:t>
            </a:r>
          </a:p>
        </p:txBody>
      </p:sp>
      <p:sp>
        <p:nvSpPr>
          <p:cNvPr id="9" name="TextBox 8"/>
          <p:cNvSpPr txBox="1"/>
          <p:nvPr/>
        </p:nvSpPr>
        <p:spPr>
          <a:xfrm>
            <a:off x="1920240" y="1947672"/>
            <a:ext cx="23682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526280" y="1947672"/>
            <a:ext cx="191109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Who is doing the work</a:t>
            </a:r>
          </a:p>
        </p:txBody>
      </p:sp>
      <p:sp>
        <p:nvSpPr>
          <p:cNvPr id="11" name="TextBox 10"/>
          <p:cNvSpPr txBox="1"/>
          <p:nvPr/>
        </p:nvSpPr>
        <p:spPr>
          <a:xfrm>
            <a:off x="6675120" y="1947672"/>
            <a:ext cx="48280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In one plain sentence</a:t>
            </a:r>
          </a:p>
        </p:txBody>
      </p:sp>
      <p:sp>
        <p:nvSpPr>
          <p:cNvPr id="12" name="Rectangle 11"/>
          <p:cNvSpPr/>
          <p:nvPr/>
        </p:nvSpPr>
        <p:spPr>
          <a:xfrm>
            <a:off x="566928" y="2249424"/>
            <a:ext cx="11057839"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AfL</a:t>
            </a:r>
          </a:p>
        </p:txBody>
      </p:sp>
      <p:sp>
        <p:nvSpPr>
          <p:cNvPr id="14" name="TextBox 13"/>
          <p:cNvSpPr txBox="1"/>
          <p:nvPr/>
        </p:nvSpPr>
        <p:spPr>
          <a:xfrm>
            <a:off x="1920240" y="231343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for Learning</a:t>
            </a:r>
          </a:p>
        </p:txBody>
      </p:sp>
      <p:sp>
        <p:nvSpPr>
          <p:cNvPr id="15" name="TextBox 14"/>
          <p:cNvSpPr txBox="1"/>
          <p:nvPr/>
        </p:nvSpPr>
        <p:spPr>
          <a:xfrm>
            <a:off x="4526280" y="231343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TEACHER</a:t>
            </a:r>
          </a:p>
        </p:txBody>
      </p:sp>
      <p:sp>
        <p:nvSpPr>
          <p:cNvPr id="16" name="TextBox 15"/>
          <p:cNvSpPr txBox="1"/>
          <p:nvPr/>
        </p:nvSpPr>
        <p:spPr>
          <a:xfrm>
            <a:off x="6675120" y="231343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check as we go, so I can teach better.</a:t>
            </a:r>
          </a:p>
        </p:txBody>
      </p:sp>
      <p:sp>
        <p:nvSpPr>
          <p:cNvPr id="17" name="Rectangle 16"/>
          <p:cNvSpPr/>
          <p:nvPr/>
        </p:nvSpPr>
        <p:spPr>
          <a:xfrm>
            <a:off x="566928" y="2798064"/>
            <a:ext cx="11057839" cy="5486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6207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AaL</a:t>
            </a:r>
          </a:p>
        </p:txBody>
      </p:sp>
      <p:sp>
        <p:nvSpPr>
          <p:cNvPr id="19" name="TextBox 18"/>
          <p:cNvSpPr txBox="1"/>
          <p:nvPr/>
        </p:nvSpPr>
        <p:spPr>
          <a:xfrm>
            <a:off x="1920240" y="286207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as Learning</a:t>
            </a:r>
          </a:p>
        </p:txBody>
      </p:sp>
      <p:sp>
        <p:nvSpPr>
          <p:cNvPr id="20" name="TextBox 19"/>
          <p:cNvSpPr txBox="1"/>
          <p:nvPr/>
        </p:nvSpPr>
        <p:spPr>
          <a:xfrm>
            <a:off x="4526280" y="286207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LEARNER</a:t>
            </a:r>
          </a:p>
        </p:txBody>
      </p:sp>
      <p:sp>
        <p:nvSpPr>
          <p:cNvPr id="21" name="TextBox 20"/>
          <p:cNvSpPr txBox="1"/>
          <p:nvPr/>
        </p:nvSpPr>
        <p:spPr>
          <a:xfrm>
            <a:off x="6675120" y="286207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student checks themselves, so they learn better.</a:t>
            </a:r>
          </a:p>
        </p:txBody>
      </p:sp>
      <p:sp>
        <p:nvSpPr>
          <p:cNvPr id="22" name="Rectangle 21"/>
          <p:cNvSpPr/>
          <p:nvPr/>
        </p:nvSpPr>
        <p:spPr>
          <a:xfrm>
            <a:off x="566928" y="3346704"/>
            <a:ext cx="11057839"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996696" cy="457200"/>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AoL</a:t>
            </a:r>
          </a:p>
        </p:txBody>
      </p:sp>
      <p:sp>
        <p:nvSpPr>
          <p:cNvPr id="24" name="TextBox 23"/>
          <p:cNvSpPr txBox="1"/>
          <p:nvPr/>
        </p:nvSpPr>
        <p:spPr>
          <a:xfrm>
            <a:off x="1920240" y="3410712"/>
            <a:ext cx="2368296"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of Learning</a:t>
            </a:r>
          </a:p>
        </p:txBody>
      </p:sp>
      <p:sp>
        <p:nvSpPr>
          <p:cNvPr id="25" name="TextBox 24"/>
          <p:cNvSpPr txBox="1"/>
          <p:nvPr/>
        </p:nvSpPr>
        <p:spPr>
          <a:xfrm>
            <a:off x="4526280" y="3410712"/>
            <a:ext cx="1911095"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SYSTEM / teacher</a:t>
            </a:r>
          </a:p>
        </p:txBody>
      </p:sp>
      <p:sp>
        <p:nvSpPr>
          <p:cNvPr id="26" name="TextBox 25"/>
          <p:cNvSpPr txBox="1"/>
          <p:nvPr/>
        </p:nvSpPr>
        <p:spPr>
          <a:xfrm>
            <a:off x="6675120" y="3410712"/>
            <a:ext cx="4828032" cy="457200"/>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of what has been achieved.</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2</a:t>
            </a:r>
          </a:p>
          <a:p>
            <a:pPr algn="l">
              <a:lnSpc>
                <a:spcPct val="103000"/>
              </a:lnSpc>
              <a:spcBef>
                <a:spcPts val="0"/>
              </a:spcBef>
              <a:spcAft>
                <a:spcPts val="1200"/>
              </a:spcAft>
            </a:pPr>
            <a:r>
              <a:rPr sz="3400" b="1" i="0">
                <a:solidFill>
                  <a:srgbClr val="FFFFFF"/>
                </a:solidFill>
                <a:latin typeface="Trebuchet MS"/>
              </a:rPr>
              <a:t>The Soup and
the Meal</a:t>
            </a:r>
          </a:p>
          <a:p>
            <a:pPr algn="l">
              <a:lnSpc>
                <a:spcPct val="115000"/>
              </a:lnSpc>
              <a:spcBef>
                <a:spcPts val="0"/>
              </a:spcBef>
              <a:spcAft>
                <a:spcPts val="0"/>
              </a:spcAft>
            </a:pPr>
            <a:r>
              <a:rPr sz="1300" b="0" i="0">
                <a:solidFill>
                  <a:srgbClr val="C6DBD3"/>
                </a:solidFill>
                <a:latin typeface="Calibri"/>
              </a:rPr>
              <a:t>The simplest way to understand formative and summative assessment.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FORMATIVE ASSESSMENT  ·  ASSESSMENT FOR LEARNING + AS LEARNING</a:t>
            </a:r>
          </a:p>
          <a:p>
            <a:pPr algn="l">
              <a:lnSpc>
                <a:spcPct val="100000"/>
              </a:lnSpc>
              <a:spcBef>
                <a:spcPts val="0"/>
              </a:spcBef>
              <a:spcAft>
                <a:spcPts val="1000"/>
              </a:spcAft>
            </a:pPr>
            <a:r>
              <a:rPr sz="3200" b="1" i="0">
                <a:solidFill>
                  <a:srgbClr val="FFFFFF"/>
                </a:solidFill>
                <a:latin typeface="Trebuchet MS"/>
              </a:rPr>
              <a:t>Tasting the Soup</a:t>
            </a:r>
          </a:p>
          <a:p>
            <a:pPr algn="l">
              <a:lnSpc>
                <a:spcPct val="112000"/>
              </a:lnSpc>
              <a:spcBef>
                <a:spcPts val="0"/>
              </a:spcBef>
              <a:spcAft>
                <a:spcPts val="0"/>
              </a:spcAft>
            </a:pPr>
            <a:r>
              <a:rPr sz="1450" b="0" i="0">
                <a:solidFill>
                  <a:srgbClr val="D8E8E1"/>
                </a:solidFill>
                <a:latin typeface="Calibri"/>
              </a:rPr>
              <a:t>You taste while it is still on the fire. No salt? Add some. Too much pepper? Add water. You have not failed the soup — you have just improved it before anyone sits down to eat. That is assessment FOR learning, and it saves the meal.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meal_served.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SUMMATIVE ASSESSMENT  ·  ASSESSMENT OF LEARNING</a:t>
            </a:r>
          </a:p>
          <a:p>
            <a:pPr algn="l">
              <a:lnSpc>
                <a:spcPct val="100000"/>
              </a:lnSpc>
              <a:spcBef>
                <a:spcPts val="0"/>
              </a:spcBef>
              <a:spcAft>
                <a:spcPts val="1000"/>
              </a:spcAft>
            </a:pPr>
            <a:r>
              <a:rPr sz="3200" b="1" i="0">
                <a:solidFill>
                  <a:srgbClr val="FFFFFF"/>
                </a:solidFill>
                <a:latin typeface="Trebuchet MS"/>
              </a:rPr>
              <a:t>Serving the Meal</a:t>
            </a:r>
          </a:p>
          <a:p>
            <a:pPr algn="l">
              <a:lnSpc>
                <a:spcPct val="112000"/>
              </a:lnSpc>
              <a:spcBef>
                <a:spcPts val="0"/>
              </a:spcBef>
              <a:spcAft>
                <a:spcPts val="0"/>
              </a:spcAft>
            </a:pPr>
            <a:r>
              <a:rPr sz="1450" b="0" i="0">
                <a:solidFill>
                  <a:srgbClr val="D8E8E1"/>
                </a:solidFill>
                <a:latin typeface="Calibri"/>
              </a:rPr>
              <a:t>The cooking is finished. This is the meal as it is. No amount of tasting will help now. You serve it, the family eats, and the meal is judged as served. That is assessment OF learning — end of term, WASSCE, certification.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Formative vs Summative — Side by Side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skills, two different jobs</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14538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
            </a:r>
          </a:p>
        </p:txBody>
      </p:sp>
      <p:sp>
        <p:nvSpPr>
          <p:cNvPr id="8" name="TextBox 7"/>
          <p:cNvSpPr txBox="1"/>
          <p:nvPr/>
        </p:nvSpPr>
        <p:spPr>
          <a:xfrm>
            <a:off x="2377440" y="1508760"/>
            <a:ext cx="42428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(the tasting)</a:t>
            </a:r>
          </a:p>
        </p:txBody>
      </p:sp>
      <p:sp>
        <p:nvSpPr>
          <p:cNvPr id="9" name="TextBox 8"/>
          <p:cNvSpPr txBox="1"/>
          <p:nvPr/>
        </p:nvSpPr>
        <p:spPr>
          <a:xfrm>
            <a:off x="6858000" y="1508760"/>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SUMMATIVE (the serving)</a:t>
            </a:r>
          </a:p>
        </p:txBody>
      </p:sp>
      <p:sp>
        <p:nvSpPr>
          <p:cNvPr id="10" name="Rectangle 9"/>
          <p:cNvSpPr/>
          <p:nvPr/>
        </p:nvSpPr>
        <p:spPr>
          <a:xfrm>
            <a:off x="566928" y="1810512"/>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When</a:t>
            </a:r>
          </a:p>
        </p:txBody>
      </p:sp>
      <p:sp>
        <p:nvSpPr>
          <p:cNvPr id="12" name="TextBox 11"/>
          <p:cNvSpPr txBox="1"/>
          <p:nvPr/>
        </p:nvSpPr>
        <p:spPr>
          <a:xfrm>
            <a:off x="2377440" y="1874519"/>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During teaching — before, during and after the lesson</a:t>
            </a:r>
          </a:p>
        </p:txBody>
      </p:sp>
      <p:sp>
        <p:nvSpPr>
          <p:cNvPr id="13" name="TextBox 12"/>
          <p:cNvSpPr txBox="1"/>
          <p:nvPr/>
        </p:nvSpPr>
        <p:spPr>
          <a:xfrm>
            <a:off x="6858000" y="1874519"/>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After teaching — end of unit, term, year, programme</a:t>
            </a:r>
          </a:p>
        </p:txBody>
      </p:sp>
      <p:sp>
        <p:nvSpPr>
          <p:cNvPr id="14" name="Rectangle 13"/>
          <p:cNvSpPr/>
          <p:nvPr/>
        </p:nvSpPr>
        <p:spPr>
          <a:xfrm>
            <a:off x="566928" y="2322576"/>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86584"/>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Purpose</a:t>
            </a:r>
          </a:p>
        </p:txBody>
      </p:sp>
      <p:sp>
        <p:nvSpPr>
          <p:cNvPr id="16" name="TextBox 15"/>
          <p:cNvSpPr txBox="1"/>
          <p:nvPr/>
        </p:nvSpPr>
        <p:spPr>
          <a:xfrm>
            <a:off x="2377440" y="2386584"/>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IMPROVE learning while there is still time</a:t>
            </a:r>
          </a:p>
        </p:txBody>
      </p:sp>
      <p:sp>
        <p:nvSpPr>
          <p:cNvPr id="17" name="TextBox 16"/>
          <p:cNvSpPr txBox="1"/>
          <p:nvPr/>
        </p:nvSpPr>
        <p:spPr>
          <a:xfrm>
            <a:off x="6858000" y="2386584"/>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PROVE and record overall achievement</a:t>
            </a:r>
          </a:p>
        </p:txBody>
      </p:sp>
      <p:sp>
        <p:nvSpPr>
          <p:cNvPr id="18" name="Rectangle 17"/>
          <p:cNvSpPr/>
          <p:nvPr/>
        </p:nvSpPr>
        <p:spPr>
          <a:xfrm>
            <a:off x="566928" y="2834640"/>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98648"/>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Who uses it</a:t>
            </a:r>
          </a:p>
        </p:txBody>
      </p:sp>
      <p:sp>
        <p:nvSpPr>
          <p:cNvPr id="20" name="TextBox 19"/>
          <p:cNvSpPr txBox="1"/>
          <p:nvPr/>
        </p:nvSpPr>
        <p:spPr>
          <a:xfrm>
            <a:off x="2377440" y="2898648"/>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Teacher and learner</a:t>
            </a:r>
          </a:p>
        </p:txBody>
      </p:sp>
      <p:sp>
        <p:nvSpPr>
          <p:cNvPr id="21" name="TextBox 20"/>
          <p:cNvSpPr txBox="1"/>
          <p:nvPr/>
        </p:nvSpPr>
        <p:spPr>
          <a:xfrm>
            <a:off x="6858000" y="2898648"/>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School, WAEC and other external bodies</a:t>
            </a:r>
          </a:p>
        </p:txBody>
      </p:sp>
      <p:sp>
        <p:nvSpPr>
          <p:cNvPr id="22" name="Rectangle 21"/>
          <p:cNvSpPr/>
          <p:nvPr/>
        </p:nvSpPr>
        <p:spPr>
          <a:xfrm>
            <a:off x="566928" y="3346704"/>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What it sounds like</a:t>
            </a:r>
          </a:p>
        </p:txBody>
      </p:sp>
      <p:sp>
        <p:nvSpPr>
          <p:cNvPr id="24" name="TextBox 23"/>
          <p:cNvSpPr txBox="1"/>
          <p:nvPr/>
        </p:nvSpPr>
        <p:spPr>
          <a:xfrm>
            <a:off x="2377440" y="3410712"/>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see where you got stuck — let us try it this way”</a:t>
            </a:r>
          </a:p>
        </p:txBody>
      </p:sp>
      <p:sp>
        <p:nvSpPr>
          <p:cNvPr id="25" name="TextBox 24"/>
          <p:cNvSpPr txBox="1"/>
          <p:nvPr/>
        </p:nvSpPr>
        <p:spPr>
          <a:xfrm>
            <a:off x="6858000" y="3410712"/>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“This is your final grade for the term”</a:t>
            </a:r>
          </a:p>
        </p:txBody>
      </p:sp>
      <p:sp>
        <p:nvSpPr>
          <p:cNvPr id="26" name="Rectangle 25"/>
          <p:cNvSpPr/>
          <p:nvPr/>
        </p:nvSpPr>
        <p:spPr>
          <a:xfrm>
            <a:off x="566928" y="3858768"/>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22776"/>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Feels like</a:t>
            </a:r>
          </a:p>
        </p:txBody>
      </p:sp>
      <p:sp>
        <p:nvSpPr>
          <p:cNvPr id="28" name="TextBox 27"/>
          <p:cNvSpPr txBox="1"/>
          <p:nvPr/>
        </p:nvSpPr>
        <p:spPr>
          <a:xfrm>
            <a:off x="2377440" y="3922776"/>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conversation, a question, a quick check, a show of hands</a:t>
            </a:r>
          </a:p>
        </p:txBody>
      </p:sp>
      <p:sp>
        <p:nvSpPr>
          <p:cNvPr id="29" name="TextBox 28"/>
          <p:cNvSpPr txBox="1"/>
          <p:nvPr/>
        </p:nvSpPr>
        <p:spPr>
          <a:xfrm>
            <a:off x="6858000" y="3922776"/>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formal paper, a scheduled exam, a transcript</a:t>
            </a:r>
          </a:p>
        </p:txBody>
      </p:sp>
      <p:sp>
        <p:nvSpPr>
          <p:cNvPr id="30" name="Rectangle 29"/>
          <p:cNvSpPr/>
          <p:nvPr/>
        </p:nvSpPr>
        <p:spPr>
          <a:xfrm>
            <a:off x="566928" y="4370832"/>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434840"/>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Examples</a:t>
            </a:r>
          </a:p>
        </p:txBody>
      </p:sp>
      <p:sp>
        <p:nvSpPr>
          <p:cNvPr id="32" name="TextBox 31"/>
          <p:cNvSpPr txBox="1"/>
          <p:nvPr/>
        </p:nvSpPr>
        <p:spPr>
          <a:xfrm>
            <a:off x="2377440" y="4434840"/>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Questions, exit cards, class exercises, observation, peer assessment, drafts</a:t>
            </a:r>
          </a:p>
        </p:txBody>
      </p:sp>
      <p:sp>
        <p:nvSpPr>
          <p:cNvPr id="33" name="TextBox 32"/>
          <p:cNvSpPr txBox="1"/>
          <p:nvPr/>
        </p:nvSpPr>
        <p:spPr>
          <a:xfrm>
            <a:off x="6858000" y="4434840"/>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End-of-term exam, WASSCE, projects, portfolios, practicals</a:t>
            </a:r>
          </a:p>
        </p:txBody>
      </p:sp>
      <p:sp>
        <p:nvSpPr>
          <p:cNvPr id="34" name="TextBox 3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Golden Rule Most Teachers Miss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do not live in separate boxes — they feed each other</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Summative results can be used FORMATIVELY, and formative work can count SUMMATIVELY. The label describes the PURPOSE the information is put to — not the test paper itself.</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mark the end-of-term paper as usual. But instead of only recording the scores, you hand the scripts back, put learners in groups to find the answers to the questions they missed, and you re-teach the two topics the whole class failed. That exam just became a teaching tool. Equally: the class exercises and the group project you grade against a clear rubric — that is the 30% school-based assessment. Your everyday work is already counting towards the final grade.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this matters for you:  </a:t>
            </a:r>
            <a:r>
              <a:rPr sz="1150" b="0" i="0">
                <a:solidFill>
                  <a:srgbClr val="5A6B72"/>
                </a:solidFill>
                <a:latin typeface="Calibri"/>
              </a:rPr>
              <a:t>the same piece of work can do two jobs. You are not being asked to double your marking load — you are being asked to use the information twice.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pantry_market.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3</a:t>
            </a:r>
          </a:p>
          <a:p>
            <a:pPr algn="l">
              <a:lnSpc>
                <a:spcPct val="103000"/>
              </a:lnSpc>
              <a:spcBef>
                <a:spcPts val="0"/>
              </a:spcBef>
              <a:spcAft>
                <a:spcPts val="1200"/>
              </a:spcAft>
            </a:pPr>
            <a:r>
              <a:rPr sz="3400" b="1" i="0">
                <a:solidFill>
                  <a:srgbClr val="FFFFFF"/>
                </a:solidFill>
                <a:latin typeface="Trebuchet MS"/>
              </a:rPr>
              <a:t>Before You Teach</a:t>
            </a:r>
          </a:p>
          <a:p>
            <a:pPr algn="l">
              <a:lnSpc>
                <a:spcPct val="115000"/>
              </a:lnSpc>
              <a:spcBef>
                <a:spcPts val="0"/>
              </a:spcBef>
              <a:spcAft>
                <a:spcPts val="0"/>
              </a:spcAft>
            </a:pPr>
            <a:r>
              <a:rPr sz="1300" b="0" i="0">
                <a:solidFill>
                  <a:srgbClr val="C6DBD3"/>
                </a:solidFill>
                <a:latin typeface="Calibri"/>
              </a:rPr>
              <a:t>Finding out what they already bring to your classroom.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Diagnostic Assessment — Checking the Pantry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What do they already have before you start cooking?</a:t>
            </a:r>
          </a:p>
        </p:txBody>
      </p:sp>
      <p:pic>
        <p:nvPicPr>
          <p:cNvPr id="6" name="Picture 5" descr="04_pantry_market.jpg"/>
          <p:cNvPicPr>
            <a:picLocks noChangeAspect="1"/>
          </p:cNvPicPr>
          <p:nvPr/>
        </p:nvPicPr>
        <p:blipFill>
          <a:blip r:embed="rId2"/>
          <a:srcRect l="15033" r="15033"/>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Check the pantry before you light the fire.</a:t>
            </a:r>
          </a:p>
        </p:txBody>
      </p:sp>
      <p:sp>
        <p:nvSpPr>
          <p:cNvPr id="9" name="Rounded Rectangle 8"/>
          <p:cNvSpPr/>
          <p:nvPr/>
        </p:nvSpPr>
        <p:spPr>
          <a:xfrm>
            <a:off x="566928" y="1426464"/>
            <a:ext cx="5781751" cy="105507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1055071"/>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78075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Checking what learners already know and can do BEFORE you start teaching — so you know where to begin.</a:t>
            </a:r>
          </a:p>
        </p:txBody>
      </p:sp>
      <p:sp>
        <p:nvSpPr>
          <p:cNvPr id="12" name="Rounded Rectangle 11"/>
          <p:cNvSpPr/>
          <p:nvPr/>
        </p:nvSpPr>
        <p:spPr>
          <a:xfrm>
            <a:off x="566928" y="2591263"/>
            <a:ext cx="5781751" cy="124464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591263"/>
            <a:ext cx="45720" cy="124464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728423"/>
            <a:ext cx="5379415" cy="97032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Checking your pantry before you cook. Have you got rice? Oil? Is the yam already boiled? Only then do you decide what to cook. If you start cooking and discover there is no salt, you have wasted the gas.</a:t>
            </a:r>
          </a:p>
        </p:txBody>
      </p:sp>
      <p:sp>
        <p:nvSpPr>
          <p:cNvPr id="15" name="Rounded Rectangle 14"/>
          <p:cNvSpPr/>
          <p:nvPr/>
        </p:nvSpPr>
        <p:spPr>
          <a:xfrm>
            <a:off x="566928" y="3945635"/>
            <a:ext cx="5781751" cy="124464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45635"/>
            <a:ext cx="45720" cy="1244644"/>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82796"/>
            <a:ext cx="5379415" cy="97032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In your classroom</a:t>
            </a:r>
          </a:p>
          <a:p>
            <a:pPr algn="l">
              <a:lnSpc>
                <a:spcPct val="110000"/>
              </a:lnSpc>
              <a:spcBef>
                <a:spcPts val="0"/>
              </a:spcBef>
              <a:spcAft>
                <a:spcPts val="0"/>
              </a:spcAft>
            </a:pPr>
            <a:r>
              <a:rPr sz="1150" b="0" i="0">
                <a:solidFill>
                  <a:srgbClr val="14262E"/>
                </a:solidFill>
                <a:latin typeface="Calibri"/>
              </a:rPr>
              <a:t>A five-minute pre-test or entry ticket at the start of a new topic. Ask one question on Monday about the topic you teach on Wednesday — and find out that half the class never understood last term's foundation topic.</a:t>
            </a:r>
          </a:p>
        </p:txBody>
      </p:sp>
      <p:sp>
        <p:nvSpPr>
          <p:cNvPr id="18" name="Rounded Rectangle 17"/>
          <p:cNvSpPr/>
          <p:nvPr/>
        </p:nvSpPr>
        <p:spPr>
          <a:xfrm>
            <a:off x="566928" y="5300008"/>
            <a:ext cx="5781751" cy="105507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300008"/>
            <a:ext cx="45720" cy="1055071"/>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37168"/>
            <a:ext cx="5379415" cy="780751"/>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Popular tools</a:t>
            </a:r>
          </a:p>
          <a:p>
            <a:pPr algn="l">
              <a:lnSpc>
                <a:spcPct val="110000"/>
              </a:lnSpc>
              <a:spcBef>
                <a:spcPts val="0"/>
              </a:spcBef>
              <a:spcAft>
                <a:spcPts val="0"/>
              </a:spcAft>
            </a:pPr>
            <a:r>
              <a:rPr sz="1150" b="0" i="0">
                <a:solidFill>
                  <a:srgbClr val="14262E"/>
                </a:solidFill>
                <a:latin typeface="Calibri"/>
              </a:rPr>
              <a:t>Pre-tests, entry tickets, K-W-L charts, concept maps, short interviews, a simple show of hands.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Differentiated Assessment — Same Destination, Different Route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phrase teachers most often misunderstand</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Using different ways of assessing so that every learner, whatever their level or need, has a fair chance to show what they can do. You adapt the ROUTE. You never lower the DESTINATION.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have a very strong learner and a learner who is struggling. Both must show they understand photosynthesis — that is the learning outcome and it does not change. One writes the essay. The other draws and labels the diagram and explains it orally. Both have proven the same outcome. That is differentiation — not easier work for the weaker child, but a different door into the same room.</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manual's six levers:  </a:t>
            </a:r>
            <a:r>
              <a:rPr sz="1150" b="0" i="0">
                <a:solidFill>
                  <a:srgbClr val="5A6B72"/>
                </a:solidFill>
                <a:latin typeface="Calibri"/>
              </a:rPr>
              <a:t>varied formats  ·  flexible deadlines  ·  varying task difficulty  ·  accommodations ·  individualised feedback  ·  learner involvement.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4</a:t>
            </a:r>
          </a:p>
          <a:p>
            <a:pPr algn="l">
              <a:lnSpc>
                <a:spcPct val="103000"/>
              </a:lnSpc>
              <a:spcBef>
                <a:spcPts val="0"/>
              </a:spcBef>
              <a:spcAft>
                <a:spcPts val="1200"/>
              </a:spcAft>
            </a:pPr>
            <a:r>
              <a:rPr sz="3400" b="1" i="0">
                <a:solidFill>
                  <a:srgbClr val="FFFFFF"/>
                </a:solidFill>
                <a:latin typeface="Trebuchet MS"/>
              </a:rPr>
              <a:t>The Seven
Pillars</a:t>
            </a:r>
          </a:p>
          <a:p>
            <a:pPr algn="l">
              <a:lnSpc>
                <a:spcPct val="115000"/>
              </a:lnSpc>
              <a:spcBef>
                <a:spcPts val="0"/>
              </a:spcBef>
              <a:spcAft>
                <a:spcPts val="0"/>
              </a:spcAft>
            </a:pPr>
            <a:r>
              <a:rPr sz="1300" b="0" i="0">
                <a:solidFill>
                  <a:srgbClr val="C6DBD3"/>
                </a:solidFill>
                <a:latin typeface="Calibri"/>
              </a:rPr>
              <a:t>The principles that hold up every good assessment practice.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Seven Pillars — Hold Up the Roof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Everything that follows rests on these</a:t>
            </a:r>
          </a:p>
        </p:txBody>
      </p:sp>
      <p:pic>
        <p:nvPicPr>
          <p:cNvPr id="6" name="Picture 5" descr="05_pillars.jpg"/>
          <p:cNvPicPr>
            <a:picLocks noChangeAspect="1"/>
          </p:cNvPicPr>
          <p:nvPr/>
        </p:nvPicPr>
        <p:blipFill>
          <a:blip r:embed="rId2"/>
          <a:srcRect l="21895" r="21895"/>
          <a:stretch>
            <a:fillRect/>
          </a:stretch>
        </p:blipFill>
        <p:spPr>
          <a:xfrm>
            <a:off x="566928" y="1417320"/>
            <a:ext cx="3931920" cy="4663440"/>
          </a:xfrm>
          <a:prstGeom prst="rect">
            <a:avLst/>
          </a:prstGeom>
        </p:spPr>
      </p:pic>
      <p:sp>
        <p:nvSpPr>
          <p:cNvPr id="7" name="Rectangle 6"/>
          <p:cNvSpPr/>
          <p:nvPr/>
        </p:nvSpPr>
        <p:spPr>
          <a:xfrm>
            <a:off x="566928" y="1417320"/>
            <a:ext cx="39319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39319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Seven pillars. Remove one, and the roof leans.</a:t>
            </a:r>
          </a:p>
        </p:txBody>
      </p:sp>
      <p:sp>
        <p:nvSpPr>
          <p:cNvPr id="9" name="Rounded Rectangle 8"/>
          <p:cNvSpPr/>
          <p:nvPr/>
        </p:nvSpPr>
        <p:spPr>
          <a:xfrm>
            <a:off x="4864608"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6"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1 · Validity</a:t>
            </a:r>
          </a:p>
          <a:p>
            <a:pPr algn="l">
              <a:lnSpc>
                <a:spcPct val="110000"/>
              </a:lnSpc>
              <a:spcBef>
                <a:spcPts val="0"/>
              </a:spcBef>
              <a:spcAft>
                <a:spcPts val="0"/>
              </a:spcAft>
            </a:pPr>
            <a:r>
              <a:rPr sz="1150" b="0" i="0">
                <a:solidFill>
                  <a:srgbClr val="14262E"/>
                </a:solidFill>
                <a:latin typeface="Calibri"/>
              </a:rPr>
              <a:t>Am I measuring the RIGHT thing?</a:t>
            </a:r>
          </a:p>
        </p:txBody>
      </p:sp>
      <p:sp>
        <p:nvSpPr>
          <p:cNvPr id="12" name="Rounded Rectangle 11"/>
          <p:cNvSpPr/>
          <p:nvPr/>
        </p:nvSpPr>
        <p:spPr>
          <a:xfrm>
            <a:off x="8345271" y="1426464"/>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45271" y="1426464"/>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6439" y="1609344"/>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2 · Reliability</a:t>
            </a:r>
          </a:p>
          <a:p>
            <a:pPr algn="l">
              <a:lnSpc>
                <a:spcPct val="110000"/>
              </a:lnSpc>
              <a:spcBef>
                <a:spcPts val="0"/>
              </a:spcBef>
              <a:spcAft>
                <a:spcPts val="0"/>
              </a:spcAft>
            </a:pPr>
            <a:r>
              <a:rPr sz="1150" b="0" i="0">
                <a:solidFill>
                  <a:srgbClr val="14262E"/>
                </a:solidFill>
                <a:latin typeface="Calibri"/>
              </a:rPr>
              <a:t>Do I get the SAME result every time, whoever marks it?</a:t>
            </a:r>
          </a:p>
        </p:txBody>
      </p:sp>
      <p:sp>
        <p:nvSpPr>
          <p:cNvPr id="15" name="Rounded Rectangle 14"/>
          <p:cNvSpPr/>
          <p:nvPr/>
        </p:nvSpPr>
        <p:spPr>
          <a:xfrm>
            <a:off x="4864608"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64608"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65776"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3 · Fairness and ethics</a:t>
            </a:r>
          </a:p>
          <a:p>
            <a:pPr algn="l">
              <a:lnSpc>
                <a:spcPct val="110000"/>
              </a:lnSpc>
              <a:spcBef>
                <a:spcPts val="0"/>
              </a:spcBef>
              <a:spcAft>
                <a:spcPts val="0"/>
              </a:spcAft>
            </a:pPr>
            <a:r>
              <a:rPr sz="1150" b="0" i="0">
                <a:solidFill>
                  <a:srgbClr val="14262E"/>
                </a:solidFill>
                <a:latin typeface="Calibri"/>
              </a:rPr>
              <a:t>Does every learner get an EQUITABLE chance?</a:t>
            </a:r>
          </a:p>
        </p:txBody>
      </p:sp>
      <p:sp>
        <p:nvSpPr>
          <p:cNvPr id="18" name="Rounded Rectangle 17"/>
          <p:cNvSpPr/>
          <p:nvPr/>
        </p:nvSpPr>
        <p:spPr>
          <a:xfrm>
            <a:off x="8345271" y="2686050"/>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45271" y="2686050"/>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6439" y="2868930"/>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4 · Transparency</a:t>
            </a:r>
          </a:p>
          <a:p>
            <a:pPr algn="l">
              <a:lnSpc>
                <a:spcPct val="110000"/>
              </a:lnSpc>
              <a:spcBef>
                <a:spcPts val="0"/>
              </a:spcBef>
              <a:spcAft>
                <a:spcPts val="0"/>
              </a:spcAft>
            </a:pPr>
            <a:r>
              <a:rPr sz="1150" b="0" i="0">
                <a:solidFill>
                  <a:srgbClr val="14262E"/>
                </a:solidFill>
                <a:latin typeface="Calibri"/>
              </a:rPr>
              <a:t>Do learners know WHAT they are judged on and HOW?</a:t>
            </a:r>
          </a:p>
        </p:txBody>
      </p:sp>
      <p:sp>
        <p:nvSpPr>
          <p:cNvPr id="21" name="Rounded Rectangle 20"/>
          <p:cNvSpPr/>
          <p:nvPr/>
        </p:nvSpPr>
        <p:spPr>
          <a:xfrm>
            <a:off x="4864608"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64608"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5 · Inclusivity</a:t>
            </a:r>
          </a:p>
          <a:p>
            <a:pPr algn="l">
              <a:lnSpc>
                <a:spcPct val="110000"/>
              </a:lnSpc>
              <a:spcBef>
                <a:spcPts val="0"/>
              </a:spcBef>
              <a:spcAft>
                <a:spcPts val="0"/>
              </a:spcAft>
            </a:pPr>
            <a:r>
              <a:rPr sz="1150" b="0" i="0">
                <a:solidFill>
                  <a:srgbClr val="14262E"/>
                </a:solidFill>
                <a:latin typeface="Calibri"/>
              </a:rPr>
              <a:t>Is it accessible to ALL learners, without exception?</a:t>
            </a:r>
          </a:p>
        </p:txBody>
      </p:sp>
      <p:sp>
        <p:nvSpPr>
          <p:cNvPr id="24" name="Rounded Rectangle 23"/>
          <p:cNvSpPr/>
          <p:nvPr/>
        </p:nvSpPr>
        <p:spPr>
          <a:xfrm>
            <a:off x="8345271" y="3945635"/>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271" y="3945635"/>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46439" y="4128515"/>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6 · Practicability</a:t>
            </a:r>
          </a:p>
          <a:p>
            <a:pPr algn="l">
              <a:lnSpc>
                <a:spcPct val="110000"/>
              </a:lnSpc>
              <a:spcBef>
                <a:spcPts val="0"/>
              </a:spcBef>
              <a:spcAft>
                <a:spcPts val="0"/>
              </a:spcAft>
            </a:pPr>
            <a:r>
              <a:rPr sz="1150" b="0" i="0">
                <a:solidFill>
                  <a:srgbClr val="14262E"/>
                </a:solidFill>
                <a:latin typeface="Calibri"/>
              </a:rPr>
              <a:t>Can I ACTUALLY do this with my time and my class size?</a:t>
            </a:r>
          </a:p>
        </p:txBody>
      </p:sp>
      <p:sp>
        <p:nvSpPr>
          <p:cNvPr id="27" name="Rounded Rectangle 26"/>
          <p:cNvSpPr/>
          <p:nvPr/>
        </p:nvSpPr>
        <p:spPr>
          <a:xfrm>
            <a:off x="4864608" y="5205222"/>
            <a:ext cx="32794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64608" y="5205222"/>
            <a:ext cx="32794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65776" y="5388102"/>
            <a:ext cx="28771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7 · Assessment utility</a:t>
            </a:r>
          </a:p>
          <a:p>
            <a:pPr algn="l">
              <a:lnSpc>
                <a:spcPct val="110000"/>
              </a:lnSpc>
              <a:spcBef>
                <a:spcPts val="0"/>
              </a:spcBef>
              <a:spcAft>
                <a:spcPts val="0"/>
              </a:spcAft>
            </a:pPr>
            <a:r>
              <a:rPr sz="1150" b="0" i="0">
                <a:solidFill>
                  <a:srgbClr val="14262E"/>
                </a:solidFill>
                <a:latin typeface="Calibri"/>
              </a:rPr>
              <a:t>Is it USEFUL — does anybody learn anything from it?</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1 · Validity — Measuring the Right Thing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most often broken without anyone noticing</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Are you actually measuring the thing you say you are measuring? A valid assessment measures the important learning outcomes of the curriculum — not just whatever was easiest to set.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trader uses a weighing scale to sell yam. If she used that scale to measure the LENGTH of the yam, the reading would be worthless — not because the scale is broken, but because it is measuring the wrong thing. Now think of your last class test. Your learning outcome said learners should ANALYSE data. But every question you set asked them to RECALL a definition. Your test was neat. It was well marked. It was simply measuring the wrong thing. That is an invalid assessment — and the learners who studied hard still lost marks for it.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teacher's quick validity check:  </a:t>
            </a:r>
            <a:r>
              <a:rPr sz="1150" b="0" i="0">
                <a:solidFill>
                  <a:srgbClr val="5A6B72"/>
                </a:solidFill>
                <a:latin typeface="Calibri"/>
              </a:rPr>
              <a:t>“Does this question actually test the skill I said I was teaching?”  If the answer is no, the marks it produces mean very little.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2 · Reliability — The Same Result Every Time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Reliability is about trust in the numbers</a:t>
            </a:r>
          </a:p>
        </p:txBody>
      </p:sp>
      <p:pic>
        <p:nvPicPr>
          <p:cNvPr id="6" name="Picture 5" descr="06_scales.jpg"/>
          <p:cNvPicPr>
            <a:picLocks noChangeAspect="1"/>
          </p:cNvPicPr>
          <p:nvPr/>
        </p:nvPicPr>
        <p:blipFill>
          <a:blip r:embed="rId2"/>
          <a:srcRect l="21250" r="21250"/>
          <a:stretch>
            <a:fillRect/>
          </a:stretch>
        </p:blipFill>
        <p:spPr>
          <a:xfrm>
            <a:off x="6732727" y="1417320"/>
            <a:ext cx="4892040" cy="4663440"/>
          </a:xfrm>
          <a:prstGeom prst="rect">
            <a:avLst/>
          </a:prstGeom>
        </p:spPr>
      </p:pic>
      <p:sp>
        <p:nvSpPr>
          <p:cNvPr id="7" name="Rectangle 6"/>
          <p:cNvSpPr/>
          <p:nvPr/>
        </p:nvSpPr>
        <p:spPr>
          <a:xfrm>
            <a:off x="6732727"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2727"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Same pile, same reading — every time.</a:t>
            </a:r>
          </a:p>
        </p:txBody>
      </p:sp>
      <p:sp>
        <p:nvSpPr>
          <p:cNvPr id="9" name="Rounded Rectangle 8"/>
          <p:cNvSpPr/>
          <p:nvPr/>
        </p:nvSpPr>
        <p:spPr>
          <a:xfrm>
            <a:off x="566928" y="1426464"/>
            <a:ext cx="5781751" cy="960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60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5379415" cy="685965"/>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Plain English</a:t>
            </a:r>
          </a:p>
          <a:p>
            <a:pPr algn="l">
              <a:lnSpc>
                <a:spcPct val="110000"/>
              </a:lnSpc>
              <a:spcBef>
                <a:spcPts val="0"/>
              </a:spcBef>
              <a:spcAft>
                <a:spcPts val="0"/>
              </a:spcAft>
            </a:pPr>
            <a:r>
              <a:rPr sz="1150" b="0" i="0">
                <a:solidFill>
                  <a:srgbClr val="14262E"/>
                </a:solidFill>
                <a:latin typeface="Calibri"/>
              </a:rPr>
              <a:t>Do you get the same result every time, whoever is doing the marking? Reliable results are dependable enough to make decisions with.</a:t>
            </a:r>
          </a:p>
        </p:txBody>
      </p:sp>
      <p:sp>
        <p:nvSpPr>
          <p:cNvPr id="12" name="Rounded Rectangle 11"/>
          <p:cNvSpPr/>
          <p:nvPr/>
        </p:nvSpPr>
        <p:spPr>
          <a:xfrm>
            <a:off x="566928" y="2496477"/>
            <a:ext cx="5781751" cy="133943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96477"/>
            <a:ext cx="45720" cy="133943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33637"/>
            <a:ext cx="5379415" cy="1065110"/>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market scale that gives the same weight for the same pile of tomatoes — on Monday or Saturday, whoever is standing at the stall. Now imagine the scale was generous on Monday and harsh on Saturday. Nobody would trust that market again.</a:t>
            </a:r>
          </a:p>
        </p:txBody>
      </p:sp>
      <p:sp>
        <p:nvSpPr>
          <p:cNvPr id="15" name="Rounded Rectangle 14"/>
          <p:cNvSpPr/>
          <p:nvPr/>
        </p:nvSpPr>
        <p:spPr>
          <a:xfrm>
            <a:off x="566928" y="3945636"/>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945636"/>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4082796"/>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Where we break it</a:t>
            </a:r>
          </a:p>
          <a:p>
            <a:pPr algn="l">
              <a:lnSpc>
                <a:spcPct val="110000"/>
              </a:lnSpc>
              <a:spcBef>
                <a:spcPts val="0"/>
              </a:spcBef>
              <a:spcAft>
                <a:spcPts val="0"/>
              </a:spcAft>
            </a:pPr>
            <a:r>
              <a:rPr sz="1150" b="0" i="0">
                <a:solidFill>
                  <a:srgbClr val="14262E"/>
                </a:solidFill>
                <a:latin typeface="Calibri"/>
              </a:rPr>
              <a:t>If this term's 30 marks in your subject are generously given and next term's are harsh, learners are being ranked against a ruler that keeps changing length. That is unreliable.</a:t>
            </a:r>
          </a:p>
        </p:txBody>
      </p:sp>
      <p:sp>
        <p:nvSpPr>
          <p:cNvPr id="18" name="Rounded Rectangle 17"/>
          <p:cNvSpPr/>
          <p:nvPr/>
        </p:nvSpPr>
        <p:spPr>
          <a:xfrm>
            <a:off x="566928" y="5205222"/>
            <a:ext cx="578175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205222"/>
            <a:ext cx="45720" cy="114985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342382"/>
            <a:ext cx="537941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0B6E4F"/>
                </a:solidFill>
                <a:latin typeface="Trebuchet MS"/>
              </a:rPr>
              <a:t>How the manual says to fix it</a:t>
            </a:r>
          </a:p>
          <a:p>
            <a:pPr algn="l">
              <a:lnSpc>
                <a:spcPct val="110000"/>
              </a:lnSpc>
              <a:spcBef>
                <a:spcPts val="0"/>
              </a:spcBef>
              <a:spcAft>
                <a:spcPts val="0"/>
              </a:spcAft>
            </a:pPr>
            <a:r>
              <a:rPr sz="1150" b="0" i="0">
                <a:solidFill>
                  <a:srgbClr val="14262E"/>
                </a:solidFill>
                <a:latin typeface="Calibri"/>
              </a:rPr>
              <a:t>Clear learning outcomes · a colleague reviews your marking · more than one assessment method for the same outcome · proper marking schemes with weightings · rubrics given OUT before the task · a calm, suitable room.</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3 · Fairness and Ethics — An Equitable Chance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Fairness is not treating everyone identically — it is giving everyone a real chance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strategies should give learners an equitable opportunity to demonstrate what they know and can do, taking into account their ability, learning styles, gender and Special Educational Needs. It also means never assessing what you have not taught.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test question asks learners to explain the rules of cricket. A learner from a village that has never played cricket — and never seen it — cannot answer, and fails. That question did not measure physics. It measured cricket. Now swap it for a question about the physics of a loaded trotro braking at a junction, and every learner in the room has something to think with. Same physics. Same difficulty. Fair.</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manual's red flags:  </a:t>
            </a:r>
            <a:r>
              <a:rPr sz="1150" b="0" i="0">
                <a:solidFill>
                  <a:srgbClr val="5A6B72"/>
                </a:solidFill>
                <a:latin typeface="Calibri"/>
              </a:rPr>
              <a:t>culturally biased content  ·  unfamiliar words and examples  ·  assessing content you never taught  ·  failing to give SEN learners extra time or alternative formats.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4 · Transparency — No Secret Exams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learners have to guess what you want, you have already made it harder than it needs to be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Making the assessment process and criteria clear and understandable to learners. They should know what is being judged, how it is judged, and what counts as a pass.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teachers set the same project. The first teacher says “do the project, I will mark it” — and the learners spend the week guessing. The second teacher hands out the rubric on day one: what is expected, the marks for each part, what a top answer looks like. Both teachers mark with the same rubric. The second class almost always scores higher — not because they worked harder, but because they knew where to aim. Assessment should not be a guessing game you are the referee of.</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Transparency also requires you to:  </a:t>
            </a:r>
            <a:r>
              <a:rPr sz="1150" b="0" i="0">
                <a:solidFill>
                  <a:srgbClr val="5A6B72"/>
                </a:solidFill>
                <a:latin typeface="Calibri"/>
              </a:rPr>
              <a:t>share the learning outcomes being assessed  ·  tell learners the pass mark  ·  share results openly with learners and parents/guardians  ·  give learners a route to seek review and redress if they disagree with a score.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5 · Inclusivity — Fair and Accessible to ALL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an extra duty. It is a standing requirement of the framework</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Creating assessment practices that are fair and accessible to every learner — regardless of gender, disability, poverty, background or learning difference. The framework names three lenses you must apply: GESI, SEL and SEN.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learner with low vision in your class cannot read an ordinary small-print paper — but they understand the work perfectly. A learner who is hard of hearing misses the spoken instructions you gave once, quickly, at the front. A learner who is dyslexic knows the science but loses marks to their handwriting. In all three cases we did not measure their learning. We measured their eyes, their ears and their handwriting. Inclusivity means removing that barrier so the mark reflects the learning.</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GESI</a:t>
            </a:r>
            <a:r>
              <a:rPr sz="1150" b="0" i="0">
                <a:solidFill>
                  <a:srgbClr val="5A6B72"/>
                </a:solidFill>
                <a:latin typeface="Calibri"/>
              </a:rPr>
              <a:t> = Gender Equality and Social Inclusion.   </a:t>
            </a:r>
            <a:r>
              <a:rPr sz="1150" b="1" i="0">
                <a:solidFill>
                  <a:srgbClr val="0B6E4F"/>
                </a:solidFill>
                <a:latin typeface="Calibri"/>
              </a:rPr>
              <a:t>SEL</a:t>
            </a:r>
            <a:r>
              <a:rPr sz="1150" b="0" i="0">
                <a:solidFill>
                  <a:srgbClr val="5A6B72"/>
                </a:solidFill>
                <a:latin typeface="Calibri"/>
              </a:rPr>
              <a:t> = Socio-Emotional Learning.   </a:t>
            </a:r>
            <a:r>
              <a:rPr sz="1150" b="1" i="0">
                <a:solidFill>
                  <a:srgbClr val="0B6E4F"/>
                </a:solidFill>
                <a:latin typeface="Calibri"/>
              </a:rPr>
              <a:t>SEN</a:t>
            </a:r>
            <a:r>
              <a:rPr sz="1150" b="0" i="0">
                <a:solidFill>
                  <a:srgbClr val="5A6B72"/>
                </a:solidFill>
                <a:latin typeface="Calibri"/>
              </a:rPr>
              <a:t> = Special Educational Needs.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6 · Practicability — Can You Actually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that kills the most beautiful assessment plans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feasible, convenient, efficient and successful with the real resources you have — your actual class size, your actual timetable, your actual materials.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design a wonderful one-hour one-on-one oral assessment for your Government class. It is rigorous. It is valid. It is inclusive. It is also completely impossible with 60 learners — and by Thursday it will have collapsed into chaos, you will be three weeks behind, and you will abandon it. The plan failed not because it was bad, but because it was not practicable. A good assessment is one you can still run in week eight, when you are tired and the term is crowded.</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three practicability questions:  </a:t>
            </a:r>
            <a:r>
              <a:rPr sz="1150" b="0" i="0">
                <a:solidFill>
                  <a:srgbClr val="5A6B72"/>
                </a:solidFill>
                <a:latin typeface="Calibri"/>
              </a:rPr>
              <a:t>Do I have the materials and the security?  ·  Does this format suit my class size and their level?  ·  Do I have the TIME to set it, mark it, AND give constructive feedback?</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7 · Assessment Utility — Is It Actually Useful?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question that separates data collection from real assessment</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useful. It must give you and the learner information worth having, and that information must lead to action.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set a class test. You mark it. You enter the scores in the mark book. You file the papers. Term ends. Now ask honestly: did anybody learn anything from that test? If the test did not change what you taught next, and did not change what the learner did next, then all that happened was data collection. Utility is the difference between a test that teaches and a test that merely records.</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Utility in practice:  </a:t>
            </a:r>
            <a:r>
              <a:rPr sz="1150" b="0" i="0">
                <a:solidFill>
                  <a:srgbClr val="5A6B72"/>
                </a:solidFill>
                <a:latin typeface="Calibri"/>
              </a:rPr>
              <a:t>state the intended use of the result up front  ·  produce credible information for learners and parents  ·  give constructive feedback  ·  and then ACT on it — re-teach, regroup, intervene, adapt.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dok_ladder.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5</a:t>
            </a:r>
          </a:p>
          <a:p>
            <a:pPr algn="l">
              <a:lnSpc>
                <a:spcPct val="103000"/>
              </a:lnSpc>
              <a:spcBef>
                <a:spcPts val="0"/>
              </a:spcBef>
              <a:spcAft>
                <a:spcPts val="1200"/>
              </a:spcAft>
            </a:pPr>
            <a:r>
              <a:rPr sz="3400" b="1" i="0">
                <a:solidFill>
                  <a:srgbClr val="FFFFFF"/>
                </a:solidFill>
                <a:latin typeface="Trebuchet MS"/>
              </a:rPr>
              <a:t>The Jargon
Buster</a:t>
            </a:r>
          </a:p>
          <a:p>
            <a:pPr algn="l">
              <a:lnSpc>
                <a:spcPct val="115000"/>
              </a:lnSpc>
              <a:spcBef>
                <a:spcPts val="0"/>
              </a:spcBef>
              <a:spcAft>
                <a:spcPts val="0"/>
              </a:spcAft>
            </a:pPr>
            <a:r>
              <a:rPr sz="1300" b="0" i="0">
                <a:solidFill>
                  <a:srgbClr val="C6DBD3"/>
                </a:solidFill>
                <a:latin typeface="Calibri"/>
              </a:rPr>
              <a:t>Every technical term, in plain words, with a picture.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Rubric — The Recipe Card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useful document in your assessment toolkit</a:t>
            </a:r>
          </a:p>
        </p:txBody>
      </p:sp>
      <p:pic>
        <p:nvPicPr>
          <p:cNvPr id="6" name="Picture 5" descr="10_rubric_card.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recipe card with measurements, not guesses.</a:t>
            </a:r>
          </a:p>
        </p:txBody>
      </p:sp>
      <p:sp>
        <p:nvSpPr>
          <p:cNvPr id="9" name="Rounded Rectangle 8"/>
          <p:cNvSpPr/>
          <p:nvPr/>
        </p:nvSpPr>
        <p:spPr>
          <a:xfrm>
            <a:off x="5843016" y="1426464"/>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Plain English</a:t>
            </a:r>
          </a:p>
          <a:p>
            <a:pPr algn="l">
              <a:lnSpc>
                <a:spcPct val="110000"/>
              </a:lnSpc>
              <a:spcBef>
                <a:spcPts val="0"/>
              </a:spcBef>
              <a:spcAft>
                <a:spcPts val="0"/>
              </a:spcAft>
            </a:pPr>
            <a:r>
              <a:rPr sz="1150" b="0" i="0">
                <a:solidFill>
                  <a:srgbClr val="14262E"/>
                </a:solidFill>
                <a:latin typeface="Calibri"/>
              </a:rPr>
              <a:t>A table showing exactly what counts and how many marks each part is worth, at each level of quality.</a:t>
            </a:r>
          </a:p>
        </p:txBody>
      </p:sp>
      <p:sp>
        <p:nvSpPr>
          <p:cNvPr id="12" name="Rounded Rectangle 11"/>
          <p:cNvSpPr/>
          <p:nvPr/>
        </p:nvSpPr>
        <p:spPr>
          <a:xfrm>
            <a:off x="5843016" y="2638656"/>
            <a:ext cx="5781751" cy="1292037"/>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638656"/>
            <a:ext cx="45720" cy="129203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775816"/>
            <a:ext cx="5379415" cy="1017717"/>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The classroom picture</a:t>
            </a:r>
          </a:p>
          <a:p>
            <a:pPr algn="l">
              <a:lnSpc>
                <a:spcPct val="110000"/>
              </a:lnSpc>
              <a:spcBef>
                <a:spcPts val="0"/>
              </a:spcBef>
              <a:spcAft>
                <a:spcPts val="0"/>
              </a:spcAft>
            </a:pPr>
            <a:r>
              <a:rPr sz="1150" b="0" i="0">
                <a:solidFill>
                  <a:srgbClr val="14262E"/>
                </a:solidFill>
                <a:latin typeface="Calibri"/>
              </a:rPr>
              <a:t>It is a recipe card with measurements. Not “add enough salt” — but “one teaspoon”. Not “write a good essay” — but “three clear arguments, each supported by one example, maximum two pages.”</a:t>
            </a:r>
          </a:p>
        </p:txBody>
      </p:sp>
      <p:sp>
        <p:nvSpPr>
          <p:cNvPr id="15" name="Rounded Rectangle 14"/>
          <p:cNvSpPr/>
          <p:nvPr/>
        </p:nvSpPr>
        <p:spPr>
          <a:xfrm>
            <a:off x="5843016" y="4040422"/>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4040422"/>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4177582"/>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Why it changes everything</a:t>
            </a:r>
          </a:p>
          <a:p>
            <a:pPr algn="l">
              <a:lnSpc>
                <a:spcPct val="110000"/>
              </a:lnSpc>
              <a:spcBef>
                <a:spcPts val="0"/>
              </a:spcBef>
              <a:spcAft>
                <a:spcPts val="0"/>
              </a:spcAft>
            </a:pPr>
            <a:r>
              <a:rPr sz="1150" b="0" i="0">
                <a:solidFill>
                  <a:srgbClr val="14262E"/>
                </a:solidFill>
                <a:latin typeface="Calibri"/>
              </a:rPr>
              <a:t>It removes the guesswork for the learner AND the bias from the marker. It is the fastest route to both transparency and reliability at the same time.</a:t>
            </a:r>
          </a:p>
        </p:txBody>
      </p:sp>
      <p:sp>
        <p:nvSpPr>
          <p:cNvPr id="18" name="Rounded Rectangle 17"/>
          <p:cNvSpPr/>
          <p:nvPr/>
        </p:nvSpPr>
        <p:spPr>
          <a:xfrm>
            <a:off x="5843016" y="5252615"/>
            <a:ext cx="5781751" cy="110246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5252615"/>
            <a:ext cx="45720" cy="1102464"/>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5389775"/>
            <a:ext cx="5379415" cy="828144"/>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F4B400"/>
                </a:solidFill>
                <a:latin typeface="Trebuchet MS"/>
              </a:rPr>
              <a:t>The rule nobody follows</a:t>
            </a:r>
          </a:p>
          <a:p>
            <a:pPr algn="l">
              <a:lnSpc>
                <a:spcPct val="110000"/>
              </a:lnSpc>
              <a:spcBef>
                <a:spcPts val="0"/>
              </a:spcBef>
              <a:spcAft>
                <a:spcPts val="0"/>
              </a:spcAft>
            </a:pPr>
            <a:r>
              <a:rPr sz="1150" b="0" i="0">
                <a:solidFill>
                  <a:srgbClr val="14262E"/>
                </a:solidFill>
                <a:latin typeface="Calibri"/>
              </a:rPr>
              <a:t>Give the rubric OUT BEFORE the task — never after. The manual says this explicitly for performance and practical assessment.</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The Staircase of Thinking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DoK stands for Depth of Knowledge. It is a ladder, not a difficulty rating — the words can stay simple while the thinking goes deep.</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8138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Level</a:t>
            </a:r>
          </a:p>
        </p:txBody>
      </p:sp>
      <p:sp>
        <p:nvSpPr>
          <p:cNvPr id="9" name="TextBox 8"/>
          <p:cNvSpPr txBox="1"/>
          <p:nvPr/>
        </p:nvSpPr>
        <p:spPr>
          <a:xfrm>
            <a:off x="1737360" y="1947672"/>
            <a:ext cx="163677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Name</a:t>
            </a:r>
          </a:p>
        </p:txBody>
      </p:sp>
      <p:sp>
        <p:nvSpPr>
          <p:cNvPr id="10" name="TextBox 9"/>
          <p:cNvSpPr txBox="1"/>
          <p:nvPr/>
        </p:nvSpPr>
        <p:spPr>
          <a:xfrm>
            <a:off x="3611879" y="1947672"/>
            <a:ext cx="3008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11" name="TextBox 10"/>
          <p:cNvSpPr txBox="1"/>
          <p:nvPr/>
        </p:nvSpPr>
        <p:spPr>
          <a:xfrm>
            <a:off x="6857999" y="1947672"/>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example — Social Studies</a:t>
            </a:r>
          </a:p>
        </p:txBody>
      </p:sp>
      <p:sp>
        <p:nvSpPr>
          <p:cNvPr id="12" name="Rectangle 11"/>
          <p:cNvSpPr/>
          <p:nvPr/>
        </p:nvSpPr>
        <p:spPr>
          <a:xfrm>
            <a:off x="566928" y="2249424"/>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1</a:t>
            </a:r>
          </a:p>
        </p:txBody>
      </p:sp>
      <p:sp>
        <p:nvSpPr>
          <p:cNvPr id="14" name="TextBox 13"/>
          <p:cNvSpPr txBox="1"/>
          <p:nvPr/>
        </p:nvSpPr>
        <p:spPr>
          <a:xfrm>
            <a:off x="1737360" y="2313432"/>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Recall / Reproduction</a:t>
            </a:r>
          </a:p>
        </p:txBody>
      </p:sp>
      <p:sp>
        <p:nvSpPr>
          <p:cNvPr id="15" name="TextBox 14"/>
          <p:cNvSpPr txBox="1"/>
          <p:nvPr/>
        </p:nvSpPr>
        <p:spPr>
          <a:xfrm>
            <a:off x="3611879" y="2313432"/>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Give back a fact you were taught.</a:t>
            </a:r>
          </a:p>
        </p:txBody>
      </p:sp>
      <p:sp>
        <p:nvSpPr>
          <p:cNvPr id="16" name="TextBox 15"/>
          <p:cNvSpPr txBox="1"/>
          <p:nvPr/>
        </p:nvSpPr>
        <p:spPr>
          <a:xfrm>
            <a:off x="6857999" y="2313432"/>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“State three causes of climate change.”</a:t>
            </a:r>
          </a:p>
        </p:txBody>
      </p:sp>
      <p:sp>
        <p:nvSpPr>
          <p:cNvPr id="17" name="Rectangle 16"/>
          <p:cNvSpPr/>
          <p:nvPr/>
        </p:nvSpPr>
        <p:spPr>
          <a:xfrm>
            <a:off x="566928" y="2962656"/>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26664"/>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2</a:t>
            </a:r>
          </a:p>
        </p:txBody>
      </p:sp>
      <p:sp>
        <p:nvSpPr>
          <p:cNvPr id="19" name="TextBox 18"/>
          <p:cNvSpPr txBox="1"/>
          <p:nvPr/>
        </p:nvSpPr>
        <p:spPr>
          <a:xfrm>
            <a:off x="1737360" y="3026664"/>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Skills and Concepts</a:t>
            </a:r>
          </a:p>
        </p:txBody>
      </p:sp>
      <p:sp>
        <p:nvSpPr>
          <p:cNvPr id="20" name="TextBox 19"/>
          <p:cNvSpPr txBox="1"/>
          <p:nvPr/>
        </p:nvSpPr>
        <p:spPr>
          <a:xfrm>
            <a:off x="3611879" y="3026664"/>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Use your knowledge in a familiar routine.</a:t>
            </a:r>
          </a:p>
        </p:txBody>
      </p:sp>
      <p:sp>
        <p:nvSpPr>
          <p:cNvPr id="21" name="TextBox 20"/>
          <p:cNvSpPr txBox="1"/>
          <p:nvPr/>
        </p:nvSpPr>
        <p:spPr>
          <a:xfrm>
            <a:off x="6857999" y="3026664"/>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“Explain how the greenhouse effect works, using a diagram.”</a:t>
            </a:r>
          </a:p>
        </p:txBody>
      </p:sp>
      <p:sp>
        <p:nvSpPr>
          <p:cNvPr id="22" name="Rectangle 21"/>
          <p:cNvSpPr/>
          <p:nvPr/>
        </p:nvSpPr>
        <p:spPr>
          <a:xfrm>
            <a:off x="566928" y="3675888"/>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39896"/>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3</a:t>
            </a:r>
          </a:p>
        </p:txBody>
      </p:sp>
      <p:sp>
        <p:nvSpPr>
          <p:cNvPr id="24" name="TextBox 23"/>
          <p:cNvSpPr txBox="1"/>
          <p:nvPr/>
        </p:nvSpPr>
        <p:spPr>
          <a:xfrm>
            <a:off x="1737360" y="3739896"/>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Strategic Thinking</a:t>
            </a:r>
          </a:p>
        </p:txBody>
      </p:sp>
      <p:sp>
        <p:nvSpPr>
          <p:cNvPr id="25" name="TextBox 24"/>
          <p:cNvSpPr txBox="1"/>
          <p:nvPr/>
        </p:nvSpPr>
        <p:spPr>
          <a:xfrm>
            <a:off x="3611879" y="3739896"/>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Reason, justify, plan. There is more than one route to the answer.</a:t>
            </a:r>
          </a:p>
        </p:txBody>
      </p:sp>
      <p:sp>
        <p:nvSpPr>
          <p:cNvPr id="26" name="TextBox 25"/>
          <p:cNvSpPr txBox="1"/>
          <p:nvPr/>
        </p:nvSpPr>
        <p:spPr>
          <a:xfrm>
            <a:off x="6857999" y="3739896"/>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cocoa farmer's yield is falling. Using the data given, diagnose the likely cause and justify your answer.”</a:t>
            </a:r>
          </a:p>
        </p:txBody>
      </p:sp>
      <p:sp>
        <p:nvSpPr>
          <p:cNvPr id="27" name="Rectangle 26"/>
          <p:cNvSpPr/>
          <p:nvPr/>
        </p:nvSpPr>
        <p:spPr>
          <a:xfrm>
            <a:off x="566928" y="4389120"/>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8"/>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4</a:t>
            </a:r>
          </a:p>
        </p:txBody>
      </p:sp>
      <p:sp>
        <p:nvSpPr>
          <p:cNvPr id="29" name="TextBox 28"/>
          <p:cNvSpPr txBox="1"/>
          <p:nvPr/>
        </p:nvSpPr>
        <p:spPr>
          <a:xfrm>
            <a:off x="1737360" y="4453128"/>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Thinking</a:t>
            </a:r>
          </a:p>
        </p:txBody>
      </p:sp>
      <p:sp>
        <p:nvSpPr>
          <p:cNvPr id="30" name="TextBox 29"/>
          <p:cNvSpPr txBox="1"/>
          <p:nvPr/>
        </p:nvSpPr>
        <p:spPr>
          <a:xfrm>
            <a:off x="3611879" y="4453128"/>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Investigate over time, combine ideas, produce something original.</a:t>
            </a:r>
          </a:p>
        </p:txBody>
      </p:sp>
      <p:sp>
        <p:nvSpPr>
          <p:cNvPr id="31" name="TextBox 30"/>
          <p:cNvSpPr txBox="1"/>
          <p:nvPr/>
        </p:nvSpPr>
        <p:spPr>
          <a:xfrm>
            <a:off x="6857999" y="4453128"/>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“Conduct a week-long survey in your community on waste disposal and present recommendations to the school assembly.”</a:t>
            </a:r>
          </a:p>
        </p:txBody>
      </p:sp>
      <p:sp>
        <p:nvSpPr>
          <p:cNvPr id="32" name="TextBox 3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Jargon Buster — The Everyday Terms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words we use constantly but rarely define</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20025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Term</a:t>
            </a:r>
          </a:p>
        </p:txBody>
      </p:sp>
      <p:sp>
        <p:nvSpPr>
          <p:cNvPr id="8" name="TextBox 7"/>
          <p:cNvSpPr txBox="1"/>
          <p:nvPr/>
        </p:nvSpPr>
        <p:spPr>
          <a:xfrm>
            <a:off x="2926080" y="1508760"/>
            <a:ext cx="39227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9" name="TextBox 8"/>
          <p:cNvSpPr txBox="1"/>
          <p:nvPr/>
        </p:nvSpPr>
        <p:spPr>
          <a:xfrm>
            <a:off x="7086600" y="1508760"/>
            <a:ext cx="44165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Classroom picture</a:t>
            </a:r>
          </a:p>
        </p:txBody>
      </p:sp>
      <p:sp>
        <p:nvSpPr>
          <p:cNvPr id="10" name="Rectangle 9"/>
          <p:cNvSpPr/>
          <p:nvPr/>
        </p:nvSpPr>
        <p:spPr>
          <a:xfrm>
            <a:off x="566928" y="1810512"/>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Diagnostic assessment</a:t>
            </a:r>
          </a:p>
        </p:txBody>
      </p:sp>
      <p:sp>
        <p:nvSpPr>
          <p:cNvPr id="12" name="TextBox 11"/>
          <p:cNvSpPr txBox="1"/>
          <p:nvPr/>
        </p:nvSpPr>
        <p:spPr>
          <a:xfrm>
            <a:off x="2926080" y="1874519"/>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prior knowledge before teaching.</a:t>
            </a:r>
          </a:p>
        </p:txBody>
      </p:sp>
      <p:sp>
        <p:nvSpPr>
          <p:cNvPr id="13" name="TextBox 12"/>
          <p:cNvSpPr txBox="1"/>
          <p:nvPr/>
        </p:nvSpPr>
        <p:spPr>
          <a:xfrm>
            <a:off x="7086600" y="1874519"/>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the pantry before you cook.</a:t>
            </a:r>
          </a:p>
        </p:txBody>
      </p:sp>
      <p:sp>
        <p:nvSpPr>
          <p:cNvPr id="14" name="Rectangle 13"/>
          <p:cNvSpPr/>
          <p:nvPr/>
        </p:nvSpPr>
        <p:spPr>
          <a:xfrm>
            <a:off x="566928" y="2231136"/>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295144"/>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Formative assessment</a:t>
            </a:r>
          </a:p>
        </p:txBody>
      </p:sp>
      <p:sp>
        <p:nvSpPr>
          <p:cNvPr id="16" name="TextBox 15"/>
          <p:cNvSpPr txBox="1"/>
          <p:nvPr/>
        </p:nvSpPr>
        <p:spPr>
          <a:xfrm>
            <a:off x="2926080" y="2295144"/>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Checking during teaching so you can adjust.</a:t>
            </a:r>
          </a:p>
        </p:txBody>
      </p:sp>
      <p:sp>
        <p:nvSpPr>
          <p:cNvPr id="17" name="TextBox 16"/>
          <p:cNvSpPr txBox="1"/>
          <p:nvPr/>
        </p:nvSpPr>
        <p:spPr>
          <a:xfrm>
            <a:off x="7086600" y="2295144"/>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Tasting the soup while it is on the fire.</a:t>
            </a:r>
          </a:p>
        </p:txBody>
      </p:sp>
      <p:sp>
        <p:nvSpPr>
          <p:cNvPr id="18" name="Rectangle 17"/>
          <p:cNvSpPr/>
          <p:nvPr/>
        </p:nvSpPr>
        <p:spPr>
          <a:xfrm>
            <a:off x="566928" y="2651760"/>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715768"/>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Summative assessment</a:t>
            </a:r>
          </a:p>
        </p:txBody>
      </p:sp>
      <p:sp>
        <p:nvSpPr>
          <p:cNvPr id="20" name="TextBox 19"/>
          <p:cNvSpPr txBox="1"/>
          <p:nvPr/>
        </p:nvSpPr>
        <p:spPr>
          <a:xfrm>
            <a:off x="2926080" y="2715768"/>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at the end, for certification.</a:t>
            </a:r>
          </a:p>
        </p:txBody>
      </p:sp>
      <p:sp>
        <p:nvSpPr>
          <p:cNvPr id="21" name="TextBox 20"/>
          <p:cNvSpPr txBox="1"/>
          <p:nvPr/>
        </p:nvSpPr>
        <p:spPr>
          <a:xfrm>
            <a:off x="7086600" y="2715768"/>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Serving the meal at the table.</a:t>
            </a:r>
          </a:p>
        </p:txBody>
      </p:sp>
      <p:sp>
        <p:nvSpPr>
          <p:cNvPr id="22" name="Rectangle 21"/>
          <p:cNvSpPr/>
          <p:nvPr/>
        </p:nvSpPr>
        <p:spPr>
          <a:xfrm>
            <a:off x="566928" y="3072384"/>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136391"/>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Differentiated assessment</a:t>
            </a:r>
          </a:p>
        </p:txBody>
      </p:sp>
      <p:sp>
        <p:nvSpPr>
          <p:cNvPr id="24" name="TextBox 23"/>
          <p:cNvSpPr txBox="1"/>
          <p:nvPr/>
        </p:nvSpPr>
        <p:spPr>
          <a:xfrm>
            <a:off x="2926080" y="3136391"/>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Different routes to prove the same outcome.</a:t>
            </a:r>
          </a:p>
        </p:txBody>
      </p:sp>
      <p:sp>
        <p:nvSpPr>
          <p:cNvPr id="25" name="TextBox 24"/>
          <p:cNvSpPr txBox="1"/>
          <p:nvPr/>
        </p:nvSpPr>
        <p:spPr>
          <a:xfrm>
            <a:off x="7086600" y="3136391"/>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Some draw the diagram, some write the essay — same outcome.</a:t>
            </a:r>
          </a:p>
        </p:txBody>
      </p:sp>
      <p:sp>
        <p:nvSpPr>
          <p:cNvPr id="26" name="Rectangle 25"/>
          <p:cNvSpPr/>
          <p:nvPr/>
        </p:nvSpPr>
        <p:spPr>
          <a:xfrm>
            <a:off x="566928" y="3493008"/>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557015"/>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Performance / authentic</a:t>
            </a:r>
          </a:p>
        </p:txBody>
      </p:sp>
      <p:sp>
        <p:nvSpPr>
          <p:cNvPr id="28" name="TextBox 27"/>
          <p:cNvSpPr txBox="1"/>
          <p:nvPr/>
        </p:nvSpPr>
        <p:spPr>
          <a:xfrm>
            <a:off x="2926080" y="3557015"/>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Learners actually DO it, in a real-life way.</a:t>
            </a:r>
          </a:p>
        </p:txBody>
      </p:sp>
      <p:sp>
        <p:nvSpPr>
          <p:cNvPr id="29" name="TextBox 28"/>
          <p:cNvSpPr txBox="1"/>
          <p:nvPr/>
        </p:nvSpPr>
        <p:spPr>
          <a:xfrm>
            <a:off x="7086600" y="3557015"/>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Not describing a titration — standing at the bench doing it.</a:t>
            </a:r>
          </a:p>
        </p:txBody>
      </p:sp>
      <p:sp>
        <p:nvSpPr>
          <p:cNvPr id="30" name="Rectangle 29"/>
          <p:cNvSpPr/>
          <p:nvPr/>
        </p:nvSpPr>
        <p:spPr>
          <a:xfrm>
            <a:off x="566928" y="3913632"/>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977640"/>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Portfolio</a:t>
            </a:r>
          </a:p>
        </p:txBody>
      </p:sp>
      <p:sp>
        <p:nvSpPr>
          <p:cNvPr id="32" name="TextBox 31"/>
          <p:cNvSpPr txBox="1"/>
          <p:nvPr/>
        </p:nvSpPr>
        <p:spPr>
          <a:xfrm>
            <a:off x="2926080" y="3977640"/>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curated collection showing progress over time.</a:t>
            </a:r>
          </a:p>
        </p:txBody>
      </p:sp>
      <p:sp>
        <p:nvSpPr>
          <p:cNvPr id="33" name="TextBox 32"/>
          <p:cNvSpPr txBox="1"/>
          <p:nvPr/>
        </p:nvSpPr>
        <p:spPr>
          <a:xfrm>
            <a:off x="7086600" y="3977640"/>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Not a folder of everything — chosen pieces, with reflection.</a:t>
            </a:r>
          </a:p>
        </p:txBody>
      </p:sp>
      <p:sp>
        <p:nvSpPr>
          <p:cNvPr id="34" name="Rectangle 33"/>
          <p:cNvSpPr/>
          <p:nvPr/>
        </p:nvSpPr>
        <p:spPr>
          <a:xfrm>
            <a:off x="566928" y="4334256"/>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398264"/>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Learning analytics</a:t>
            </a:r>
          </a:p>
        </p:txBody>
      </p:sp>
      <p:sp>
        <p:nvSpPr>
          <p:cNvPr id="36" name="TextBox 35"/>
          <p:cNvSpPr txBox="1"/>
          <p:nvPr/>
        </p:nvSpPr>
        <p:spPr>
          <a:xfrm>
            <a:off x="2926080" y="4398264"/>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Spotting patterns in results to act early.</a:t>
            </a:r>
          </a:p>
        </p:txBody>
      </p:sp>
      <p:sp>
        <p:nvSpPr>
          <p:cNvPr id="37" name="TextBox 36"/>
          <p:cNvSpPr txBox="1"/>
          <p:nvPr/>
        </p:nvSpPr>
        <p:spPr>
          <a:xfrm>
            <a:off x="7086600" y="4398264"/>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18 out of 45 failed the same question — that is a whole-class gap.</a:t>
            </a:r>
          </a:p>
        </p:txBody>
      </p:sp>
      <p:sp>
        <p:nvSpPr>
          <p:cNvPr id="38" name="Rectangle 37"/>
          <p:cNvSpPr/>
          <p:nvPr/>
        </p:nvSpPr>
        <p:spPr>
          <a:xfrm>
            <a:off x="566928" y="4754880"/>
            <a:ext cx="11057839" cy="42062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818888"/>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Metacognition</a:t>
            </a:r>
          </a:p>
        </p:txBody>
      </p:sp>
      <p:sp>
        <p:nvSpPr>
          <p:cNvPr id="40" name="TextBox 39"/>
          <p:cNvSpPr txBox="1"/>
          <p:nvPr/>
        </p:nvSpPr>
        <p:spPr>
          <a:xfrm>
            <a:off x="2926080" y="4818888"/>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Thinking about your own thinking.</a:t>
            </a:r>
          </a:p>
        </p:txBody>
      </p:sp>
      <p:sp>
        <p:nvSpPr>
          <p:cNvPr id="41" name="TextBox 40"/>
          <p:cNvSpPr txBox="1"/>
          <p:nvPr/>
        </p:nvSpPr>
        <p:spPr>
          <a:xfrm>
            <a:off x="7086600" y="4818888"/>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understand the theory but I keep making arithmetic slips.”</a:t>
            </a:r>
          </a:p>
        </p:txBody>
      </p:sp>
      <p:sp>
        <p:nvSpPr>
          <p:cNvPr id="42" name="Rectangle 41"/>
          <p:cNvSpPr/>
          <p:nvPr/>
        </p:nvSpPr>
        <p:spPr>
          <a:xfrm>
            <a:off x="566928" y="5175504"/>
            <a:ext cx="11057839" cy="4206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239512"/>
            <a:ext cx="2002536" cy="32918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e-Assessment</a:t>
            </a:r>
          </a:p>
        </p:txBody>
      </p:sp>
      <p:sp>
        <p:nvSpPr>
          <p:cNvPr id="44" name="TextBox 43"/>
          <p:cNvSpPr txBox="1"/>
          <p:nvPr/>
        </p:nvSpPr>
        <p:spPr>
          <a:xfrm>
            <a:off x="2926080" y="5239512"/>
            <a:ext cx="3922776"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Using digital tools to assess.</a:t>
            </a:r>
          </a:p>
        </p:txBody>
      </p:sp>
      <p:sp>
        <p:nvSpPr>
          <p:cNvPr id="45" name="TextBox 44"/>
          <p:cNvSpPr txBox="1"/>
          <p:nvPr/>
        </p:nvSpPr>
        <p:spPr>
          <a:xfrm>
            <a:off x="7086600" y="5239512"/>
            <a:ext cx="4416552" cy="32918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class WhatsApp voice-note submission; a Google Form quiz.</a:t>
            </a:r>
          </a:p>
        </p:txBody>
      </p:sp>
      <p:sp>
        <p:nvSpPr>
          <p:cNvPr id="46" name="TextBox 4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feedback_loop.jpg"/>
          <p:cNvPicPr>
            <a:picLocks noChangeAspect="1"/>
          </p:cNvPicPr>
          <p:nvPr/>
        </p:nvPicPr>
        <p:blipFill>
          <a:blip r:embed="rId2"/>
          <a:srcRect l="5557" r="5557"/>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6</a:t>
            </a:r>
          </a:p>
          <a:p>
            <a:pPr algn="l">
              <a:lnSpc>
                <a:spcPct val="103000"/>
              </a:lnSpc>
              <a:spcBef>
                <a:spcPts val="0"/>
              </a:spcBef>
              <a:spcAft>
                <a:spcPts val="1200"/>
              </a:spcAft>
            </a:pPr>
            <a:r>
              <a:rPr sz="3400" b="1" i="0">
                <a:solidFill>
                  <a:srgbClr val="FFFFFF"/>
                </a:solidFill>
                <a:latin typeface="Trebuchet MS"/>
              </a:rPr>
              <a:t>Feedback —
Where Learning Happens</a:t>
            </a:r>
          </a:p>
          <a:p>
            <a:pPr algn="l">
              <a:lnSpc>
                <a:spcPct val="115000"/>
              </a:lnSpc>
              <a:spcBef>
                <a:spcPts val="0"/>
              </a:spcBef>
              <a:spcAft>
                <a:spcPts val="0"/>
              </a:spcAft>
            </a:pPr>
            <a:r>
              <a:rPr sz="1300" b="0" i="0">
                <a:solidFill>
                  <a:srgbClr val="C6DBD3"/>
                </a:solidFill>
                <a:latin typeface="Calibri"/>
              </a:rPr>
              <a:t>The most powerful assessment tool you already 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Feedback — The Good Mechanic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“good work, 7/10” is not feedback</a:t>
            </a:r>
          </a:p>
        </p:txBody>
      </p:sp>
      <p:sp>
        <p:nvSpPr>
          <p:cNvPr id="6" name="Rounded Rectangle 5"/>
          <p:cNvSpPr/>
          <p:nvPr/>
        </p:nvSpPr>
        <p:spPr>
          <a:xfrm>
            <a:off x="6732727" y="1417320"/>
            <a:ext cx="4892040" cy="4279392"/>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952183" y="1563624"/>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52183" y="1563624"/>
            <a:ext cx="64008" cy="800099"/>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135063" y="1799081"/>
            <a:ext cx="329184" cy="329184"/>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1</a:t>
            </a:r>
          </a:p>
        </p:txBody>
      </p:sp>
      <p:sp>
        <p:nvSpPr>
          <p:cNvPr id="10" name="TextBox 9"/>
          <p:cNvSpPr txBox="1"/>
          <p:nvPr/>
        </p:nvSpPr>
        <p:spPr>
          <a:xfrm>
            <a:off x="7592263" y="1655064"/>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C1440E"/>
                </a:solidFill>
                <a:latin typeface="Trebuchet MS"/>
              </a:rPr>
              <a:t>Assessment happens</a:t>
            </a:r>
          </a:p>
          <a:p>
            <a:pPr algn="l">
              <a:lnSpc>
                <a:spcPct val="108000"/>
              </a:lnSpc>
              <a:spcBef>
                <a:spcPts val="0"/>
              </a:spcBef>
              <a:spcAft>
                <a:spcPts val="0"/>
              </a:spcAft>
            </a:pPr>
            <a:r>
              <a:rPr sz="1100" b="0" i="0">
                <a:solidFill>
                  <a:srgbClr val="14262E"/>
                </a:solidFill>
                <a:latin typeface="Calibri"/>
              </a:rPr>
              <a:t>You gather evidence — a test, an exercise, a question in class.</a:t>
            </a:r>
          </a:p>
        </p:txBody>
      </p:sp>
      <p:sp>
        <p:nvSpPr>
          <p:cNvPr id="11" name="Down Arrow 10"/>
          <p:cNvSpPr/>
          <p:nvPr/>
        </p:nvSpPr>
        <p:spPr>
          <a:xfrm>
            <a:off x="9073591" y="2382012"/>
            <a:ext cx="210312" cy="201168"/>
          </a:xfrm>
          <a:prstGeom prst="downArrow">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52183" y="2601468"/>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52183" y="2601468"/>
            <a:ext cx="64008" cy="800099"/>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5063" y="2836925"/>
            <a:ext cx="329184" cy="329184"/>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2</a:t>
            </a:r>
          </a:p>
        </p:txBody>
      </p:sp>
      <p:sp>
        <p:nvSpPr>
          <p:cNvPr id="15" name="TextBox 14"/>
          <p:cNvSpPr txBox="1"/>
          <p:nvPr/>
        </p:nvSpPr>
        <p:spPr>
          <a:xfrm>
            <a:off x="7592263" y="2692908"/>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C1440E"/>
                </a:solidFill>
                <a:latin typeface="Trebuchet MS"/>
              </a:rPr>
              <a:t>You give SPECIFIC feedback</a:t>
            </a:r>
          </a:p>
          <a:p>
            <a:pPr algn="l">
              <a:lnSpc>
                <a:spcPct val="108000"/>
              </a:lnSpc>
              <a:spcBef>
                <a:spcPts val="0"/>
              </a:spcBef>
              <a:spcAft>
                <a:spcPts val="0"/>
              </a:spcAft>
            </a:pPr>
            <a:r>
              <a:rPr sz="1100" b="0" i="0">
                <a:solidFill>
                  <a:srgbClr val="14262E"/>
                </a:solidFill>
                <a:latin typeface="Calibri"/>
              </a:rPr>
              <a:t>Not “good work”. Point at the exact part: “this step is wrong, because…”</a:t>
            </a:r>
          </a:p>
        </p:txBody>
      </p:sp>
      <p:sp>
        <p:nvSpPr>
          <p:cNvPr id="16" name="Down Arrow 15"/>
          <p:cNvSpPr/>
          <p:nvPr/>
        </p:nvSpPr>
        <p:spPr>
          <a:xfrm>
            <a:off x="9073591" y="3419856"/>
            <a:ext cx="210312" cy="201168"/>
          </a:xfrm>
          <a:prstGeom prst="downArrow">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52183" y="3639311"/>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52183" y="3639311"/>
            <a:ext cx="64008" cy="800099"/>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5063" y="3874770"/>
            <a:ext cx="329184" cy="329184"/>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3</a:t>
            </a:r>
          </a:p>
        </p:txBody>
      </p:sp>
      <p:sp>
        <p:nvSpPr>
          <p:cNvPr id="20" name="TextBox 19"/>
          <p:cNvSpPr txBox="1"/>
          <p:nvPr/>
        </p:nvSpPr>
        <p:spPr>
          <a:xfrm>
            <a:off x="7592263" y="3730751"/>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C1440E"/>
                </a:solidFill>
                <a:latin typeface="Trebuchet MS"/>
              </a:rPr>
              <a:t>The learner acts on it</a:t>
            </a:r>
          </a:p>
          <a:p>
            <a:pPr algn="l">
              <a:lnSpc>
                <a:spcPct val="108000"/>
              </a:lnSpc>
              <a:spcBef>
                <a:spcPts val="0"/>
              </a:spcBef>
              <a:spcAft>
                <a:spcPts val="0"/>
              </a:spcAft>
            </a:pPr>
            <a:r>
              <a:rPr sz="1100" b="0" i="0">
                <a:solidFill>
                  <a:srgbClr val="14262E"/>
                </a:solidFill>
                <a:latin typeface="Calibri"/>
              </a:rPr>
              <a:t>This needs TIME in the next lesson. No time, no feedback.</a:t>
            </a:r>
          </a:p>
        </p:txBody>
      </p:sp>
      <p:sp>
        <p:nvSpPr>
          <p:cNvPr id="21" name="Down Arrow 20"/>
          <p:cNvSpPr/>
          <p:nvPr/>
        </p:nvSpPr>
        <p:spPr>
          <a:xfrm>
            <a:off x="9073591" y="4457699"/>
            <a:ext cx="210312" cy="201168"/>
          </a:xfrm>
          <a:prstGeom prst="downArrow">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52183" y="4677155"/>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52183" y="4677155"/>
            <a:ext cx="64008" cy="800099"/>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5063" y="4912614"/>
            <a:ext cx="329184" cy="329184"/>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4</a:t>
            </a:r>
          </a:p>
        </p:txBody>
      </p:sp>
      <p:sp>
        <p:nvSpPr>
          <p:cNvPr id="25" name="TextBox 24"/>
          <p:cNvSpPr txBox="1"/>
          <p:nvPr/>
        </p:nvSpPr>
        <p:spPr>
          <a:xfrm>
            <a:off x="7592263" y="4768595"/>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C1440E"/>
                </a:solidFill>
                <a:latin typeface="Trebuchet MS"/>
              </a:rPr>
              <a:t>Learning improves</a:t>
            </a:r>
          </a:p>
          <a:p>
            <a:pPr algn="l">
              <a:lnSpc>
                <a:spcPct val="108000"/>
              </a:lnSpc>
              <a:spcBef>
                <a:spcPts val="0"/>
              </a:spcBef>
              <a:spcAft>
                <a:spcPts val="0"/>
              </a:spcAft>
            </a:pPr>
            <a:r>
              <a:rPr sz="1100" b="0" i="0">
                <a:solidFill>
                  <a:srgbClr val="14262E"/>
                </a:solidFill>
                <a:latin typeface="Calibri"/>
              </a:rPr>
              <a:t>The gap closes — and you can see that it closed.</a:t>
            </a:r>
          </a:p>
        </p:txBody>
      </p:sp>
      <p:sp>
        <p:nvSpPr>
          <p:cNvPr id="26" name="TextBox 25"/>
          <p:cNvSpPr txBox="1"/>
          <p:nvPr/>
        </p:nvSpPr>
        <p:spPr>
          <a:xfrm>
            <a:off x="6732727" y="5742431"/>
            <a:ext cx="4892040" cy="338328"/>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Feedback only works if the learner has time to act on it.</a:t>
            </a:r>
          </a:p>
        </p:txBody>
      </p:sp>
      <p:sp>
        <p:nvSpPr>
          <p:cNvPr id="27" name="Rounded Rectangle 26"/>
          <p:cNvSpPr/>
          <p:nvPr/>
        </p:nvSpPr>
        <p:spPr>
          <a:xfrm>
            <a:off x="566928" y="1426464"/>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1426464"/>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1563624"/>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useless mechanic</a:t>
            </a:r>
          </a:p>
          <a:p>
            <a:pPr algn="l">
              <a:lnSpc>
                <a:spcPct val="110000"/>
              </a:lnSpc>
              <a:spcBef>
                <a:spcPts val="0"/>
              </a:spcBef>
              <a:spcAft>
                <a:spcPts val="0"/>
              </a:spcAft>
            </a:pPr>
            <a:r>
              <a:rPr sz="1050" b="0" i="0">
                <a:solidFill>
                  <a:srgbClr val="14262E"/>
                </a:solidFill>
                <a:latin typeface="Calibri"/>
              </a:rPr>
              <a:t>Says “the car is bad” and takes your money. You leave knowing nothing, and the car is no better.</a:t>
            </a:r>
          </a:p>
        </p:txBody>
      </p:sp>
      <p:sp>
        <p:nvSpPr>
          <p:cNvPr id="30" name="Rounded Rectangle 29"/>
          <p:cNvSpPr/>
          <p:nvPr/>
        </p:nvSpPr>
        <p:spPr>
          <a:xfrm>
            <a:off x="566928" y="2434132"/>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2434132"/>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2571292"/>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good mechanic</a:t>
            </a:r>
          </a:p>
          <a:p>
            <a:pPr algn="l">
              <a:lnSpc>
                <a:spcPct val="110000"/>
              </a:lnSpc>
              <a:spcBef>
                <a:spcPts val="0"/>
              </a:spcBef>
              <a:spcAft>
                <a:spcPts val="0"/>
              </a:spcAft>
            </a:pPr>
            <a:r>
              <a:rPr sz="1050" b="0" i="0">
                <a:solidFill>
                  <a:srgbClr val="14262E"/>
                </a:solidFill>
                <a:latin typeface="Calibri"/>
              </a:rPr>
              <a:t>Opens the bonnet, points at ONE exact part and says: “This hose is cracked. Replace it and the overheating stops.” You now know what to do next.</a:t>
            </a:r>
          </a:p>
        </p:txBody>
      </p:sp>
      <p:sp>
        <p:nvSpPr>
          <p:cNvPr id="33" name="Rounded Rectangle 32"/>
          <p:cNvSpPr/>
          <p:nvPr/>
        </p:nvSpPr>
        <p:spPr>
          <a:xfrm>
            <a:off x="566928" y="3441801"/>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3441801"/>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578961"/>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Plain English</a:t>
            </a:r>
          </a:p>
          <a:p>
            <a:pPr algn="l">
              <a:lnSpc>
                <a:spcPct val="110000"/>
              </a:lnSpc>
              <a:spcBef>
                <a:spcPts val="0"/>
              </a:spcBef>
              <a:spcAft>
                <a:spcPts val="0"/>
              </a:spcAft>
            </a:pPr>
            <a:r>
              <a:rPr sz="1050" b="0" i="0">
                <a:solidFill>
                  <a:srgbClr val="14262E"/>
                </a:solidFill>
                <a:latin typeface="Calibri"/>
              </a:rPr>
              <a:t>Feedback is information that helps a learner close the gap between where they are and where they need to be.</a:t>
            </a:r>
          </a:p>
        </p:txBody>
      </p:sp>
      <p:sp>
        <p:nvSpPr>
          <p:cNvPr id="36" name="Rounded Rectangle 35"/>
          <p:cNvSpPr/>
          <p:nvPr/>
        </p:nvSpPr>
        <p:spPr>
          <a:xfrm>
            <a:off x="566928" y="4449470"/>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449470"/>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586630"/>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What it is NOT</a:t>
            </a:r>
          </a:p>
          <a:p>
            <a:pPr algn="l">
              <a:lnSpc>
                <a:spcPct val="110000"/>
              </a:lnSpc>
              <a:spcBef>
                <a:spcPts val="0"/>
              </a:spcBef>
              <a:spcAft>
                <a:spcPts val="0"/>
              </a:spcAft>
            </a:pPr>
            <a:r>
              <a:rPr sz="1050" b="0" i="0">
                <a:solidFill>
                  <a:srgbClr val="14262E"/>
                </a:solidFill>
                <a:latin typeface="Calibri"/>
              </a:rPr>
              <a:t>It is not a score. It is not praise. “Good work, 7/10” tells a learner nothing about what to do differently. A mark is a verdict; feedback is a map.</a:t>
            </a:r>
          </a:p>
        </p:txBody>
      </p:sp>
      <p:sp>
        <p:nvSpPr>
          <p:cNvPr id="39" name="Rounded Rectangle 38"/>
          <p:cNvSpPr/>
          <p:nvPr/>
        </p:nvSpPr>
        <p:spPr>
          <a:xfrm>
            <a:off x="566928" y="5457139"/>
            <a:ext cx="578175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5457139"/>
            <a:ext cx="45720" cy="89794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 y="5594299"/>
            <a:ext cx="5379415" cy="623620"/>
          </a:xfrm>
          <a:prstGeom prst="rect">
            <a:avLst/>
          </a:prstGeom>
          <a:noFill/>
        </p:spPr>
        <p:txBody>
          <a:bodyPr wrap="square" lIns="0" rIns="0" tIns="0" bIns="0">
            <a:spAutoFit/>
          </a:bodyPr>
          <a:lstStyle/>
          <a:p>
            <a:pPr algn="l">
              <a:lnSpc>
                <a:spcPct val="100000"/>
              </a:lnSpc>
              <a:spcBef>
                <a:spcPts val="0"/>
              </a:spcBef>
              <a:spcAft>
                <a:spcPts val="300"/>
              </a:spcAft>
            </a:pPr>
            <a:r>
              <a:rPr sz="1150" b="1" i="0">
                <a:solidFill>
                  <a:srgbClr val="C1440E"/>
                </a:solidFill>
                <a:latin typeface="Trebuchet MS"/>
              </a:rPr>
              <a:t>The rule teachers break</a:t>
            </a:r>
          </a:p>
          <a:p>
            <a:pPr algn="l">
              <a:lnSpc>
                <a:spcPct val="110000"/>
              </a:lnSpc>
              <a:spcBef>
                <a:spcPts val="0"/>
              </a:spcBef>
              <a:spcAft>
                <a:spcPts val="0"/>
              </a:spcAft>
            </a:pPr>
            <a:r>
              <a:rPr sz="1050" b="0" i="0">
                <a:solidFill>
                  <a:srgbClr val="14262E"/>
                </a:solidFill>
                <a:latin typeface="Calibri"/>
              </a:rPr>
              <a:t>Feedback without TIME TO ACT ON IT is decoration. If you hand back corrections and immediately move to the next topic, the feedback dies in the exercise book.</a:t>
            </a:r>
          </a:p>
        </p:txBody>
      </p:sp>
      <p:sp>
        <p:nvSpPr>
          <p:cNvPr id="42" name="TextBox 4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Three-Minute Tools You Can Use on Monday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 budget. No printing. No extra marking load.</a:t>
            </a:r>
          </a:p>
        </p:txBody>
      </p:sp>
      <p:sp>
        <p:nvSpPr>
          <p:cNvPr id="6" name="Rounded Rectangle 5"/>
          <p:cNvSpPr/>
          <p:nvPr/>
        </p:nvSpPr>
        <p:spPr>
          <a:xfrm>
            <a:off x="566928" y="1417320"/>
            <a:ext cx="4892040" cy="4279392"/>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6384" y="1563624"/>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86384" y="1563624"/>
            <a:ext cx="64008" cy="800099"/>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9264" y="1799081"/>
            <a:ext cx="329184" cy="329184"/>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1</a:t>
            </a:r>
          </a:p>
        </p:txBody>
      </p:sp>
      <p:sp>
        <p:nvSpPr>
          <p:cNvPr id="10" name="TextBox 9"/>
          <p:cNvSpPr txBox="1"/>
          <p:nvPr/>
        </p:nvSpPr>
        <p:spPr>
          <a:xfrm>
            <a:off x="1426464" y="1655064"/>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F4B400"/>
                </a:solidFill>
                <a:latin typeface="Trebuchet MS"/>
              </a:rPr>
              <a:t>Pick ONE tool</a:t>
            </a:r>
          </a:p>
          <a:p>
            <a:pPr algn="l">
              <a:lnSpc>
                <a:spcPct val="108000"/>
              </a:lnSpc>
              <a:spcBef>
                <a:spcPts val="0"/>
              </a:spcBef>
              <a:spcAft>
                <a:spcPts val="0"/>
              </a:spcAft>
            </a:pPr>
            <a:r>
              <a:rPr sz="1100" b="0" i="0">
                <a:solidFill>
                  <a:srgbClr val="14262E"/>
                </a:solidFill>
                <a:latin typeface="Calibri"/>
              </a:rPr>
              <a:t>Just one. Not all five. Choose the one that suits your subject.</a:t>
            </a:r>
          </a:p>
        </p:txBody>
      </p:sp>
      <p:sp>
        <p:nvSpPr>
          <p:cNvPr id="11" name="Down Arrow 10"/>
          <p:cNvSpPr/>
          <p:nvPr/>
        </p:nvSpPr>
        <p:spPr>
          <a:xfrm>
            <a:off x="2907791" y="2382012"/>
            <a:ext cx="210312" cy="201168"/>
          </a:xfrm>
          <a:prstGeom prst="downArrow">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 y="2601468"/>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 y="2601468"/>
            <a:ext cx="64008" cy="800099"/>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264" y="2836925"/>
            <a:ext cx="329184" cy="329184"/>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2</a:t>
            </a:r>
          </a:p>
        </p:txBody>
      </p:sp>
      <p:sp>
        <p:nvSpPr>
          <p:cNvPr id="15" name="TextBox 14"/>
          <p:cNvSpPr txBox="1"/>
          <p:nvPr/>
        </p:nvSpPr>
        <p:spPr>
          <a:xfrm>
            <a:off x="1426464" y="2692908"/>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F4B400"/>
                </a:solidFill>
                <a:latin typeface="Trebuchet MS"/>
              </a:rPr>
              <a:t>Give it 3 minutes</a:t>
            </a:r>
          </a:p>
          <a:p>
            <a:pPr algn="l">
              <a:lnSpc>
                <a:spcPct val="108000"/>
              </a:lnSpc>
              <a:spcBef>
                <a:spcPts val="0"/>
              </a:spcBef>
              <a:spcAft>
                <a:spcPts val="0"/>
              </a:spcAft>
            </a:pPr>
            <a:r>
              <a:rPr sz="1100" b="0" i="0">
                <a:solidFill>
                  <a:srgbClr val="14262E"/>
                </a:solidFill>
                <a:latin typeface="Calibri"/>
              </a:rPr>
              <a:t>Exit card at the door, entry ticket at the start, or a quick Think-Pair-Share.</a:t>
            </a:r>
          </a:p>
        </p:txBody>
      </p:sp>
      <p:sp>
        <p:nvSpPr>
          <p:cNvPr id="16" name="Down Arrow 15"/>
          <p:cNvSpPr/>
          <p:nvPr/>
        </p:nvSpPr>
        <p:spPr>
          <a:xfrm>
            <a:off x="2907791" y="3419856"/>
            <a:ext cx="210312" cy="201168"/>
          </a:xfrm>
          <a:prstGeom prst="downArrow">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86384" y="3639311"/>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3639311"/>
            <a:ext cx="64008" cy="800099"/>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9264" y="3874770"/>
            <a:ext cx="329184" cy="329184"/>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3</a:t>
            </a:r>
          </a:p>
        </p:txBody>
      </p:sp>
      <p:sp>
        <p:nvSpPr>
          <p:cNvPr id="20" name="TextBox 19"/>
          <p:cNvSpPr txBox="1"/>
          <p:nvPr/>
        </p:nvSpPr>
        <p:spPr>
          <a:xfrm>
            <a:off x="1426464" y="3730751"/>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F4B400"/>
                </a:solidFill>
                <a:latin typeface="Trebuchet MS"/>
              </a:rPr>
              <a:t>Read what you collect</a:t>
            </a:r>
          </a:p>
          <a:p>
            <a:pPr algn="l">
              <a:lnSpc>
                <a:spcPct val="108000"/>
              </a:lnSpc>
              <a:spcBef>
                <a:spcPts val="0"/>
              </a:spcBef>
              <a:spcAft>
                <a:spcPts val="0"/>
              </a:spcAft>
            </a:pPr>
            <a:r>
              <a:rPr sz="1100" b="0" i="0">
                <a:solidFill>
                  <a:srgbClr val="14262E"/>
                </a:solidFill>
                <a:latin typeface="Calibri"/>
              </a:rPr>
              <a:t>Ten slips tell you where the whole class is stuck.</a:t>
            </a:r>
          </a:p>
        </p:txBody>
      </p:sp>
      <p:sp>
        <p:nvSpPr>
          <p:cNvPr id="21" name="Down Arrow 20"/>
          <p:cNvSpPr/>
          <p:nvPr/>
        </p:nvSpPr>
        <p:spPr>
          <a:xfrm>
            <a:off x="2907791" y="4457699"/>
            <a:ext cx="210312" cy="201168"/>
          </a:xfrm>
          <a:prstGeom prst="downArrow">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86384" y="4677155"/>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6384" y="4677155"/>
            <a:ext cx="64008" cy="800099"/>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69264" y="4912614"/>
            <a:ext cx="329184" cy="329184"/>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4</a:t>
            </a:r>
          </a:p>
        </p:txBody>
      </p:sp>
      <p:sp>
        <p:nvSpPr>
          <p:cNvPr id="25" name="TextBox 24"/>
          <p:cNvSpPr txBox="1"/>
          <p:nvPr/>
        </p:nvSpPr>
        <p:spPr>
          <a:xfrm>
            <a:off x="1426464" y="4768595"/>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F4B400"/>
                </a:solidFill>
                <a:latin typeface="Trebuchet MS"/>
              </a:rPr>
              <a:t>Start tomorrow from there</a:t>
            </a:r>
          </a:p>
          <a:p>
            <a:pPr algn="l">
              <a:lnSpc>
                <a:spcPct val="108000"/>
              </a:lnSpc>
              <a:spcBef>
                <a:spcPts val="0"/>
              </a:spcBef>
              <a:spcAft>
                <a:spcPts val="0"/>
              </a:spcAft>
            </a:pPr>
            <a:r>
              <a:rPr sz="1100" b="0" i="0">
                <a:solidFill>
                  <a:srgbClr val="14262E"/>
                </a:solidFill>
                <a:latin typeface="Calibri"/>
              </a:rPr>
              <a:t>That is the whole loop — assessment feeding teaching.</a:t>
            </a:r>
          </a:p>
        </p:txBody>
      </p:sp>
      <p:sp>
        <p:nvSpPr>
          <p:cNvPr id="26" name="TextBox 25"/>
          <p:cNvSpPr txBox="1"/>
          <p:nvPr/>
        </p:nvSpPr>
        <p:spPr>
          <a:xfrm>
            <a:off x="566928" y="5742431"/>
            <a:ext cx="4892040" cy="338328"/>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Three minutes. No budget. No extra marking load.</a:t>
            </a:r>
          </a:p>
        </p:txBody>
      </p:sp>
      <p:sp>
        <p:nvSpPr>
          <p:cNvPr id="27" name="Rounded Rectangle 26"/>
          <p:cNvSpPr/>
          <p:nvPr/>
        </p:nvSpPr>
        <p:spPr>
          <a:xfrm>
            <a:off x="5843016" y="142646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3016" y="1426464"/>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44183" y="156362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Exit card</a:t>
            </a:r>
          </a:p>
          <a:p>
            <a:pPr algn="l">
              <a:lnSpc>
                <a:spcPct val="110000"/>
              </a:lnSpc>
              <a:spcBef>
                <a:spcPts val="0"/>
              </a:spcBef>
              <a:spcAft>
                <a:spcPts val="0"/>
              </a:spcAft>
            </a:pPr>
            <a:r>
              <a:rPr sz="1000" b="0" i="0">
                <a:solidFill>
                  <a:srgbClr val="14262E"/>
                </a:solidFill>
                <a:latin typeface="Calibri"/>
              </a:rPr>
              <a:t>Last three minutes of the lesson: on a slip, “write one thing you learned today and one thing you are still confused about.” Collect at the door. You now know exactly where to start next lesson.</a:t>
            </a:r>
          </a:p>
        </p:txBody>
      </p:sp>
      <p:sp>
        <p:nvSpPr>
          <p:cNvPr id="30" name="Rounded Rectangle 29"/>
          <p:cNvSpPr/>
          <p:nvPr/>
        </p:nvSpPr>
        <p:spPr>
          <a:xfrm>
            <a:off x="5843016" y="2533040"/>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43016" y="2533040"/>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44183" y="2670200"/>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Entry ticket</a:t>
            </a:r>
          </a:p>
          <a:p>
            <a:pPr algn="l">
              <a:lnSpc>
                <a:spcPct val="110000"/>
              </a:lnSpc>
              <a:spcBef>
                <a:spcPts val="0"/>
              </a:spcBef>
              <a:spcAft>
                <a:spcPts val="0"/>
              </a:spcAft>
            </a:pPr>
            <a:r>
              <a:rPr sz="1000" b="0" i="0">
                <a:solidFill>
                  <a:srgbClr val="14262E"/>
                </a:solidFill>
                <a:latin typeface="Calibri"/>
              </a:rPr>
              <a:t>First three minutes: one question that shows what they already bring. Free diagnostic assessment, every single day.</a:t>
            </a:r>
          </a:p>
        </p:txBody>
      </p:sp>
      <p:sp>
        <p:nvSpPr>
          <p:cNvPr id="33" name="Rounded Rectangle 32"/>
          <p:cNvSpPr/>
          <p:nvPr/>
        </p:nvSpPr>
        <p:spPr>
          <a:xfrm>
            <a:off x="5843016" y="3474770"/>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43016" y="3474770"/>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44183" y="3611930"/>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Think-Pair-Share</a:t>
            </a:r>
          </a:p>
          <a:p>
            <a:pPr algn="l">
              <a:lnSpc>
                <a:spcPct val="110000"/>
              </a:lnSpc>
              <a:spcBef>
                <a:spcPts val="0"/>
              </a:spcBef>
              <a:spcAft>
                <a:spcPts val="0"/>
              </a:spcAft>
            </a:pPr>
            <a:r>
              <a:rPr sz="1000" b="0" i="0">
                <a:solidFill>
                  <a:srgbClr val="14262E"/>
                </a:solidFill>
                <a:latin typeface="Calibri"/>
              </a:rPr>
              <a:t>Think alone, then discuss with a partner, then share with the class. Three minutes of real thinking time means the quiet learners in the back have something to say when you ask.</a:t>
            </a:r>
          </a:p>
        </p:txBody>
      </p:sp>
      <p:sp>
        <p:nvSpPr>
          <p:cNvPr id="36" name="Rounded Rectangle 35"/>
          <p:cNvSpPr/>
          <p:nvPr/>
        </p:nvSpPr>
        <p:spPr>
          <a:xfrm>
            <a:off x="5843016" y="458134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43016" y="458134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44183" y="471850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K-W-L chart</a:t>
            </a:r>
          </a:p>
          <a:p>
            <a:pPr algn="l">
              <a:lnSpc>
                <a:spcPct val="110000"/>
              </a:lnSpc>
              <a:spcBef>
                <a:spcPts val="0"/>
              </a:spcBef>
              <a:spcAft>
                <a:spcPts val="0"/>
              </a:spcAft>
            </a:pPr>
            <a:r>
              <a:rPr sz="1000" b="0" i="0">
                <a:solidFill>
                  <a:srgbClr val="14262E"/>
                </a:solidFill>
                <a:latin typeface="Calibri"/>
              </a:rPr>
              <a:t>Three columns: what I Know, what I Want to know, what I Learned. Makes thinking visible and makes the learner reflective.</a:t>
            </a:r>
          </a:p>
        </p:txBody>
      </p:sp>
      <p:sp>
        <p:nvSpPr>
          <p:cNvPr id="39" name="Rounded Rectangle 38"/>
          <p:cNvSpPr/>
          <p:nvPr/>
        </p:nvSpPr>
        <p:spPr>
          <a:xfrm>
            <a:off x="5843016"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43016" y="552307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44183"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Self- and peer-assessment</a:t>
            </a:r>
          </a:p>
          <a:p>
            <a:pPr algn="l">
              <a:lnSpc>
                <a:spcPct val="110000"/>
              </a:lnSpc>
              <a:spcBef>
                <a:spcPts val="0"/>
              </a:spcBef>
              <a:spcAft>
                <a:spcPts val="0"/>
              </a:spcAft>
            </a:pPr>
            <a:r>
              <a:rPr sz="1000" b="0" i="0">
                <a:solidFill>
                  <a:srgbClr val="14262E"/>
                </a:solidFill>
                <a:latin typeface="Calibri"/>
              </a:rPr>
              <a:t>Learners check their own or each other's work AGAINST THE RUBRIC. Only works if they have the criteria in hand — otherwise it becomes a popularity contest.</a:t>
            </a:r>
          </a:p>
        </p:txBody>
      </p:sp>
      <p:sp>
        <p:nvSpPr>
          <p:cNvPr id="42" name="TextBox 4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plan_journey.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7</a:t>
            </a:r>
          </a:p>
          <a:p>
            <a:pPr algn="l">
              <a:lnSpc>
                <a:spcPct val="103000"/>
              </a:lnSpc>
              <a:spcBef>
                <a:spcPts val="0"/>
              </a:spcBef>
              <a:spcAft>
                <a:spcPts val="1200"/>
              </a:spcAft>
            </a:pPr>
            <a:r>
              <a:rPr sz="3400" b="1" i="0">
                <a:solidFill>
                  <a:srgbClr val="FFFFFF"/>
                </a:solidFill>
                <a:latin typeface="Trebuchet MS"/>
              </a:rPr>
              <a:t>Planning It
Properly</a:t>
            </a:r>
          </a:p>
          <a:p>
            <a:pPr algn="l">
              <a:lnSpc>
                <a:spcPct val="115000"/>
              </a:lnSpc>
              <a:spcBef>
                <a:spcPts val="0"/>
              </a:spcBef>
              <a:spcAft>
                <a:spcPts val="0"/>
              </a:spcAft>
            </a:pPr>
            <a:r>
              <a:rPr sz="1300" b="0" i="0">
                <a:solidFill>
                  <a:srgbClr val="C6DBD3"/>
                </a:solidFill>
                <a:latin typeface="Calibri"/>
              </a:rPr>
              <a:t>Turning all of this into a plan you can actually follow.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Six-Phase Assessment Plan</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manual's model, in plain words</a:t>
            </a:r>
          </a:p>
        </p:txBody>
      </p:sp>
      <p:pic>
        <p:nvPicPr>
          <p:cNvPr id="6" name="Picture 5" descr="09_plan_journey.jpg"/>
          <p:cNvPicPr>
            <a:picLocks noChangeAspect="1"/>
          </p:cNvPicPr>
          <p:nvPr/>
        </p:nvPicPr>
        <p:blipFill>
          <a:blip r:embed="rId2"/>
          <a:srcRect l="15033" r="15033"/>
          <a:stretch>
            <a:fillRect/>
          </a:stretch>
        </p:blipFill>
        <p:spPr>
          <a:xfrm>
            <a:off x="566928" y="1417320"/>
            <a:ext cx="4892040" cy="4663440"/>
          </a:xfrm>
          <a:prstGeom prst="rect">
            <a:avLst/>
          </a:prstGeom>
        </p:spPr>
      </p:pic>
      <p:sp>
        <p:nvSpPr>
          <p:cNvPr id="7" name="Rectangle 6"/>
          <p:cNvSpPr/>
          <p:nvPr/>
        </p:nvSpPr>
        <p:spPr>
          <a:xfrm>
            <a:off x="566928" y="1417320"/>
            <a:ext cx="489204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6144768"/>
            <a:ext cx="489204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plan is a journey with milestones, not a surprise at the end.</a:t>
            </a:r>
          </a:p>
        </p:txBody>
      </p:sp>
      <p:sp>
        <p:nvSpPr>
          <p:cNvPr id="9" name="Rounded Rectangle 8"/>
          <p:cNvSpPr/>
          <p:nvPr/>
        </p:nvSpPr>
        <p:spPr>
          <a:xfrm>
            <a:off x="5843016" y="1426464"/>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43016" y="1426464"/>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44183" y="1563624"/>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1 · Learning outcome</a:t>
            </a:r>
          </a:p>
          <a:p>
            <a:pPr algn="l">
              <a:lnSpc>
                <a:spcPct val="110000"/>
              </a:lnSpc>
              <a:spcBef>
                <a:spcPts val="0"/>
              </a:spcBef>
              <a:spcAft>
                <a:spcPts val="0"/>
              </a:spcAft>
            </a:pPr>
            <a:r>
              <a:rPr sz="900" b="0" i="0">
                <a:solidFill>
                  <a:srgbClr val="14262E"/>
                </a:solidFill>
                <a:latin typeface="Calibri"/>
              </a:rPr>
              <a:t>What should the learner be able to DO? Everything else flows from this one sentence. If you cannot state it, you cannot assess it.</a:t>
            </a:r>
          </a:p>
        </p:txBody>
      </p:sp>
      <p:sp>
        <p:nvSpPr>
          <p:cNvPr id="12" name="Rounded Rectangle 11"/>
          <p:cNvSpPr/>
          <p:nvPr/>
        </p:nvSpPr>
        <p:spPr>
          <a:xfrm>
            <a:off x="5843016" y="2315641"/>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843016" y="2315641"/>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44183" y="2452801"/>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2 · Assessment strategies</a:t>
            </a:r>
          </a:p>
          <a:p>
            <a:pPr algn="l">
              <a:lnSpc>
                <a:spcPct val="110000"/>
              </a:lnSpc>
              <a:spcBef>
                <a:spcPts val="0"/>
              </a:spcBef>
              <a:spcAft>
                <a:spcPts val="0"/>
              </a:spcAft>
            </a:pPr>
            <a:r>
              <a:rPr sz="900" b="0" i="0">
                <a:solidFill>
                  <a:srgbClr val="14262E"/>
                </a:solidFill>
                <a:latin typeface="Calibri"/>
              </a:rPr>
              <a:t>HOW will I find out? Not just a test — observation, project, oral, practical, portfolio. Choose the method that matches the outcome.</a:t>
            </a:r>
          </a:p>
        </p:txBody>
      </p:sp>
      <p:sp>
        <p:nvSpPr>
          <p:cNvPr id="15" name="Rounded Rectangle 14"/>
          <p:cNvSpPr/>
          <p:nvPr/>
        </p:nvSpPr>
        <p:spPr>
          <a:xfrm>
            <a:off x="5843016" y="3204819"/>
            <a:ext cx="5781751" cy="63108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843016" y="3204819"/>
            <a:ext cx="45720" cy="63108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44183" y="3341979"/>
            <a:ext cx="5379415" cy="356768"/>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3 · Tasks or questions</a:t>
            </a:r>
          </a:p>
          <a:p>
            <a:pPr algn="l">
              <a:lnSpc>
                <a:spcPct val="110000"/>
              </a:lnSpc>
              <a:spcBef>
                <a:spcPts val="0"/>
              </a:spcBef>
              <a:spcAft>
                <a:spcPts val="0"/>
              </a:spcAft>
            </a:pPr>
            <a:r>
              <a:rPr sz="900" b="0" i="0">
                <a:solidFill>
                  <a:srgbClr val="14262E"/>
                </a:solidFill>
                <a:latin typeface="Calibri"/>
              </a:rPr>
              <a:t>The actual questions and tasks learners will meet. This is where validity is won or lost.</a:t>
            </a:r>
          </a:p>
        </p:txBody>
      </p:sp>
      <p:sp>
        <p:nvSpPr>
          <p:cNvPr id="18" name="Rounded Rectangle 17"/>
          <p:cNvSpPr/>
          <p:nvPr/>
        </p:nvSpPr>
        <p:spPr>
          <a:xfrm>
            <a:off x="5843016" y="3945636"/>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43016" y="3945636"/>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44183" y="4082796"/>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4 · Grading criteria or rubrics</a:t>
            </a:r>
          </a:p>
          <a:p>
            <a:pPr algn="l">
              <a:lnSpc>
                <a:spcPct val="110000"/>
              </a:lnSpc>
              <a:spcBef>
                <a:spcPts val="0"/>
              </a:spcBef>
              <a:spcAft>
                <a:spcPts val="0"/>
              </a:spcAft>
            </a:pPr>
            <a:r>
              <a:rPr sz="900" b="0" i="0">
                <a:solidFill>
                  <a:srgbClr val="14262E"/>
                </a:solidFill>
                <a:latin typeface="Calibri"/>
              </a:rPr>
              <a:t>What 'good' looks like, at each level, decided BEFORE the learners start — not while you are marking at midnight.</a:t>
            </a:r>
          </a:p>
        </p:txBody>
      </p:sp>
      <p:sp>
        <p:nvSpPr>
          <p:cNvPr id="21" name="Rounded Rectangle 20"/>
          <p:cNvSpPr/>
          <p:nvPr/>
        </p:nvSpPr>
        <p:spPr>
          <a:xfrm>
            <a:off x="5843016" y="4834813"/>
            <a:ext cx="5781751" cy="77944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43016" y="4834813"/>
            <a:ext cx="45720" cy="77944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44183" y="4971973"/>
            <a:ext cx="5379415" cy="505129"/>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5 · Timeline and sequencing</a:t>
            </a:r>
          </a:p>
          <a:p>
            <a:pPr algn="l">
              <a:lnSpc>
                <a:spcPct val="110000"/>
              </a:lnSpc>
              <a:spcBef>
                <a:spcPts val="0"/>
              </a:spcBef>
              <a:spcAft>
                <a:spcPts val="0"/>
              </a:spcAft>
            </a:pPr>
            <a:r>
              <a:rPr sz="900" b="0" i="0">
                <a:solidFill>
                  <a:srgbClr val="14262E"/>
                </a:solidFill>
                <a:latin typeface="Calibri"/>
              </a:rPr>
              <a:t>When will each assessment happen, and how does it fit the term? Spread the load so week eight is not a disaster.</a:t>
            </a:r>
          </a:p>
        </p:txBody>
      </p:sp>
      <p:sp>
        <p:nvSpPr>
          <p:cNvPr id="24" name="Rounded Rectangle 23"/>
          <p:cNvSpPr/>
          <p:nvPr/>
        </p:nvSpPr>
        <p:spPr>
          <a:xfrm>
            <a:off x="5843016" y="5723991"/>
            <a:ext cx="5781751" cy="63108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3016" y="5723991"/>
            <a:ext cx="45720" cy="63108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44183" y="5861151"/>
            <a:ext cx="5379415" cy="356768"/>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Phase 6 · Feedback and reporting</a:t>
            </a:r>
          </a:p>
          <a:p>
            <a:pPr algn="l">
              <a:lnSpc>
                <a:spcPct val="110000"/>
              </a:lnSpc>
              <a:spcBef>
                <a:spcPts val="0"/>
              </a:spcBef>
              <a:spcAft>
                <a:spcPts val="0"/>
              </a:spcAft>
            </a:pPr>
            <a:r>
              <a:rPr sz="900" b="0" i="0">
                <a:solidFill>
                  <a:srgbClr val="14262E"/>
                </a:solidFill>
                <a:latin typeface="Calibri"/>
              </a:rPr>
              <a:t>How and when will learners act on the feedback — and how does it reach parents?</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Your Marks Now Have Weight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school-based assessment is no longer soft data</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Thirty per cent of a learner's final grade comes from work done in your school and marked by you — portfolios, performance and project work, plus end-of-term examinations. Seventy per cent comes from WAEC's final examination.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For years, internal marks were treated as a formality at the back of the mark book. That has changed. The internal 30% now sits on a school-based transcript, with far greater transparency and quality assurance. Practically: if your school's 30% is not credible, transparent and defensible, the learner is the one who suffers when their transcript is scrutinised — and the school is the one that is exposed. Reliable rubrics are no longer good practice. They are protection.</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reliability suddenly matters so much:  </a:t>
            </a:r>
            <a:r>
              <a:rPr sz="1150" b="0" i="0">
                <a:solidFill>
                  <a:srgbClr val="5A6B72"/>
                </a:solidFill>
                <a:latin typeface="Calibri"/>
              </a:rPr>
              <a:t>the same rubric, applied the same way, across every class in the school, is what makes 30% of a young person's future defensible.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25639" r="25639"/>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965960"/>
            <a:ext cx="4614519" cy="2377440"/>
          </a:xfrm>
          <a:prstGeom prst="rect">
            <a:avLst/>
          </a:prstGeom>
          <a:noFill/>
        </p:spPr>
        <p:txBody>
          <a:bodyPr wrap="square" lIns="0" rIns="0" tIns="0" bIns="0">
            <a:spAutoFit/>
          </a:bodyPr>
          <a:lstStyle/>
          <a:p>
            <a:pPr algn="l">
              <a:lnSpc>
                <a:spcPct val="100000"/>
              </a:lnSpc>
              <a:spcBef>
                <a:spcPts val="0"/>
              </a:spcBef>
              <a:spcAft>
                <a:spcPts val="1000"/>
              </a:spcAft>
            </a:pPr>
            <a:r>
              <a:rPr sz="1300" b="1" i="0">
                <a:solidFill>
                  <a:srgbClr val="F4B400"/>
                </a:solidFill>
                <a:latin typeface="Trebuchet MS"/>
              </a:rPr>
              <a:t>PART 8</a:t>
            </a:r>
          </a:p>
          <a:p>
            <a:pPr algn="l">
              <a:lnSpc>
                <a:spcPct val="103000"/>
              </a:lnSpc>
              <a:spcBef>
                <a:spcPts val="0"/>
              </a:spcBef>
              <a:spcAft>
                <a:spcPts val="1200"/>
              </a:spcAft>
            </a:pPr>
            <a:r>
              <a:rPr sz="3400" b="1" i="0">
                <a:solidFill>
                  <a:srgbClr val="FFFFFF"/>
                </a:solidFill>
                <a:latin typeface="Trebuchet MS"/>
              </a:rPr>
              <a:t>Assessment and
Technology</a:t>
            </a:r>
          </a:p>
          <a:p>
            <a:pPr algn="l">
              <a:lnSpc>
                <a:spcPct val="115000"/>
              </a:lnSpc>
              <a:spcBef>
                <a:spcPts val="0"/>
              </a:spcBef>
              <a:spcAft>
                <a:spcPts val="0"/>
              </a:spcAft>
            </a:pPr>
            <a:r>
              <a:rPr sz="1300" b="0" i="0">
                <a:solidFill>
                  <a:srgbClr val="C6DBD3"/>
                </a:solidFill>
                <a:latin typeface="Calibri"/>
              </a:rPr>
              <a:t>e-Assessment — including the versions that work without a computer lab.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e-Assessment — You Probably Already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Technology for assessing, not just teaching</a:t>
            </a:r>
          </a:p>
        </p:txBody>
      </p:sp>
      <p:sp>
        <p:nvSpPr>
          <p:cNvPr id="6" name="Rounded Rectangle 5"/>
          <p:cNvSpPr/>
          <p:nvPr/>
        </p:nvSpPr>
        <p:spPr>
          <a:xfrm>
            <a:off x="6732727" y="1417320"/>
            <a:ext cx="4892040" cy="4279392"/>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952183" y="1563624"/>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52183" y="1563624"/>
            <a:ext cx="64008" cy="8000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135063" y="1799081"/>
            <a:ext cx="329184" cy="329184"/>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1</a:t>
            </a:r>
          </a:p>
        </p:txBody>
      </p:sp>
      <p:sp>
        <p:nvSpPr>
          <p:cNvPr id="10" name="TextBox 9"/>
          <p:cNvSpPr txBox="1"/>
          <p:nvPr/>
        </p:nvSpPr>
        <p:spPr>
          <a:xfrm>
            <a:off x="7592263" y="1655064"/>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0B6E4F"/>
                </a:solidFill>
                <a:latin typeface="Trebuchet MS"/>
              </a:rPr>
              <a:t>Learner submits</a:t>
            </a:r>
          </a:p>
          <a:p>
            <a:pPr algn="l">
              <a:lnSpc>
                <a:spcPct val="108000"/>
              </a:lnSpc>
              <a:spcBef>
                <a:spcPts val="0"/>
              </a:spcBef>
              <a:spcAft>
                <a:spcPts val="0"/>
              </a:spcAft>
            </a:pPr>
            <a:r>
              <a:rPr sz="1100" b="0" i="0">
                <a:solidFill>
                  <a:srgbClr val="14262E"/>
                </a:solidFill>
                <a:latin typeface="Calibri"/>
              </a:rPr>
              <a:t>A 60-second WhatsApp voice note, a photo of their practical work, or an online quiz.</a:t>
            </a:r>
          </a:p>
        </p:txBody>
      </p:sp>
      <p:sp>
        <p:nvSpPr>
          <p:cNvPr id="11" name="Down Arrow 10"/>
          <p:cNvSpPr/>
          <p:nvPr/>
        </p:nvSpPr>
        <p:spPr>
          <a:xfrm>
            <a:off x="9073591" y="2382012"/>
            <a:ext cx="210312" cy="201168"/>
          </a:xfrm>
          <a:prstGeom prst="downArrow">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52183" y="2601468"/>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52183" y="2601468"/>
            <a:ext cx="64008" cy="8000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5063" y="2836925"/>
            <a:ext cx="329184" cy="329184"/>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2</a:t>
            </a:r>
          </a:p>
        </p:txBody>
      </p:sp>
      <p:sp>
        <p:nvSpPr>
          <p:cNvPr id="15" name="TextBox 14"/>
          <p:cNvSpPr txBox="1"/>
          <p:nvPr/>
        </p:nvSpPr>
        <p:spPr>
          <a:xfrm>
            <a:off x="7592263" y="2692908"/>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0B6E4F"/>
                </a:solidFill>
                <a:latin typeface="Trebuchet MS"/>
              </a:rPr>
              <a:t>The tool marks — or you listen</a:t>
            </a:r>
          </a:p>
          <a:p>
            <a:pPr algn="l">
              <a:lnSpc>
                <a:spcPct val="108000"/>
              </a:lnSpc>
              <a:spcBef>
                <a:spcPts val="0"/>
              </a:spcBef>
              <a:spcAft>
                <a:spcPts val="0"/>
              </a:spcAft>
            </a:pPr>
            <a:r>
              <a:rPr sz="1100" b="0" i="0">
                <a:solidFill>
                  <a:srgbClr val="14262E"/>
                </a:solidFill>
                <a:latin typeface="Calibri"/>
              </a:rPr>
              <a:t>A Google Form marks itself; you listen to voice notes on your way home.</a:t>
            </a:r>
          </a:p>
        </p:txBody>
      </p:sp>
      <p:sp>
        <p:nvSpPr>
          <p:cNvPr id="16" name="Down Arrow 15"/>
          <p:cNvSpPr/>
          <p:nvPr/>
        </p:nvSpPr>
        <p:spPr>
          <a:xfrm>
            <a:off x="9073591" y="3419856"/>
            <a:ext cx="210312" cy="201168"/>
          </a:xfrm>
          <a:prstGeom prst="downArrow">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52183" y="3639311"/>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52183" y="3639311"/>
            <a:ext cx="64008" cy="8000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5063" y="3874770"/>
            <a:ext cx="329184" cy="329184"/>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3</a:t>
            </a:r>
          </a:p>
        </p:txBody>
      </p:sp>
      <p:sp>
        <p:nvSpPr>
          <p:cNvPr id="20" name="TextBox 19"/>
          <p:cNvSpPr txBox="1"/>
          <p:nvPr/>
        </p:nvSpPr>
        <p:spPr>
          <a:xfrm>
            <a:off x="7592263" y="3730751"/>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0B6E4F"/>
                </a:solidFill>
                <a:latin typeface="Trebuchet MS"/>
              </a:rPr>
              <a:t>Feedback goes back fast</a:t>
            </a:r>
          </a:p>
          <a:p>
            <a:pPr algn="l">
              <a:lnSpc>
                <a:spcPct val="108000"/>
              </a:lnSpc>
              <a:spcBef>
                <a:spcPts val="0"/>
              </a:spcBef>
              <a:spcAft>
                <a:spcPts val="0"/>
              </a:spcAft>
            </a:pPr>
            <a:r>
              <a:rPr sz="1100" b="0" i="0">
                <a:solidFill>
                  <a:srgbClr val="14262E"/>
                </a:solidFill>
                <a:latin typeface="Calibri"/>
              </a:rPr>
              <a:t>The learner sees their score or hears your comment in minutes, not weeks.</a:t>
            </a:r>
          </a:p>
        </p:txBody>
      </p:sp>
      <p:sp>
        <p:nvSpPr>
          <p:cNvPr id="21" name="Down Arrow 20"/>
          <p:cNvSpPr/>
          <p:nvPr/>
        </p:nvSpPr>
        <p:spPr>
          <a:xfrm>
            <a:off x="9073591" y="4457699"/>
            <a:ext cx="210312" cy="201168"/>
          </a:xfrm>
          <a:prstGeom prst="downArrow">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52183" y="4677155"/>
            <a:ext cx="4434840" cy="800099"/>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52183" y="4677155"/>
            <a:ext cx="64008" cy="800099"/>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5063" y="4912614"/>
            <a:ext cx="329184" cy="329184"/>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00" b="1" i="0">
                <a:solidFill>
                  <a:srgbClr val="FFFFFF"/>
                </a:solidFill>
                <a:latin typeface="Trebuchet MS"/>
              </a:rPr>
              <a:t>4</a:t>
            </a:r>
          </a:p>
        </p:txBody>
      </p:sp>
      <p:sp>
        <p:nvSpPr>
          <p:cNvPr id="25" name="TextBox 24"/>
          <p:cNvSpPr txBox="1"/>
          <p:nvPr/>
        </p:nvSpPr>
        <p:spPr>
          <a:xfrm>
            <a:off x="7592263" y="4768595"/>
            <a:ext cx="3685031" cy="617219"/>
          </a:xfrm>
          <a:prstGeom prst="rect">
            <a:avLst/>
          </a:prstGeom>
          <a:noFill/>
        </p:spPr>
        <p:txBody>
          <a:bodyPr wrap="square" lIns="0" rIns="0" tIns="0" bIns="0">
            <a:spAutoFit/>
          </a:bodyPr>
          <a:lstStyle/>
          <a:p>
            <a:pPr algn="l">
              <a:lnSpc>
                <a:spcPct val="102000"/>
              </a:lnSpc>
              <a:spcBef>
                <a:spcPts val="0"/>
              </a:spcBef>
              <a:spcAft>
                <a:spcPts val="200"/>
              </a:spcAft>
            </a:pPr>
            <a:r>
              <a:rPr sz="1250" b="1" i="0">
                <a:solidFill>
                  <a:srgbClr val="0B6E4F"/>
                </a:solidFill>
                <a:latin typeface="Trebuchet MS"/>
              </a:rPr>
              <a:t>You see the pattern</a:t>
            </a:r>
          </a:p>
          <a:p>
            <a:pPr algn="l">
              <a:lnSpc>
                <a:spcPct val="108000"/>
              </a:lnSpc>
              <a:spcBef>
                <a:spcPts val="0"/>
              </a:spcBef>
              <a:spcAft>
                <a:spcPts val="0"/>
              </a:spcAft>
            </a:pPr>
            <a:r>
              <a:rPr sz="1100" b="0" i="0">
                <a:solidFill>
                  <a:srgbClr val="14262E"/>
                </a:solidFill>
                <a:latin typeface="Calibri"/>
              </a:rPr>
              <a:t>Everyone failed the same question — a whole-class gap you can now fix.</a:t>
            </a:r>
          </a:p>
        </p:txBody>
      </p:sp>
      <p:sp>
        <p:nvSpPr>
          <p:cNvPr id="26" name="TextBox 25"/>
          <p:cNvSpPr txBox="1"/>
          <p:nvPr/>
        </p:nvSpPr>
        <p:spPr>
          <a:xfrm>
            <a:off x="6732727" y="5742431"/>
            <a:ext cx="4892040" cy="338328"/>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One phone per group is enough to start.</a:t>
            </a:r>
          </a:p>
        </p:txBody>
      </p:sp>
      <p:sp>
        <p:nvSpPr>
          <p:cNvPr id="27" name="Rounded Rectangle 26"/>
          <p:cNvSpPr/>
          <p:nvPr/>
        </p:nvSpPr>
        <p:spPr>
          <a:xfrm>
            <a:off x="566928" y="142646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142646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156362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Plain English</a:t>
            </a:r>
          </a:p>
          <a:p>
            <a:pPr algn="l">
              <a:lnSpc>
                <a:spcPct val="110000"/>
              </a:lnSpc>
              <a:spcBef>
                <a:spcPts val="0"/>
              </a:spcBef>
              <a:spcAft>
                <a:spcPts val="0"/>
              </a:spcAft>
            </a:pPr>
            <a:r>
              <a:rPr sz="1000" b="0" i="0">
                <a:solidFill>
                  <a:srgbClr val="14262E"/>
                </a:solidFill>
                <a:latin typeface="Calibri"/>
              </a:rPr>
              <a:t>Using information technology and digital tools to assess learners — to design, deliver, score, analyse, report and manage assessment.</a:t>
            </a:r>
          </a:p>
        </p:txBody>
      </p:sp>
      <p:sp>
        <p:nvSpPr>
          <p:cNvPr id="30" name="Rounded Rectangle 29"/>
          <p:cNvSpPr/>
          <p:nvPr/>
        </p:nvSpPr>
        <p:spPr>
          <a:xfrm>
            <a:off x="566928" y="2368194"/>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236819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2505354"/>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The myth to kill</a:t>
            </a:r>
          </a:p>
          <a:p>
            <a:pPr algn="l">
              <a:lnSpc>
                <a:spcPct val="110000"/>
              </a:lnSpc>
              <a:spcBef>
                <a:spcPts val="0"/>
              </a:spcBef>
              <a:spcAft>
                <a:spcPts val="0"/>
              </a:spcAft>
            </a:pPr>
            <a:r>
              <a:rPr sz="1000" b="0" i="0">
                <a:solidFill>
                  <a:srgbClr val="14262E"/>
                </a:solidFill>
                <a:latin typeface="Calibri"/>
              </a:rPr>
              <a:t>e-Assessment does NOT require a computer lab. If your school has one phone per group and a WhatsApp class group, you can do e-assessment this week.</a:t>
            </a:r>
          </a:p>
        </p:txBody>
      </p:sp>
      <p:sp>
        <p:nvSpPr>
          <p:cNvPr id="33" name="Rounded Rectangle 32"/>
          <p:cNvSpPr/>
          <p:nvPr/>
        </p:nvSpPr>
        <p:spPr>
          <a:xfrm>
            <a:off x="566928" y="3309924"/>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330992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447084"/>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Low-tech, high-value examples</a:t>
            </a:r>
          </a:p>
          <a:p>
            <a:pPr algn="l">
              <a:lnSpc>
                <a:spcPct val="110000"/>
              </a:lnSpc>
              <a:spcBef>
                <a:spcPts val="0"/>
              </a:spcBef>
              <a:spcAft>
                <a:spcPts val="0"/>
              </a:spcAft>
            </a:pPr>
            <a:r>
              <a:rPr sz="1000" b="0" i="0">
                <a:solidFill>
                  <a:srgbClr val="14262E"/>
                </a:solidFill>
                <a:latin typeface="Calibri"/>
              </a:rPr>
              <a:t>A class WhatsApp group where learners submit a 60-second voice note explaining a concept  ·  a Google Form quiz marked automatically  ·  a Kahoot round at the end of a lesson  ·  photographs of practical work submitted for feedback.</a:t>
            </a:r>
          </a:p>
        </p:txBody>
      </p:sp>
      <p:sp>
        <p:nvSpPr>
          <p:cNvPr id="36" name="Rounded Rectangle 35"/>
          <p:cNvSpPr/>
          <p:nvPr/>
        </p:nvSpPr>
        <p:spPr>
          <a:xfrm>
            <a:off x="566928" y="4416501"/>
            <a:ext cx="578175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416501"/>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553661"/>
            <a:ext cx="537941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Where it genuinely excels</a:t>
            </a:r>
          </a:p>
          <a:p>
            <a:pPr algn="l">
              <a:lnSpc>
                <a:spcPct val="110000"/>
              </a:lnSpc>
              <a:spcBef>
                <a:spcPts val="0"/>
              </a:spcBef>
              <a:spcAft>
                <a:spcPts val="0"/>
              </a:spcAft>
            </a:pPr>
            <a:r>
              <a:rPr sz="1000" b="0" i="0">
                <a:solidFill>
                  <a:srgbClr val="14262E"/>
                </a:solidFill>
                <a:latin typeface="Calibri"/>
              </a:rPr>
              <a:t>Immediate feedback to learners  ·  automatic marking that saves your evenings  ·  digital portfolios that show progress over a whole programme  ·  analytics that reveal whole-class gaps.</a:t>
            </a:r>
          </a:p>
        </p:txBody>
      </p:sp>
      <p:sp>
        <p:nvSpPr>
          <p:cNvPr id="39" name="Rounded Rectangle 38"/>
          <p:cNvSpPr/>
          <p:nvPr/>
        </p:nvSpPr>
        <p:spPr>
          <a:xfrm>
            <a:off x="566928" y="5523077"/>
            <a:ext cx="578175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5523077"/>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 y="5660237"/>
            <a:ext cx="537941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Two cautions from the manual</a:t>
            </a:r>
          </a:p>
          <a:p>
            <a:pPr algn="l">
              <a:lnSpc>
                <a:spcPct val="110000"/>
              </a:lnSpc>
              <a:spcBef>
                <a:spcPts val="0"/>
              </a:spcBef>
              <a:spcAft>
                <a:spcPts val="0"/>
              </a:spcAft>
            </a:pPr>
            <a:r>
              <a:rPr sz="1000" b="0" i="0">
                <a:solidFill>
                  <a:srgbClr val="14262E"/>
                </a:solidFill>
                <a:latin typeface="Calibri"/>
              </a:rPr>
              <a:t>Make provision for learners with SEN who need extra support with the platform, and ensure the integrity and security of the platform to prevent cheating and cyberbullying.</a:t>
            </a:r>
          </a:p>
        </p:txBody>
      </p:sp>
      <p:sp>
        <p:nvSpPr>
          <p:cNvPr id="42" name="TextBox 4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Whole Workshop on One Page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you remember nothing else, remember this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is not the exam at the end. It is the nervous system of your teaching — it tells you what is working while you can still do something about it.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BEFORE you teach, you check what they bring — that is DIAGNOSTIC. WHILE you teach, you check and adjust — that is FORMATIVE, and you taste the soup. AT THE END you summarise — that is SUMMATIVE, and you serve the meal. ALL THE WAY THROUGH, you make it valid, reliable, fair, transparent, inclusive, practicable and useful.</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And the two sentences that carry it all:  </a:t>
            </a:r>
            <a:r>
              <a:rPr sz="1150" b="1" i="0">
                <a:solidFill>
                  <a:srgbClr val="14262E"/>
                </a:solidFill>
                <a:latin typeface="Calibri"/>
              </a:rPr>
              <a:t>the learner must know what “good” looks like — and must be given time to get there.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417320"/>
            <a:ext cx="10783519" cy="4023360"/>
          </a:xfrm>
          <a:prstGeom prst="rect">
            <a:avLst/>
          </a:prstGeom>
          <a:noFill/>
        </p:spPr>
        <p:txBody>
          <a:bodyPr wrap="square" lIns="0" rIns="0" tIns="0" bIns="0">
            <a:spAutoFit/>
          </a:bodyPr>
          <a:lstStyle/>
          <a:p>
            <a:pPr algn="l">
              <a:lnSpc>
                <a:spcPct val="100000"/>
              </a:lnSpc>
              <a:spcBef>
                <a:spcPts val="0"/>
              </a:spcBef>
              <a:spcAft>
                <a:spcPts val="2200"/>
              </a:spcAft>
            </a:pPr>
            <a:r>
              <a:rPr sz="3400" b="1" i="0">
                <a:solidFill>
                  <a:srgbClr val="FFFFFF"/>
                </a:solidFill>
                <a:latin typeface="Trebuchet MS"/>
              </a:rPr>
              <a:t>Three Things to Take Home</a:t>
            </a:r>
          </a:p>
          <a:p>
            <a:pPr algn="l">
              <a:lnSpc>
                <a:spcPct val="112000"/>
              </a:lnSpc>
              <a:spcBef>
                <a:spcPts val="0"/>
              </a:spcBef>
              <a:spcAft>
                <a:spcPts val="1400"/>
              </a:spcAft>
            </a:pPr>
            <a:r>
              <a:rPr sz="1600" b="0" i="0">
                <a:solidFill>
                  <a:srgbClr val="E4F0EB"/>
                </a:solidFill>
                <a:latin typeface="Calibri"/>
              </a:rPr>
              <a:t>1.   Pick ONE topic you will teach this month. Write its learning outcome in one sentence. That is Phase 1 of a real assessment plan.</a:t>
            </a:r>
          </a:p>
          <a:p>
            <a:pPr algn="l">
              <a:lnSpc>
                <a:spcPct val="112000"/>
              </a:lnSpc>
              <a:spcBef>
                <a:spcPts val="0"/>
              </a:spcBef>
              <a:spcAft>
                <a:spcPts val="1400"/>
              </a:spcAft>
            </a:pPr>
            <a:r>
              <a:rPr sz="1600" b="0" i="0">
                <a:solidFill>
                  <a:srgbClr val="E4F0EB"/>
                </a:solidFill>
                <a:latin typeface="Calibri"/>
              </a:rPr>
              <a:t>2.   Try ONE three-minute tool — an exit card, an entry ticket, a quick Think-Pair-Share. Just one, in your next lesson.</a:t>
            </a:r>
          </a:p>
          <a:p>
            <a:pPr algn="l">
              <a:lnSpc>
                <a:spcPct val="112000"/>
              </a:lnSpc>
              <a:spcBef>
                <a:spcPts val="0"/>
              </a:spcBef>
              <a:spcAft>
                <a:spcPts val="2400"/>
              </a:spcAft>
            </a:pPr>
            <a:r>
              <a:rPr sz="1600" b="0" i="0">
                <a:solidFill>
                  <a:srgbClr val="E4F0EB"/>
                </a:solidFill>
                <a:latin typeface="Calibri"/>
              </a:rPr>
              <a:t>3.   Take ONE end-of-term paper this year and give it back for group correction instead of only recording the marks.</a:t>
            </a:r>
          </a:p>
          <a:p>
            <a:pPr algn="l">
              <a:lnSpc>
                <a:spcPct val="100000"/>
              </a:lnSpc>
              <a:spcBef>
                <a:spcPts val="0"/>
              </a:spcBef>
              <a:spcAft>
                <a:spcPts val="600"/>
              </a:spcAft>
            </a:pPr>
            <a:r>
              <a:rPr sz="1900" b="1" i="0">
                <a:solidFill>
                  <a:srgbClr val="F4B400"/>
                </a:solidFill>
                <a:latin typeface="Trebuchet MS"/>
              </a:rPr>
              <a:t>Thank you.  —  Now let us hear from you:  what will you try first?</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